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8" r:id="rId4"/>
    <p:sldId id="260" r:id="rId5"/>
    <p:sldId id="261" r:id="rId6"/>
    <p:sldId id="265" r:id="rId7"/>
    <p:sldId id="262" r:id="rId8"/>
    <p:sldId id="263" r:id="rId9"/>
    <p:sldId id="264" r:id="rId10"/>
    <p:sldId id="266" r:id="rId11"/>
    <p:sldId id="267" r:id="rId12"/>
    <p:sldId id="269" r:id="rId13"/>
    <p:sldId id="270" r:id="rId1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6666FF"/>
    <a:srgbClr val="F6BA6F"/>
    <a:srgbClr val="6DA9E4"/>
    <a:srgbClr val="ADE4DB"/>
    <a:srgbClr val="FFEBEB"/>
    <a:srgbClr val="F8CBAD"/>
    <a:srgbClr val="00FFCA"/>
    <a:srgbClr val="F6E1C3"/>
    <a:srgbClr val="CDFC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1" autoAdjust="0"/>
    <p:restoredTop sz="95499" autoAdjust="0"/>
  </p:normalViewPr>
  <p:slideViewPr>
    <p:cSldViewPr snapToGrid="0" showGuides="1">
      <p:cViewPr varScale="1">
        <p:scale>
          <a:sx n="101" d="100"/>
          <a:sy n="101" d="100"/>
        </p:scale>
        <p:origin x="858" y="114"/>
      </p:cViewPr>
      <p:guideLst>
        <p:guide orient="horz" pos="2183"/>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040FE3-9A24-493E-B16E-C0934D4CF14F}" type="datetimeFigureOut">
              <a:rPr lang="vi-VN" smtClean="0"/>
              <a:t>28/04/2023</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548E7-BFE4-4E80-8E99-3D8C065550F1}" type="slidenum">
              <a:rPr lang="vi-VN" smtClean="0"/>
              <a:t>‹#›</a:t>
            </a:fld>
            <a:endParaRPr lang="vi-VN"/>
          </a:p>
        </p:txBody>
      </p:sp>
    </p:spTree>
    <p:extLst>
      <p:ext uri="{BB962C8B-B14F-4D97-AF65-F5344CB8AC3E}">
        <p14:creationId xmlns:p14="http://schemas.microsoft.com/office/powerpoint/2010/main" val="39244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p:txBody>
      </p:sp>
      <p:sp>
        <p:nvSpPr>
          <p:cNvPr id="4" name="Chỗ dành sẵn cho Số hiệu Bản chiếu 3"/>
          <p:cNvSpPr>
            <a:spLocks noGrp="1"/>
          </p:cNvSpPr>
          <p:nvPr>
            <p:ph type="sldNum" sz="quarter" idx="5"/>
          </p:nvPr>
        </p:nvSpPr>
        <p:spPr/>
        <p:txBody>
          <a:bodyPr/>
          <a:lstStyle/>
          <a:p>
            <a:fld id="{B39548E7-BFE4-4E80-8E99-3D8C065550F1}" type="slidenum">
              <a:rPr lang="vi-VN" smtClean="0"/>
              <a:t>10</a:t>
            </a:fld>
            <a:endParaRPr lang="vi-VN"/>
          </a:p>
        </p:txBody>
      </p:sp>
    </p:spTree>
    <p:extLst>
      <p:ext uri="{BB962C8B-B14F-4D97-AF65-F5344CB8AC3E}">
        <p14:creationId xmlns:p14="http://schemas.microsoft.com/office/powerpoint/2010/main" val="3316889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C415070-A620-33E8-49D2-AA6D31FD2333}"/>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04E4ECB9-9CC7-4C4E-4AB5-C7BE140621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3B680D81-DCFD-2F44-33FD-25BF01639CBF}"/>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5" name="Chỗ dành sẵn cho Chân trang 4">
            <a:extLst>
              <a:ext uri="{FF2B5EF4-FFF2-40B4-BE49-F238E27FC236}">
                <a16:creationId xmlns:a16="http://schemas.microsoft.com/office/drawing/2014/main" id="{63D1E42B-A542-79BF-7EC7-9954A0F0E143}"/>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26C2DB88-E9E8-E780-5DB1-99B8F0EF9FEB}"/>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878171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ED9219C-D778-BBD9-88EB-DCFF332D3C30}"/>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C30D1CF1-90E1-45A7-C44B-4233C34F0666}"/>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3B51D2E4-43AB-D687-4C07-E9EDA0D213A9}"/>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5" name="Chỗ dành sẵn cho Chân trang 4">
            <a:extLst>
              <a:ext uri="{FF2B5EF4-FFF2-40B4-BE49-F238E27FC236}">
                <a16:creationId xmlns:a16="http://schemas.microsoft.com/office/drawing/2014/main" id="{EB717FC7-E209-0FA9-09B8-3F00D7CC3C7B}"/>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B2FCD643-6495-94E4-3FF9-3E7640648E48}"/>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49611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1973420-25E9-C0E8-B741-6EF0102E6EA9}"/>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41F49587-B6E4-968F-BF69-FE525F5807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21AF9B65-AC00-3B9D-B350-C2D05769DA4C}"/>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5" name="Chỗ dành sẵn cho Chân trang 4">
            <a:extLst>
              <a:ext uri="{FF2B5EF4-FFF2-40B4-BE49-F238E27FC236}">
                <a16:creationId xmlns:a16="http://schemas.microsoft.com/office/drawing/2014/main" id="{A52902AA-1197-6CF0-1831-A0215925561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D8428512-BC5E-FEC4-947F-932A568D0444}"/>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3151863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7051408-3A6F-412A-7A14-BD714E6DA78F}"/>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E30F2398-898A-885B-9D34-38B28E782B90}"/>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97F0095A-A738-08CD-2FF6-B8E62EA0D0C9}"/>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E2949248-B437-11EF-29AA-F06F094C6C6B}"/>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6" name="Chỗ dành sẵn cho Chân trang 5">
            <a:extLst>
              <a:ext uri="{FF2B5EF4-FFF2-40B4-BE49-F238E27FC236}">
                <a16:creationId xmlns:a16="http://schemas.microsoft.com/office/drawing/2014/main" id="{B99FDAE8-941A-9B96-B227-F2DC13294493}"/>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82FBA09A-F0CA-EF03-D9D0-E3952D8B4C46}"/>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2278082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804BB19-5EFE-4390-3D3B-01366767D9D4}"/>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09299E5B-5636-688D-E704-5E0249D51D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1049F894-4F5A-7239-AAB4-B4BC8B21A806}"/>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E657D2C9-0EBE-FEBB-3D48-5C34456D6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CAD3E8DE-573D-832B-B2FE-00754826F219}"/>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9A50C1AC-4C4E-375B-37C5-00A09A96CE44}"/>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8" name="Chỗ dành sẵn cho Chân trang 7">
            <a:extLst>
              <a:ext uri="{FF2B5EF4-FFF2-40B4-BE49-F238E27FC236}">
                <a16:creationId xmlns:a16="http://schemas.microsoft.com/office/drawing/2014/main" id="{D0A77A1D-A876-6FDB-CD31-AAEB0689FF65}"/>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A2C0200A-337F-6E78-6D7C-18F0DD9EC327}"/>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2323421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D262BD3-8595-0B87-4B3C-60789D48B8D8}"/>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E28163A4-86AE-7759-5F17-C8980723B8CA}"/>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4" name="Chỗ dành sẵn cho Chân trang 3">
            <a:extLst>
              <a:ext uri="{FF2B5EF4-FFF2-40B4-BE49-F238E27FC236}">
                <a16:creationId xmlns:a16="http://schemas.microsoft.com/office/drawing/2014/main" id="{0565264F-9308-1C00-AB36-DD6D15B76CE9}"/>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F1D4ACF9-56C1-93ED-59B7-C56EAA2AD72A}"/>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30254978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BF32B858-20DC-28B9-4B9F-A62209F78B73}"/>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3" name="Chỗ dành sẵn cho Chân trang 2">
            <a:extLst>
              <a:ext uri="{FF2B5EF4-FFF2-40B4-BE49-F238E27FC236}">
                <a16:creationId xmlns:a16="http://schemas.microsoft.com/office/drawing/2014/main" id="{9AA9D9E6-B27D-502C-8F41-CA7F0C861419}"/>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175616FA-A17A-D292-BE5A-610ACAF999E7}"/>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1337815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3E47945-C486-C706-0730-434946931B5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E1D0BD6B-B559-0F20-85AA-17EE2E69DC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3D31BA48-3036-8DF1-2625-77D56A8B15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673BC649-3426-0FC1-D98B-157870F3876E}"/>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6" name="Chỗ dành sẵn cho Chân trang 5">
            <a:extLst>
              <a:ext uri="{FF2B5EF4-FFF2-40B4-BE49-F238E27FC236}">
                <a16:creationId xmlns:a16="http://schemas.microsoft.com/office/drawing/2014/main" id="{CBBC0D00-9B27-9835-F8ED-070EF0A98081}"/>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4F71E64F-91B9-0AA7-E289-EA392907FE07}"/>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4505374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DE2DF01-ABEE-6194-8488-62E4CBEF853E}"/>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B335320A-8196-DBEE-D4D0-19A2F3B1B9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780C52FF-FD6B-794C-D8FB-55D9052D3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830E71EF-946C-0426-4763-F398BECA7661}"/>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6" name="Chỗ dành sẵn cho Chân trang 5">
            <a:extLst>
              <a:ext uri="{FF2B5EF4-FFF2-40B4-BE49-F238E27FC236}">
                <a16:creationId xmlns:a16="http://schemas.microsoft.com/office/drawing/2014/main" id="{5BED8094-7C46-ADEB-4F46-6B446AB6C8F0}"/>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13C220F2-4AA7-1A46-F916-EF37373E7C6C}"/>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739626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FC967D8-1467-C8AE-3654-D9C678DD5BAB}"/>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6E9AAED4-99A9-738E-2208-DA1F2ECB81AA}"/>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9F4B3E7E-0941-2F3B-6833-C11CAC32558A}"/>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5" name="Chỗ dành sẵn cho Chân trang 4">
            <a:extLst>
              <a:ext uri="{FF2B5EF4-FFF2-40B4-BE49-F238E27FC236}">
                <a16:creationId xmlns:a16="http://schemas.microsoft.com/office/drawing/2014/main" id="{DDB286B0-A56B-3D04-98AE-B638309AE710}"/>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AC22DD06-0190-91E6-1503-C0E9D61B6242}"/>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3841609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ACE4558E-7FA2-EB6D-FA7A-9D871702DAE0}"/>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7692F0A0-8456-2F2A-0F8A-F26428702FFB}"/>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5522372B-934F-BA0A-E3F2-20BA387CE3E9}"/>
              </a:ext>
            </a:extLst>
          </p:cNvPr>
          <p:cNvSpPr>
            <a:spLocks noGrp="1"/>
          </p:cNvSpPr>
          <p:nvPr>
            <p:ph type="dt" sz="half" idx="10"/>
          </p:nvPr>
        </p:nvSpPr>
        <p:spPr/>
        <p:txBody>
          <a:bodyPr/>
          <a:lstStyle/>
          <a:p>
            <a:fld id="{DDC41982-734B-49F4-ABD1-251F8C94952B}" type="datetimeFigureOut">
              <a:rPr lang="vi-VN" smtClean="0"/>
              <a:t>28/04/2023</a:t>
            </a:fld>
            <a:endParaRPr lang="vi-VN"/>
          </a:p>
        </p:txBody>
      </p:sp>
      <p:sp>
        <p:nvSpPr>
          <p:cNvPr id="5" name="Chỗ dành sẵn cho Chân trang 4">
            <a:extLst>
              <a:ext uri="{FF2B5EF4-FFF2-40B4-BE49-F238E27FC236}">
                <a16:creationId xmlns:a16="http://schemas.microsoft.com/office/drawing/2014/main" id="{ED757BF5-54A8-541B-B765-DB31489C7C97}"/>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1B3A239C-5212-01A2-5640-D43398CA7A11}"/>
              </a:ext>
            </a:extLst>
          </p:cNvPr>
          <p:cNvSpPr>
            <a:spLocks noGrp="1"/>
          </p:cNvSpPr>
          <p:nvPr>
            <p:ph type="sldNum" sz="quarter" idx="12"/>
          </p:nvPr>
        </p:nvSpPr>
        <p:spPr/>
        <p:txBody>
          <a:bodyPr/>
          <a:lstStyle/>
          <a:p>
            <a:fld id="{6BD72254-A94B-4428-8647-252AA0CA8F62}" type="slidenum">
              <a:rPr lang="vi-VN" smtClean="0"/>
              <a:t>‹#›</a:t>
            </a:fld>
            <a:endParaRPr lang="vi-VN"/>
          </a:p>
        </p:txBody>
      </p:sp>
    </p:spTree>
    <p:extLst>
      <p:ext uri="{BB962C8B-B14F-4D97-AF65-F5344CB8AC3E}">
        <p14:creationId xmlns:p14="http://schemas.microsoft.com/office/powerpoint/2010/main" val="2735785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C37740D0-882F-8F09-2905-D444655C4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0876D992-0122-5B19-6753-DBEEA2BA06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30FB671D-8FC6-B772-5BDB-FE217C7570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41982-734B-49F4-ABD1-251F8C94952B}" type="datetimeFigureOut">
              <a:rPr lang="vi-VN" smtClean="0"/>
              <a:t>28/04/2023</a:t>
            </a:fld>
            <a:endParaRPr lang="vi-VN"/>
          </a:p>
        </p:txBody>
      </p:sp>
      <p:sp>
        <p:nvSpPr>
          <p:cNvPr id="5" name="Chỗ dành sẵn cho Chân trang 4">
            <a:extLst>
              <a:ext uri="{FF2B5EF4-FFF2-40B4-BE49-F238E27FC236}">
                <a16:creationId xmlns:a16="http://schemas.microsoft.com/office/drawing/2014/main" id="{0D2D02C9-1172-3E19-8B93-A315F0150A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24A3A3CA-752C-6AF8-1B49-1A3762CFA4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D72254-A94B-4428-8647-252AA0CA8F62}" type="slidenum">
              <a:rPr lang="vi-VN" smtClean="0"/>
              <a:t>‹#›</a:t>
            </a:fld>
            <a:endParaRPr lang="vi-VN"/>
          </a:p>
        </p:txBody>
      </p:sp>
    </p:spTree>
    <p:extLst>
      <p:ext uri="{BB962C8B-B14F-4D97-AF65-F5344CB8AC3E}">
        <p14:creationId xmlns:p14="http://schemas.microsoft.com/office/powerpoint/2010/main" val="2920713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ình chữ nhật 15">
            <a:extLst>
              <a:ext uri="{FF2B5EF4-FFF2-40B4-BE49-F238E27FC236}">
                <a16:creationId xmlns:a16="http://schemas.microsoft.com/office/drawing/2014/main" id="{E3919826-A91A-C92C-DA4A-9CD0F625E696}"/>
              </a:ext>
            </a:extLst>
          </p:cNvPr>
          <p:cNvSpPr/>
          <p:nvPr/>
        </p:nvSpPr>
        <p:spPr>
          <a:xfrm>
            <a:off x="0" y="0"/>
            <a:ext cx="12192000" cy="6858000"/>
          </a:xfrm>
          <a:prstGeom prst="rect">
            <a:avLst/>
          </a:prstGeom>
          <a:solidFill>
            <a:srgbClr val="FAF7F0"/>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4" name="Hộp Văn bản 3">
            <a:extLst>
              <a:ext uri="{FF2B5EF4-FFF2-40B4-BE49-F238E27FC236}">
                <a16:creationId xmlns:a16="http://schemas.microsoft.com/office/drawing/2014/main" id="{D7DC7B20-32CD-E141-538F-AFF6008F82A4}"/>
              </a:ext>
            </a:extLst>
          </p:cNvPr>
          <p:cNvSpPr txBox="1"/>
          <p:nvPr/>
        </p:nvSpPr>
        <p:spPr>
          <a:xfrm>
            <a:off x="2620281" y="3529274"/>
            <a:ext cx="7077076" cy="707886"/>
          </a:xfrm>
          <a:prstGeom prst="rect">
            <a:avLst/>
          </a:prstGeom>
          <a:noFill/>
        </p:spPr>
        <p:txBody>
          <a:bodyPr wrap="square" rtlCol="0">
            <a:spAutoFit/>
          </a:bodyPr>
          <a:lstStyle/>
          <a:p>
            <a:pPr algn="ctr"/>
            <a:r>
              <a:rPr lang="vi-VN" sz="4000" dirty="0">
                <a:solidFill>
                  <a:srgbClr val="D61C4E"/>
                </a:solidFill>
                <a:latin typeface="iCiel Cadena" panose="02000503000000020004" pitchFamily="2" charset="0"/>
                <a:cs typeface="Forte Forward" panose="020B0604020202020204" pitchFamily="2" charset="0"/>
              </a:rPr>
              <a:t>ĐỒ ÁN TỐT NGHIỆP</a:t>
            </a:r>
          </a:p>
        </p:txBody>
      </p:sp>
      <p:sp>
        <p:nvSpPr>
          <p:cNvPr id="2" name="Hộp Văn bản 1">
            <a:extLst>
              <a:ext uri="{FF2B5EF4-FFF2-40B4-BE49-F238E27FC236}">
                <a16:creationId xmlns:a16="http://schemas.microsoft.com/office/drawing/2014/main" id="{DEDA826B-9A66-C35B-5D2D-CDDBA78A7983}"/>
              </a:ext>
            </a:extLst>
          </p:cNvPr>
          <p:cNvSpPr txBox="1"/>
          <p:nvPr/>
        </p:nvSpPr>
        <p:spPr>
          <a:xfrm>
            <a:off x="3834331" y="4491141"/>
            <a:ext cx="2747444" cy="1200329"/>
          </a:xfrm>
          <a:prstGeom prst="rect">
            <a:avLst/>
          </a:prstGeom>
          <a:noFill/>
        </p:spPr>
        <p:txBody>
          <a:bodyPr wrap="square" rtlCol="0">
            <a:spAutoFit/>
          </a:bodyPr>
          <a:lstStyle/>
          <a:p>
            <a:pPr algn="just"/>
            <a:r>
              <a:rPr lang="vi-VN" dirty="0">
                <a:solidFill>
                  <a:srgbClr val="1F4E79"/>
                </a:solidFill>
                <a:latin typeface="iCiel Cadena" panose="02000503000000020004" pitchFamily="2" charset="0"/>
              </a:rPr>
              <a:t>Giáo viên hướng dẫn:</a:t>
            </a:r>
          </a:p>
          <a:p>
            <a:pPr algn="just"/>
            <a:r>
              <a:rPr lang="vi-VN" dirty="0">
                <a:solidFill>
                  <a:srgbClr val="1F4E79"/>
                </a:solidFill>
                <a:latin typeface="iCiel Cadena" panose="02000503000000020004" pitchFamily="2" charset="0"/>
              </a:rPr>
              <a:t>Sinh viên thực hiện:</a:t>
            </a:r>
          </a:p>
          <a:p>
            <a:pPr algn="just"/>
            <a:r>
              <a:rPr lang="vi-VN" dirty="0">
                <a:solidFill>
                  <a:srgbClr val="1F4E79"/>
                </a:solidFill>
                <a:latin typeface="iCiel Cadena" panose="02000503000000020004" pitchFamily="2" charset="0"/>
              </a:rPr>
              <a:t>Mã sinh viên:</a:t>
            </a:r>
          </a:p>
          <a:p>
            <a:pPr algn="just"/>
            <a:r>
              <a:rPr lang="vi-VN" dirty="0">
                <a:solidFill>
                  <a:srgbClr val="1F4E79"/>
                </a:solidFill>
                <a:latin typeface="iCiel Cadena" panose="02000503000000020004" pitchFamily="2" charset="0"/>
              </a:rPr>
              <a:t>Lớp:</a:t>
            </a:r>
          </a:p>
        </p:txBody>
      </p:sp>
      <p:sp>
        <p:nvSpPr>
          <p:cNvPr id="3" name="Hộp Văn bản 2">
            <a:extLst>
              <a:ext uri="{FF2B5EF4-FFF2-40B4-BE49-F238E27FC236}">
                <a16:creationId xmlns:a16="http://schemas.microsoft.com/office/drawing/2014/main" id="{853CB61B-F4D2-46D2-246B-DA3D985EF3B9}"/>
              </a:ext>
            </a:extLst>
          </p:cNvPr>
          <p:cNvSpPr txBox="1"/>
          <p:nvPr/>
        </p:nvSpPr>
        <p:spPr>
          <a:xfrm>
            <a:off x="6257925" y="4491141"/>
            <a:ext cx="4025774" cy="1200329"/>
          </a:xfrm>
          <a:prstGeom prst="rect">
            <a:avLst/>
          </a:prstGeom>
          <a:noFill/>
        </p:spPr>
        <p:txBody>
          <a:bodyPr wrap="square" rtlCol="0">
            <a:spAutoFit/>
          </a:bodyPr>
          <a:lstStyle/>
          <a:p>
            <a:r>
              <a:rPr lang="vi-VN" dirty="0" err="1">
                <a:solidFill>
                  <a:srgbClr val="1F4E79"/>
                </a:solidFill>
                <a:latin typeface="iCiel Cadena" panose="02000503000000020004" pitchFamily="2" charset="0"/>
              </a:rPr>
              <a:t>Th.S</a:t>
            </a:r>
            <a:r>
              <a:rPr lang="vi-VN" dirty="0">
                <a:solidFill>
                  <a:srgbClr val="1F4E79"/>
                </a:solidFill>
                <a:latin typeface="iCiel Cadena" panose="02000503000000020004" pitchFamily="2" charset="0"/>
              </a:rPr>
              <a:t> Lê Văn Vinh</a:t>
            </a:r>
          </a:p>
          <a:p>
            <a:r>
              <a:rPr lang="vi-VN" dirty="0">
                <a:solidFill>
                  <a:srgbClr val="1F4E79"/>
                </a:solidFill>
                <a:latin typeface="iCiel Cadena" panose="02000503000000020004" pitchFamily="2" charset="0"/>
              </a:rPr>
              <a:t>Phạm Danh Vinh</a:t>
            </a:r>
          </a:p>
          <a:p>
            <a:r>
              <a:rPr lang="vi-VN" dirty="0">
                <a:solidFill>
                  <a:srgbClr val="1F4E79"/>
                </a:solidFill>
                <a:latin typeface="iCiel Cadena" panose="02000503000000020004" pitchFamily="2" charset="0"/>
              </a:rPr>
              <a:t>1405190720</a:t>
            </a:r>
          </a:p>
          <a:p>
            <a:r>
              <a:rPr lang="vi-VN" dirty="0">
                <a:solidFill>
                  <a:srgbClr val="1F4E79"/>
                </a:solidFill>
                <a:latin typeface="iCiel Cadena" panose="02000503000000020004" pitchFamily="2" charset="0"/>
              </a:rPr>
              <a:t>DHCTTCK14A</a:t>
            </a:r>
          </a:p>
        </p:txBody>
      </p:sp>
      <p:sp>
        <p:nvSpPr>
          <p:cNvPr id="5" name="Hộp Văn bản 4">
            <a:extLst>
              <a:ext uri="{FF2B5EF4-FFF2-40B4-BE49-F238E27FC236}">
                <a16:creationId xmlns:a16="http://schemas.microsoft.com/office/drawing/2014/main" id="{18F4F004-CAEF-49E8-D4D0-CDA7DA94BBD9}"/>
              </a:ext>
            </a:extLst>
          </p:cNvPr>
          <p:cNvSpPr txBox="1"/>
          <p:nvPr/>
        </p:nvSpPr>
        <p:spPr>
          <a:xfrm>
            <a:off x="4476750" y="6525195"/>
            <a:ext cx="3238500" cy="307777"/>
          </a:xfrm>
          <a:prstGeom prst="rect">
            <a:avLst/>
          </a:prstGeom>
          <a:noFill/>
        </p:spPr>
        <p:txBody>
          <a:bodyPr wrap="square" rtlCol="0">
            <a:spAutoFit/>
          </a:bodyPr>
          <a:lstStyle/>
          <a:p>
            <a:r>
              <a:rPr lang="vi-VN" sz="1400" i="1" dirty="0"/>
              <a:t>Nghệ An, ngày 28 tháng 04 năm 2023</a:t>
            </a:r>
          </a:p>
        </p:txBody>
      </p:sp>
      <p:sp>
        <p:nvSpPr>
          <p:cNvPr id="10" name="Hộp Văn bản 9">
            <a:extLst>
              <a:ext uri="{FF2B5EF4-FFF2-40B4-BE49-F238E27FC236}">
                <a16:creationId xmlns:a16="http://schemas.microsoft.com/office/drawing/2014/main" id="{D986A09C-B149-3B1A-6F1A-586F6D316962}"/>
              </a:ext>
            </a:extLst>
          </p:cNvPr>
          <p:cNvSpPr txBox="1"/>
          <p:nvPr/>
        </p:nvSpPr>
        <p:spPr>
          <a:xfrm>
            <a:off x="2494640" y="309561"/>
            <a:ext cx="7202717" cy="830997"/>
          </a:xfrm>
          <a:prstGeom prst="rect">
            <a:avLst/>
          </a:prstGeom>
          <a:noFill/>
        </p:spPr>
        <p:txBody>
          <a:bodyPr wrap="square" rtlCol="0">
            <a:spAutoFit/>
          </a:bodyPr>
          <a:lstStyle/>
          <a:p>
            <a:pPr algn="ctr"/>
            <a:r>
              <a:rPr lang="vi-VN" sz="2400" dirty="0">
                <a:solidFill>
                  <a:srgbClr val="1F4E79"/>
                </a:solidFill>
                <a:latin typeface="iCiel Cadena" panose="02000503000000020004" pitchFamily="2" charset="0"/>
                <a:cs typeface="Aharoni" panose="02010803020104030203" pitchFamily="2" charset="-79"/>
              </a:rPr>
              <a:t>TRƯỜNG ĐẠI HỌC SƯ PHẠM KĨ THUẬT VINH</a:t>
            </a:r>
          </a:p>
          <a:p>
            <a:pPr algn="ctr"/>
            <a:r>
              <a:rPr lang="vi-VN" sz="2400" dirty="0">
                <a:solidFill>
                  <a:srgbClr val="1F4E79"/>
                </a:solidFill>
                <a:latin typeface="iCiel Cadena" panose="02000503000000020004" pitchFamily="2" charset="0"/>
                <a:cs typeface="Aharoni" panose="02010803020104030203" pitchFamily="2" charset="-79"/>
              </a:rPr>
              <a:t>KHOA: CÔNG NGHỆ THÔNG TIN</a:t>
            </a:r>
          </a:p>
        </p:txBody>
      </p:sp>
      <p:pic>
        <p:nvPicPr>
          <p:cNvPr id="12" name="Hình ảnh 11" descr="Ảnh có chứa biểu tượng&#10;&#10;Mô tả được tạo tự động">
            <a:extLst>
              <a:ext uri="{FF2B5EF4-FFF2-40B4-BE49-F238E27FC236}">
                <a16:creationId xmlns:a16="http://schemas.microsoft.com/office/drawing/2014/main" id="{97414723-3535-1FBA-387D-5F16B6DD2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2940" y="1450119"/>
            <a:ext cx="1886119" cy="1882346"/>
          </a:xfrm>
          <a:prstGeom prst="rect">
            <a:avLst/>
          </a:prstGeom>
        </p:spPr>
      </p:pic>
      <p:pic>
        <p:nvPicPr>
          <p:cNvPr id="6" name="Hình ảnh 5">
            <a:extLst>
              <a:ext uri="{FF2B5EF4-FFF2-40B4-BE49-F238E27FC236}">
                <a16:creationId xmlns:a16="http://schemas.microsoft.com/office/drawing/2014/main" id="{B74F9564-7533-87BC-9E37-7DF961E3A9A3}"/>
              </a:ext>
            </a:extLst>
          </p:cNvPr>
          <p:cNvPicPr>
            <a:picLocks noChangeAspect="1"/>
          </p:cNvPicPr>
          <p:nvPr/>
        </p:nvPicPr>
        <p:blipFill>
          <a:blip r:embed="rId3"/>
          <a:stretch>
            <a:fillRect/>
          </a:stretch>
        </p:blipFill>
        <p:spPr>
          <a:xfrm>
            <a:off x="11338033" y="6086551"/>
            <a:ext cx="793534" cy="750408"/>
          </a:xfrm>
          <a:prstGeom prst="rect">
            <a:avLst/>
          </a:prstGeom>
        </p:spPr>
      </p:pic>
    </p:spTree>
    <p:extLst>
      <p:ext uri="{BB962C8B-B14F-4D97-AF65-F5344CB8AC3E}">
        <p14:creationId xmlns:p14="http://schemas.microsoft.com/office/powerpoint/2010/main" val="1714840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ình chữ nhật 15">
            <a:extLst>
              <a:ext uri="{FF2B5EF4-FFF2-40B4-BE49-F238E27FC236}">
                <a16:creationId xmlns:a16="http://schemas.microsoft.com/office/drawing/2014/main" id="{E3919826-A91A-C92C-DA4A-9CD0F625E696}"/>
              </a:ext>
            </a:extLst>
          </p:cNvPr>
          <p:cNvSpPr/>
          <p:nvPr/>
        </p:nvSpPr>
        <p:spPr>
          <a:xfrm>
            <a:off x="0" y="0"/>
            <a:ext cx="12192000" cy="6858000"/>
          </a:xfrm>
          <a:prstGeom prst="rect">
            <a:avLst/>
          </a:prstGeom>
          <a:solidFill>
            <a:srgbClr val="FAF7F0"/>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4" name="Hộp Văn bản 3">
            <a:extLst>
              <a:ext uri="{FF2B5EF4-FFF2-40B4-BE49-F238E27FC236}">
                <a16:creationId xmlns:a16="http://schemas.microsoft.com/office/drawing/2014/main" id="{D7DC7B20-32CD-E141-538F-AFF6008F82A4}"/>
              </a:ext>
            </a:extLst>
          </p:cNvPr>
          <p:cNvSpPr txBox="1"/>
          <p:nvPr/>
        </p:nvSpPr>
        <p:spPr>
          <a:xfrm>
            <a:off x="862636" y="3429000"/>
            <a:ext cx="10171908" cy="1200329"/>
          </a:xfrm>
          <a:prstGeom prst="rect">
            <a:avLst/>
          </a:prstGeom>
          <a:noFill/>
        </p:spPr>
        <p:txBody>
          <a:bodyPr wrap="square" rtlCol="0">
            <a:spAutoFit/>
          </a:bodyPr>
          <a:lstStyle/>
          <a:p>
            <a:pPr algn="ctr"/>
            <a:r>
              <a:rPr lang="vi-VN" sz="3600" dirty="0">
                <a:solidFill>
                  <a:srgbClr val="D61C4E"/>
                </a:solidFill>
                <a:latin typeface="iCiel Cadena" panose="02000503000000020004" pitchFamily="2" charset="0"/>
                <a:cs typeface="Forte Forward" panose="020B0604020202020204" pitchFamily="2" charset="0"/>
              </a:rPr>
              <a:t>ĐỀ TÀI: XÂY DỰNG WEBSITE THƯƠNG MẠI ĐIỆN TỬ VÀ ĐỒ </a:t>
            </a:r>
            <a:r>
              <a:rPr lang="vi-VN" sz="3600">
                <a:solidFill>
                  <a:srgbClr val="D61C4E"/>
                </a:solidFill>
                <a:latin typeface="iCiel Cadena" panose="02000503000000020004" pitchFamily="2" charset="0"/>
                <a:cs typeface="Forte Forward" panose="020B0604020202020204" pitchFamily="2" charset="0"/>
              </a:rPr>
              <a:t>CÔNG NGHỆ</a:t>
            </a:r>
            <a:endParaRPr lang="vi-VN" sz="3600" dirty="0">
              <a:solidFill>
                <a:srgbClr val="D61C4E"/>
              </a:solidFill>
              <a:latin typeface="iCiel Cadena" panose="02000503000000020004" pitchFamily="2" charset="0"/>
              <a:cs typeface="Forte Forward" panose="020B0604020202020204" pitchFamily="2" charset="0"/>
            </a:endParaRPr>
          </a:p>
        </p:txBody>
      </p:sp>
      <p:sp>
        <p:nvSpPr>
          <p:cNvPr id="2" name="Hộp Văn bản 1">
            <a:extLst>
              <a:ext uri="{FF2B5EF4-FFF2-40B4-BE49-F238E27FC236}">
                <a16:creationId xmlns:a16="http://schemas.microsoft.com/office/drawing/2014/main" id="{DEDA826B-9A66-C35B-5D2D-CDDBA78A7983}"/>
              </a:ext>
            </a:extLst>
          </p:cNvPr>
          <p:cNvSpPr txBox="1"/>
          <p:nvPr/>
        </p:nvSpPr>
        <p:spPr>
          <a:xfrm>
            <a:off x="3779218" y="4807083"/>
            <a:ext cx="2747444" cy="1200329"/>
          </a:xfrm>
          <a:prstGeom prst="rect">
            <a:avLst/>
          </a:prstGeom>
          <a:noFill/>
        </p:spPr>
        <p:txBody>
          <a:bodyPr wrap="square" rtlCol="0">
            <a:spAutoFit/>
          </a:bodyPr>
          <a:lstStyle/>
          <a:p>
            <a:pPr algn="just"/>
            <a:r>
              <a:rPr lang="vi-VN" dirty="0">
                <a:solidFill>
                  <a:srgbClr val="1F4E79"/>
                </a:solidFill>
                <a:latin typeface="iCiel Cadena" panose="02000503000000020004" pitchFamily="2" charset="0"/>
              </a:rPr>
              <a:t>Giáo viên hướng dẫn:</a:t>
            </a:r>
          </a:p>
          <a:p>
            <a:pPr algn="just"/>
            <a:r>
              <a:rPr lang="vi-VN" dirty="0">
                <a:solidFill>
                  <a:srgbClr val="1F4E79"/>
                </a:solidFill>
                <a:latin typeface="iCiel Cadena" panose="02000503000000020004" pitchFamily="2" charset="0"/>
              </a:rPr>
              <a:t>Sinh viên thực hiện:</a:t>
            </a:r>
          </a:p>
          <a:p>
            <a:pPr algn="just"/>
            <a:r>
              <a:rPr lang="vi-VN" dirty="0">
                <a:solidFill>
                  <a:srgbClr val="1F4E79"/>
                </a:solidFill>
                <a:latin typeface="iCiel Cadena" panose="02000503000000020004" pitchFamily="2" charset="0"/>
              </a:rPr>
              <a:t>Mã sinh viên:</a:t>
            </a:r>
          </a:p>
          <a:p>
            <a:pPr algn="just"/>
            <a:r>
              <a:rPr lang="vi-VN" dirty="0">
                <a:solidFill>
                  <a:srgbClr val="1F4E79"/>
                </a:solidFill>
                <a:latin typeface="iCiel Cadena" panose="02000503000000020004" pitchFamily="2" charset="0"/>
              </a:rPr>
              <a:t>Lớp:</a:t>
            </a:r>
          </a:p>
        </p:txBody>
      </p:sp>
      <p:sp>
        <p:nvSpPr>
          <p:cNvPr id="3" name="Hộp Văn bản 2">
            <a:extLst>
              <a:ext uri="{FF2B5EF4-FFF2-40B4-BE49-F238E27FC236}">
                <a16:creationId xmlns:a16="http://schemas.microsoft.com/office/drawing/2014/main" id="{853CB61B-F4D2-46D2-246B-DA3D985EF3B9}"/>
              </a:ext>
            </a:extLst>
          </p:cNvPr>
          <p:cNvSpPr txBox="1"/>
          <p:nvPr/>
        </p:nvSpPr>
        <p:spPr>
          <a:xfrm>
            <a:off x="6280106" y="4841826"/>
            <a:ext cx="4025774" cy="1200329"/>
          </a:xfrm>
          <a:prstGeom prst="rect">
            <a:avLst/>
          </a:prstGeom>
          <a:noFill/>
        </p:spPr>
        <p:txBody>
          <a:bodyPr wrap="square" rtlCol="0">
            <a:spAutoFit/>
          </a:bodyPr>
          <a:lstStyle/>
          <a:p>
            <a:r>
              <a:rPr lang="vi-VN" dirty="0" err="1">
                <a:solidFill>
                  <a:srgbClr val="1F4E79"/>
                </a:solidFill>
                <a:latin typeface="iCiel Cadena" panose="02000503000000020004" pitchFamily="2" charset="0"/>
              </a:rPr>
              <a:t>Th.S</a:t>
            </a:r>
            <a:r>
              <a:rPr lang="vi-VN" dirty="0">
                <a:solidFill>
                  <a:srgbClr val="1F4E79"/>
                </a:solidFill>
                <a:latin typeface="iCiel Cadena" panose="02000503000000020004" pitchFamily="2" charset="0"/>
              </a:rPr>
              <a:t> Lê Văn Vinh</a:t>
            </a:r>
          </a:p>
          <a:p>
            <a:r>
              <a:rPr lang="vi-VN" dirty="0">
                <a:solidFill>
                  <a:srgbClr val="1F4E79"/>
                </a:solidFill>
                <a:latin typeface="iCiel Cadena" panose="02000503000000020004" pitchFamily="2" charset="0"/>
              </a:rPr>
              <a:t>Phạm Danh Vinh</a:t>
            </a:r>
          </a:p>
          <a:p>
            <a:r>
              <a:rPr lang="vi-VN" dirty="0">
                <a:solidFill>
                  <a:srgbClr val="1F4E79"/>
                </a:solidFill>
                <a:latin typeface="iCiel Cadena" panose="02000503000000020004" pitchFamily="2" charset="0"/>
              </a:rPr>
              <a:t>1405190720</a:t>
            </a:r>
          </a:p>
          <a:p>
            <a:r>
              <a:rPr lang="vi-VN" dirty="0">
                <a:solidFill>
                  <a:srgbClr val="1F4E79"/>
                </a:solidFill>
                <a:latin typeface="iCiel Cadena" panose="02000503000000020004" pitchFamily="2" charset="0"/>
              </a:rPr>
              <a:t>DHCTTCK14A</a:t>
            </a:r>
          </a:p>
        </p:txBody>
      </p:sp>
      <p:sp>
        <p:nvSpPr>
          <p:cNvPr id="5" name="Hộp Văn bản 4">
            <a:extLst>
              <a:ext uri="{FF2B5EF4-FFF2-40B4-BE49-F238E27FC236}">
                <a16:creationId xmlns:a16="http://schemas.microsoft.com/office/drawing/2014/main" id="{18F4F004-CAEF-49E8-D4D0-CDA7DA94BBD9}"/>
              </a:ext>
            </a:extLst>
          </p:cNvPr>
          <p:cNvSpPr txBox="1"/>
          <p:nvPr/>
        </p:nvSpPr>
        <p:spPr>
          <a:xfrm>
            <a:off x="4476750" y="6525195"/>
            <a:ext cx="3238500" cy="307777"/>
          </a:xfrm>
          <a:prstGeom prst="rect">
            <a:avLst/>
          </a:prstGeom>
          <a:noFill/>
        </p:spPr>
        <p:txBody>
          <a:bodyPr wrap="square" rtlCol="0">
            <a:spAutoFit/>
          </a:bodyPr>
          <a:lstStyle/>
          <a:p>
            <a:r>
              <a:rPr lang="vi-VN" sz="1400" i="1" dirty="0"/>
              <a:t>Nghệ An, ngày 28 tháng 04 năm 2023</a:t>
            </a:r>
          </a:p>
        </p:txBody>
      </p:sp>
      <p:sp>
        <p:nvSpPr>
          <p:cNvPr id="10" name="Hộp Văn bản 9">
            <a:extLst>
              <a:ext uri="{FF2B5EF4-FFF2-40B4-BE49-F238E27FC236}">
                <a16:creationId xmlns:a16="http://schemas.microsoft.com/office/drawing/2014/main" id="{D986A09C-B149-3B1A-6F1A-586F6D316962}"/>
              </a:ext>
            </a:extLst>
          </p:cNvPr>
          <p:cNvSpPr txBox="1"/>
          <p:nvPr/>
        </p:nvSpPr>
        <p:spPr>
          <a:xfrm>
            <a:off x="2494640" y="309561"/>
            <a:ext cx="7202717" cy="830997"/>
          </a:xfrm>
          <a:prstGeom prst="rect">
            <a:avLst/>
          </a:prstGeom>
          <a:noFill/>
        </p:spPr>
        <p:txBody>
          <a:bodyPr wrap="square" rtlCol="0">
            <a:spAutoFit/>
          </a:bodyPr>
          <a:lstStyle/>
          <a:p>
            <a:pPr algn="ctr"/>
            <a:r>
              <a:rPr lang="vi-VN" sz="2400" dirty="0">
                <a:solidFill>
                  <a:srgbClr val="1F4E79"/>
                </a:solidFill>
                <a:latin typeface="iCiel Cadena" panose="02000503000000020004" pitchFamily="2" charset="0"/>
                <a:cs typeface="Aharoni" panose="02010803020104030203" pitchFamily="2" charset="-79"/>
              </a:rPr>
              <a:t>TRƯỜNG ĐẠI HỌC SƯ PHẠM KĨ THUẬT VINH</a:t>
            </a:r>
          </a:p>
          <a:p>
            <a:pPr algn="ctr"/>
            <a:r>
              <a:rPr lang="vi-VN" sz="2400" dirty="0">
                <a:solidFill>
                  <a:srgbClr val="1F4E79"/>
                </a:solidFill>
                <a:latin typeface="iCiel Cadena" panose="02000503000000020004" pitchFamily="2" charset="0"/>
                <a:cs typeface="Aharoni" panose="02010803020104030203" pitchFamily="2" charset="-79"/>
              </a:rPr>
              <a:t>KHOA: CÔNG NGHỆ THÔNG TIN</a:t>
            </a:r>
          </a:p>
        </p:txBody>
      </p:sp>
      <p:pic>
        <p:nvPicPr>
          <p:cNvPr id="12" name="Hình ảnh 11" descr="Ảnh có chứa biểu tượng&#10;&#10;Mô tả được tạo tự động">
            <a:extLst>
              <a:ext uri="{FF2B5EF4-FFF2-40B4-BE49-F238E27FC236}">
                <a16:creationId xmlns:a16="http://schemas.microsoft.com/office/drawing/2014/main" id="{97414723-3535-1FBA-387D-5F16B6DD2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2940" y="1450119"/>
            <a:ext cx="1886119" cy="1882346"/>
          </a:xfrm>
          <a:prstGeom prst="rect">
            <a:avLst/>
          </a:prstGeom>
        </p:spPr>
      </p:pic>
      <p:pic>
        <p:nvPicPr>
          <p:cNvPr id="6" name="Hình ảnh 5">
            <a:extLst>
              <a:ext uri="{FF2B5EF4-FFF2-40B4-BE49-F238E27FC236}">
                <a16:creationId xmlns:a16="http://schemas.microsoft.com/office/drawing/2014/main" id="{198324C6-35C2-3545-245D-08A37C053B57}"/>
              </a:ext>
            </a:extLst>
          </p:cNvPr>
          <p:cNvPicPr>
            <a:picLocks noChangeAspect="1"/>
          </p:cNvPicPr>
          <p:nvPr/>
        </p:nvPicPr>
        <p:blipFill>
          <a:blip r:embed="rId3"/>
          <a:stretch>
            <a:fillRect/>
          </a:stretch>
        </p:blipFill>
        <p:spPr>
          <a:xfrm>
            <a:off x="107758" y="6230915"/>
            <a:ext cx="622384" cy="588559"/>
          </a:xfrm>
          <a:prstGeom prst="rect">
            <a:avLst/>
          </a:prstGeom>
        </p:spPr>
      </p:pic>
    </p:spTree>
    <p:extLst>
      <p:ext uri="{BB962C8B-B14F-4D97-AF65-F5344CB8AC3E}">
        <p14:creationId xmlns:p14="http://schemas.microsoft.com/office/powerpoint/2010/main" val="569665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ình chữ nhật 7">
            <a:extLst>
              <a:ext uri="{FF2B5EF4-FFF2-40B4-BE49-F238E27FC236}">
                <a16:creationId xmlns:a16="http://schemas.microsoft.com/office/drawing/2014/main" id="{74172264-4131-4FC4-C870-D11D317064AF}"/>
              </a:ext>
            </a:extLst>
          </p:cNvPr>
          <p:cNvSpPr/>
          <p:nvPr/>
        </p:nvSpPr>
        <p:spPr>
          <a:xfrm>
            <a:off x="0"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24" name="Hình ảnh 23" descr="Ảnh có chứa biểu tượng&#10;&#10;Mô tả được tạo tự động">
            <a:extLst>
              <a:ext uri="{FF2B5EF4-FFF2-40B4-BE49-F238E27FC236}">
                <a16:creationId xmlns:a16="http://schemas.microsoft.com/office/drawing/2014/main" id="{AE435FA0-E761-7DDD-399A-5A69EDB53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7821" y="1473351"/>
            <a:ext cx="2157583" cy="2153267"/>
          </a:xfrm>
          <a:prstGeom prst="rect">
            <a:avLst/>
          </a:prstGeom>
        </p:spPr>
      </p:pic>
      <p:sp>
        <p:nvSpPr>
          <p:cNvPr id="23" name="Hộp Văn bản 22">
            <a:extLst>
              <a:ext uri="{FF2B5EF4-FFF2-40B4-BE49-F238E27FC236}">
                <a16:creationId xmlns:a16="http://schemas.microsoft.com/office/drawing/2014/main" id="{173DF18D-2ED0-9F97-1223-9F2F83EFE3D9}"/>
              </a:ext>
            </a:extLst>
          </p:cNvPr>
          <p:cNvSpPr txBox="1"/>
          <p:nvPr/>
        </p:nvSpPr>
        <p:spPr>
          <a:xfrm>
            <a:off x="599350" y="4505633"/>
            <a:ext cx="4734523" cy="584775"/>
          </a:xfrm>
          <a:prstGeom prst="rect">
            <a:avLst/>
          </a:prstGeom>
          <a:noFill/>
        </p:spPr>
        <p:txBody>
          <a:bodyPr wrap="square" rtlCol="0">
            <a:spAutoFit/>
          </a:bodyPr>
          <a:lstStyle/>
          <a:p>
            <a:pPr algn="ctr"/>
            <a:r>
              <a:rPr lang="vi-VN" sz="3200" dirty="0">
                <a:solidFill>
                  <a:srgbClr val="C00000"/>
                </a:solidFill>
                <a:latin typeface="iCiel Cadena" panose="02000503000000020004" pitchFamily="2" charset="0"/>
              </a:rPr>
              <a:t>BẢO VỆ ĐỒ ÁN</a:t>
            </a:r>
          </a:p>
        </p:txBody>
      </p:sp>
      <p:sp>
        <p:nvSpPr>
          <p:cNvPr id="21" name="Hộp Văn bản 20">
            <a:extLst>
              <a:ext uri="{FF2B5EF4-FFF2-40B4-BE49-F238E27FC236}">
                <a16:creationId xmlns:a16="http://schemas.microsoft.com/office/drawing/2014/main" id="{5B711AEA-03A5-641C-150A-FD62B8F6AB93}"/>
              </a:ext>
            </a:extLst>
          </p:cNvPr>
          <p:cNvSpPr txBox="1"/>
          <p:nvPr/>
        </p:nvSpPr>
        <p:spPr>
          <a:xfrm>
            <a:off x="82798" y="3920858"/>
            <a:ext cx="6013202" cy="584775"/>
          </a:xfrm>
          <a:prstGeom prst="rect">
            <a:avLst/>
          </a:prstGeom>
          <a:noFill/>
        </p:spPr>
        <p:txBody>
          <a:bodyPr wrap="square" rtlCol="0">
            <a:spAutoFit/>
          </a:bodyPr>
          <a:lstStyle/>
          <a:p>
            <a:pPr algn="ctr"/>
            <a:r>
              <a:rPr lang="vi-VN" sz="3200" dirty="0">
                <a:solidFill>
                  <a:srgbClr val="1F4E79"/>
                </a:solidFill>
                <a:latin typeface="iCiel Cadena" panose="02000503000000020004" pitchFamily="2" charset="0"/>
              </a:rPr>
              <a:t>NỘI DUNG THUYẾT TRÌNH</a:t>
            </a:r>
          </a:p>
        </p:txBody>
      </p:sp>
      <p:sp>
        <p:nvSpPr>
          <p:cNvPr id="30" name="Hình chữ nhật: Góc Tròn 29">
            <a:extLst>
              <a:ext uri="{FF2B5EF4-FFF2-40B4-BE49-F238E27FC236}">
                <a16:creationId xmlns:a16="http://schemas.microsoft.com/office/drawing/2014/main" id="{159047AA-F034-F423-7864-ABE613EC1C8D}"/>
              </a:ext>
            </a:extLst>
          </p:cNvPr>
          <p:cNvSpPr/>
          <p:nvPr/>
        </p:nvSpPr>
        <p:spPr>
          <a:xfrm>
            <a:off x="6437009" y="414263"/>
            <a:ext cx="5232903" cy="697117"/>
          </a:xfrm>
          <a:prstGeom prst="roundRect">
            <a:avLst/>
          </a:prstGeom>
          <a:solidFill>
            <a:srgbClr val="1CD6CE"/>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D61C4E"/>
                </a:solidFill>
                <a:latin typeface="iCiel Cadena" panose="02000503000000020004" pitchFamily="2" charset="0"/>
              </a:rPr>
              <a:t>PHẦN 1: LÝ DO CHỌN ĐỀ TÀI</a:t>
            </a:r>
          </a:p>
        </p:txBody>
      </p:sp>
      <p:sp>
        <p:nvSpPr>
          <p:cNvPr id="31" name="Hình chữ nhật: Góc Tròn 30">
            <a:extLst>
              <a:ext uri="{FF2B5EF4-FFF2-40B4-BE49-F238E27FC236}">
                <a16:creationId xmlns:a16="http://schemas.microsoft.com/office/drawing/2014/main" id="{0CE80580-AC84-A391-4315-AA35B043170A}"/>
              </a:ext>
            </a:extLst>
          </p:cNvPr>
          <p:cNvSpPr/>
          <p:nvPr/>
        </p:nvSpPr>
        <p:spPr>
          <a:xfrm>
            <a:off x="6437007" y="4472482"/>
            <a:ext cx="5232903" cy="697117"/>
          </a:xfrm>
          <a:prstGeom prst="roundRect">
            <a:avLst/>
          </a:prstGeom>
          <a:solidFill>
            <a:srgbClr val="F6BA6F"/>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D61C4E"/>
                </a:solidFill>
                <a:latin typeface="iCiel Cadena" panose="02000503000000020004" pitchFamily="2" charset="0"/>
              </a:rPr>
              <a:t>PHẦN 4: DEMO SẢN PHẨM WEBSITE BÁN HÀNG</a:t>
            </a:r>
          </a:p>
        </p:txBody>
      </p:sp>
      <p:sp>
        <p:nvSpPr>
          <p:cNvPr id="32" name="Hình chữ nhật: Góc Tròn 31">
            <a:extLst>
              <a:ext uri="{FF2B5EF4-FFF2-40B4-BE49-F238E27FC236}">
                <a16:creationId xmlns:a16="http://schemas.microsoft.com/office/drawing/2014/main" id="{C8E9BA2D-5A93-821E-A871-13303B67FF77}"/>
              </a:ext>
            </a:extLst>
          </p:cNvPr>
          <p:cNvSpPr/>
          <p:nvPr/>
        </p:nvSpPr>
        <p:spPr>
          <a:xfrm>
            <a:off x="6437005" y="3125319"/>
            <a:ext cx="5232903" cy="697117"/>
          </a:xfrm>
          <a:prstGeom prst="roundRect">
            <a:avLst/>
          </a:prstGeom>
          <a:solidFill>
            <a:srgbClr val="E6E6E6"/>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D61C4E"/>
                </a:solidFill>
                <a:latin typeface="iCiel Cadena" panose="02000503000000020004" pitchFamily="2" charset="0"/>
              </a:rPr>
              <a:t>PHẦN 3: KIẾN THỨC LẬP TRÌNH CƠ BẢN</a:t>
            </a:r>
          </a:p>
        </p:txBody>
      </p:sp>
      <p:sp>
        <p:nvSpPr>
          <p:cNvPr id="33" name="Hình chữ nhật: Góc Tròn 32">
            <a:extLst>
              <a:ext uri="{FF2B5EF4-FFF2-40B4-BE49-F238E27FC236}">
                <a16:creationId xmlns:a16="http://schemas.microsoft.com/office/drawing/2014/main" id="{5324ED2F-34CD-A4B0-8323-53E1D7E27EEF}"/>
              </a:ext>
            </a:extLst>
          </p:cNvPr>
          <p:cNvSpPr/>
          <p:nvPr/>
        </p:nvSpPr>
        <p:spPr>
          <a:xfrm>
            <a:off x="6437006" y="1769791"/>
            <a:ext cx="5232903" cy="697117"/>
          </a:xfrm>
          <a:prstGeom prst="roundRect">
            <a:avLst/>
          </a:prstGeom>
          <a:solidFill>
            <a:srgbClr val="FEDB39"/>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D61C4E"/>
                </a:solidFill>
                <a:latin typeface="iCiel Cadena" panose="02000503000000020004" pitchFamily="2" charset="0"/>
              </a:rPr>
              <a:t>PHẦN 2: TÌM HIỂU THƯƠNG MẠI ĐIỆN TỬ</a:t>
            </a:r>
          </a:p>
        </p:txBody>
      </p:sp>
      <p:sp>
        <p:nvSpPr>
          <p:cNvPr id="34" name="Hình chữ nhật: Góc Tròn 33">
            <a:extLst>
              <a:ext uri="{FF2B5EF4-FFF2-40B4-BE49-F238E27FC236}">
                <a16:creationId xmlns:a16="http://schemas.microsoft.com/office/drawing/2014/main" id="{2CD82ADC-5B91-4956-7320-52B32961FF22}"/>
              </a:ext>
            </a:extLst>
          </p:cNvPr>
          <p:cNvSpPr/>
          <p:nvPr/>
        </p:nvSpPr>
        <p:spPr>
          <a:xfrm>
            <a:off x="6437010" y="5828010"/>
            <a:ext cx="5232903" cy="697117"/>
          </a:xfrm>
          <a:prstGeom prst="roundRect">
            <a:avLst/>
          </a:prstGeom>
          <a:solidFill>
            <a:srgbClr val="ADE4DB"/>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D61C4E"/>
                </a:solidFill>
                <a:latin typeface="iCiel Cadena" panose="02000503000000020004" pitchFamily="2" charset="0"/>
              </a:rPr>
              <a:t>PHẦN 5: KẾT LUẬN</a:t>
            </a:r>
          </a:p>
        </p:txBody>
      </p:sp>
      <p:pic>
        <p:nvPicPr>
          <p:cNvPr id="2" name="Hình ảnh 1">
            <a:extLst>
              <a:ext uri="{FF2B5EF4-FFF2-40B4-BE49-F238E27FC236}">
                <a16:creationId xmlns:a16="http://schemas.microsoft.com/office/drawing/2014/main" id="{1CC1BB01-5D31-1481-0EB1-AA850840745F}"/>
              </a:ext>
            </a:extLst>
          </p:cNvPr>
          <p:cNvPicPr>
            <a:picLocks noChangeAspect="1"/>
          </p:cNvPicPr>
          <p:nvPr/>
        </p:nvPicPr>
        <p:blipFill>
          <a:blip r:embed="rId3"/>
          <a:stretch>
            <a:fillRect/>
          </a:stretch>
        </p:blipFill>
        <p:spPr>
          <a:xfrm>
            <a:off x="82073" y="124113"/>
            <a:ext cx="793534" cy="750408"/>
          </a:xfrm>
          <a:prstGeom prst="rect">
            <a:avLst/>
          </a:prstGeom>
        </p:spPr>
      </p:pic>
    </p:spTree>
    <p:extLst>
      <p:ext uri="{BB962C8B-B14F-4D97-AF65-F5344CB8AC3E}">
        <p14:creationId xmlns:p14="http://schemas.microsoft.com/office/powerpoint/2010/main" val="4118751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nh chữ nhật 3">
            <a:extLst>
              <a:ext uri="{FF2B5EF4-FFF2-40B4-BE49-F238E27FC236}">
                <a16:creationId xmlns:a16="http://schemas.microsoft.com/office/drawing/2014/main" id="{C0262F02-5018-E48B-47EB-F98EDC15FF5A}"/>
              </a:ext>
            </a:extLst>
          </p:cNvPr>
          <p:cNvSpPr/>
          <p:nvPr/>
        </p:nvSpPr>
        <p:spPr>
          <a:xfrm>
            <a:off x="0" y="-39991"/>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grpSp>
        <p:nvGrpSpPr>
          <p:cNvPr id="3" name="Nhóm 2">
            <a:extLst>
              <a:ext uri="{FF2B5EF4-FFF2-40B4-BE49-F238E27FC236}">
                <a16:creationId xmlns:a16="http://schemas.microsoft.com/office/drawing/2014/main" id="{C3BD242C-546D-1084-4FED-1E9C1A4667A5}"/>
              </a:ext>
            </a:extLst>
          </p:cNvPr>
          <p:cNvGrpSpPr/>
          <p:nvPr/>
        </p:nvGrpSpPr>
        <p:grpSpPr>
          <a:xfrm>
            <a:off x="176544" y="108641"/>
            <a:ext cx="2992169" cy="760491"/>
            <a:chOff x="176544" y="108641"/>
            <a:chExt cx="2992169" cy="760491"/>
          </a:xfrm>
        </p:grpSpPr>
        <p:sp>
          <p:nvSpPr>
            <p:cNvPr id="7" name="Hình chữ nhật: Góc Tròn 6">
              <a:extLst>
                <a:ext uri="{FF2B5EF4-FFF2-40B4-BE49-F238E27FC236}">
                  <a16:creationId xmlns:a16="http://schemas.microsoft.com/office/drawing/2014/main" id="{7C2CE211-B8FE-2245-5F6D-69CC716BFAF1}"/>
                </a:ext>
              </a:extLst>
            </p:cNvPr>
            <p:cNvSpPr/>
            <p:nvPr/>
          </p:nvSpPr>
          <p:spPr>
            <a:xfrm>
              <a:off x="461727" y="230863"/>
              <a:ext cx="2706986" cy="516048"/>
            </a:xfrm>
            <a:prstGeom prst="roundRect">
              <a:avLst/>
            </a:prstGeom>
            <a:solidFill>
              <a:srgbClr val="FF99FF"/>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vi-VN"/>
            </a:p>
          </p:txBody>
        </p:sp>
        <p:sp>
          <p:nvSpPr>
            <p:cNvPr id="5" name="Hình thoi 4">
              <a:extLst>
                <a:ext uri="{FF2B5EF4-FFF2-40B4-BE49-F238E27FC236}">
                  <a16:creationId xmlns:a16="http://schemas.microsoft.com/office/drawing/2014/main" id="{004C1F44-FBCA-B775-4EED-47C54604C1FA}"/>
                </a:ext>
              </a:extLst>
            </p:cNvPr>
            <p:cNvSpPr/>
            <p:nvPr/>
          </p:nvSpPr>
          <p:spPr>
            <a:xfrm>
              <a:off x="176544" y="108641"/>
              <a:ext cx="760491" cy="760491"/>
            </a:xfrm>
            <a:prstGeom prst="diamond">
              <a:avLst/>
            </a:prstGeom>
            <a:solidFill>
              <a:srgbClr val="1F4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1</a:t>
              </a:r>
            </a:p>
          </p:txBody>
        </p:sp>
        <p:sp>
          <p:nvSpPr>
            <p:cNvPr id="6" name="Hộp Văn bản 5">
              <a:extLst>
                <a:ext uri="{FF2B5EF4-FFF2-40B4-BE49-F238E27FC236}">
                  <a16:creationId xmlns:a16="http://schemas.microsoft.com/office/drawing/2014/main" id="{E2CFF692-C282-75D1-5C86-5E997CDE43B3}"/>
                </a:ext>
              </a:extLst>
            </p:cNvPr>
            <p:cNvSpPr txBox="1"/>
            <p:nvPr/>
          </p:nvSpPr>
          <p:spPr>
            <a:xfrm>
              <a:off x="699382" y="304220"/>
              <a:ext cx="2342582" cy="369332"/>
            </a:xfrm>
            <a:prstGeom prst="rect">
              <a:avLst/>
            </a:prstGeom>
            <a:noFill/>
          </p:spPr>
          <p:txBody>
            <a:bodyPr wrap="square" rtlCol="0">
              <a:spAutoFit/>
            </a:bodyPr>
            <a:lstStyle/>
            <a:p>
              <a:pPr algn="r"/>
              <a:r>
                <a:rPr lang="vi-VN" dirty="0">
                  <a:solidFill>
                    <a:srgbClr val="C00000"/>
                  </a:solidFill>
                  <a:latin typeface="iCiel Cadena" panose="02000503000000020004" pitchFamily="2" charset="0"/>
                </a:rPr>
                <a:t>LÝ DO CHỌN ĐỀ TÀI:</a:t>
              </a:r>
            </a:p>
          </p:txBody>
        </p:sp>
      </p:grpSp>
      <p:grpSp>
        <p:nvGrpSpPr>
          <p:cNvPr id="25" name="Nhóm 24">
            <a:extLst>
              <a:ext uri="{FF2B5EF4-FFF2-40B4-BE49-F238E27FC236}">
                <a16:creationId xmlns:a16="http://schemas.microsoft.com/office/drawing/2014/main" id="{22BA341D-C85F-04F4-4675-E8B4E8BF7112}"/>
              </a:ext>
            </a:extLst>
          </p:cNvPr>
          <p:cNvGrpSpPr/>
          <p:nvPr/>
        </p:nvGrpSpPr>
        <p:grpSpPr>
          <a:xfrm>
            <a:off x="1141354" y="992280"/>
            <a:ext cx="4420353" cy="2254376"/>
            <a:chOff x="1011726" y="1032031"/>
            <a:chExt cx="3967681" cy="1984974"/>
          </a:xfrm>
          <a:solidFill>
            <a:srgbClr val="E6E6E6"/>
          </a:solidFill>
          <a:effectLst>
            <a:outerShdw blurRad="63500" sx="102000" sy="102000" algn="ctr" rotWithShape="0">
              <a:prstClr val="black">
                <a:alpha val="40000"/>
              </a:prstClr>
            </a:outerShdw>
          </a:effectLst>
        </p:grpSpPr>
        <p:grpSp>
          <p:nvGrpSpPr>
            <p:cNvPr id="24" name="Nhóm 23">
              <a:extLst>
                <a:ext uri="{FF2B5EF4-FFF2-40B4-BE49-F238E27FC236}">
                  <a16:creationId xmlns:a16="http://schemas.microsoft.com/office/drawing/2014/main" id="{FCE31BF4-57A5-1067-79DC-AB13373C9FEA}"/>
                </a:ext>
              </a:extLst>
            </p:cNvPr>
            <p:cNvGrpSpPr/>
            <p:nvPr/>
          </p:nvGrpSpPr>
          <p:grpSpPr>
            <a:xfrm>
              <a:off x="1011726" y="1032031"/>
              <a:ext cx="3967681" cy="1984974"/>
              <a:chOff x="984565" y="977772"/>
              <a:chExt cx="3967681" cy="1984974"/>
            </a:xfrm>
            <a:grpFill/>
          </p:grpSpPr>
          <p:sp>
            <p:nvSpPr>
              <p:cNvPr id="13" name="Hình chữ nhật: Một Góc Tròn 12">
                <a:extLst>
                  <a:ext uri="{FF2B5EF4-FFF2-40B4-BE49-F238E27FC236}">
                    <a16:creationId xmlns:a16="http://schemas.microsoft.com/office/drawing/2014/main" id="{D43DCF08-0C71-6671-AD5C-9718E6D30D62}"/>
                  </a:ext>
                </a:extLst>
              </p:cNvPr>
              <p:cNvSpPr/>
              <p:nvPr/>
            </p:nvSpPr>
            <p:spPr>
              <a:xfrm>
                <a:off x="984565" y="977772"/>
                <a:ext cx="3967681" cy="1984974"/>
              </a:xfrm>
              <a:prstGeom prst="round1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Hộp Văn bản 13">
                <a:extLst>
                  <a:ext uri="{FF2B5EF4-FFF2-40B4-BE49-F238E27FC236}">
                    <a16:creationId xmlns:a16="http://schemas.microsoft.com/office/drawing/2014/main" id="{D265D999-B456-24CA-8290-36CE58203DB7}"/>
                  </a:ext>
                </a:extLst>
              </p:cNvPr>
              <p:cNvSpPr txBox="1"/>
              <p:nvPr/>
            </p:nvSpPr>
            <p:spPr>
              <a:xfrm>
                <a:off x="2075200" y="1107566"/>
                <a:ext cx="2720062" cy="731691"/>
              </a:xfrm>
              <a:prstGeom prst="rect">
                <a:avLst/>
              </a:prstGeom>
              <a:grpFill/>
            </p:spPr>
            <p:txBody>
              <a:bodyPr wrap="square" rtlCol="0">
                <a:spAutoFit/>
              </a:bodyPr>
              <a:lstStyle/>
              <a:p>
                <a:r>
                  <a:rPr lang="vi-VN" sz="1600" dirty="0">
                    <a:solidFill>
                      <a:srgbClr val="C00000"/>
                    </a:solidFill>
                    <a:latin typeface="iCiel Cadena" panose="02000503000000020004" pitchFamily="2" charset="0"/>
                  </a:rPr>
                  <a:t>ĐẠI DỊCH COVID XUẤT HIỆN </a:t>
                </a:r>
              </a:p>
              <a:p>
                <a:r>
                  <a:rPr lang="vi-VN" sz="1600" dirty="0">
                    <a:solidFill>
                      <a:srgbClr val="C00000"/>
                    </a:solidFill>
                    <a:latin typeface="iCiel Cadena" panose="02000503000000020004" pitchFamily="2" charset="0"/>
                  </a:rPr>
                  <a:t>VÀ PHÁT TÁN MẠNH MẼ TRÊN CỘNG ĐỒNG</a:t>
                </a:r>
              </a:p>
            </p:txBody>
          </p:sp>
          <p:pic>
            <p:nvPicPr>
              <p:cNvPr id="16" name="Hình ảnh 15">
                <a:extLst>
                  <a:ext uri="{FF2B5EF4-FFF2-40B4-BE49-F238E27FC236}">
                    <a16:creationId xmlns:a16="http://schemas.microsoft.com/office/drawing/2014/main" id="{38BA1964-3D30-8EF7-61D5-3A485C3925D7}"/>
                  </a:ext>
                </a:extLst>
              </p:cNvPr>
              <p:cNvPicPr>
                <a:picLocks noChangeAspect="1"/>
              </p:cNvPicPr>
              <p:nvPr/>
            </p:nvPicPr>
            <p:blipFill>
              <a:blip r:embed="rId2"/>
              <a:stretch>
                <a:fillRect/>
              </a:stretch>
            </p:blipFill>
            <p:spPr>
              <a:xfrm>
                <a:off x="1281382" y="1121747"/>
                <a:ext cx="670833" cy="670833"/>
              </a:xfrm>
              <a:prstGeom prst="rect">
                <a:avLst/>
              </a:prstGeom>
              <a:grpFill/>
            </p:spPr>
          </p:pic>
          <p:pic>
            <p:nvPicPr>
              <p:cNvPr id="18" name="Hình ảnh 17">
                <a:extLst>
                  <a:ext uri="{FF2B5EF4-FFF2-40B4-BE49-F238E27FC236}">
                    <a16:creationId xmlns:a16="http://schemas.microsoft.com/office/drawing/2014/main" id="{8AE3C47D-AE2A-B143-BF0D-5827BEBBD1E1}"/>
                  </a:ext>
                </a:extLst>
              </p:cNvPr>
              <p:cNvPicPr>
                <a:picLocks noChangeAspect="1"/>
              </p:cNvPicPr>
              <p:nvPr/>
            </p:nvPicPr>
            <p:blipFill>
              <a:blip r:embed="rId3"/>
              <a:stretch>
                <a:fillRect/>
              </a:stretch>
            </p:blipFill>
            <p:spPr>
              <a:xfrm>
                <a:off x="1197608" y="2023441"/>
                <a:ext cx="838379" cy="838379"/>
              </a:xfrm>
              <a:prstGeom prst="rect">
                <a:avLst/>
              </a:prstGeom>
              <a:grpFill/>
            </p:spPr>
          </p:pic>
          <p:sp>
            <p:nvSpPr>
              <p:cNvPr id="21" name="Hộp Văn bản 20">
                <a:extLst>
                  <a:ext uri="{FF2B5EF4-FFF2-40B4-BE49-F238E27FC236}">
                    <a16:creationId xmlns:a16="http://schemas.microsoft.com/office/drawing/2014/main" id="{13EA2B2C-F126-56BC-3D9C-C2466C9B173D}"/>
                  </a:ext>
                </a:extLst>
              </p:cNvPr>
              <p:cNvSpPr txBox="1"/>
              <p:nvPr/>
            </p:nvSpPr>
            <p:spPr>
              <a:xfrm>
                <a:off x="2038914" y="2051005"/>
                <a:ext cx="2831593" cy="830997"/>
              </a:xfrm>
              <a:prstGeom prst="rect">
                <a:avLst/>
              </a:prstGeom>
              <a:grpFill/>
            </p:spPr>
            <p:txBody>
              <a:bodyPr wrap="square" rtlCol="0">
                <a:spAutoFit/>
              </a:bodyPr>
              <a:lstStyle/>
              <a:p>
                <a:r>
                  <a:rPr lang="vi-VN" sz="1600" dirty="0">
                    <a:solidFill>
                      <a:srgbClr val="C00000"/>
                    </a:solidFill>
                    <a:latin typeface="iCiel Cadena" panose="02000503000000020004" pitchFamily="2" charset="0"/>
                  </a:rPr>
                  <a:t>NHÀ NƯỚC RA CHỈ THỊ GIỮ KHOẢNG CÁCH VÀ HẠN CHẾ RA NGOÀI </a:t>
                </a:r>
              </a:p>
            </p:txBody>
          </p:sp>
        </p:grpSp>
        <p:cxnSp>
          <p:nvCxnSpPr>
            <p:cNvPr id="23" name="Đường nối Thẳng 22">
              <a:extLst>
                <a:ext uri="{FF2B5EF4-FFF2-40B4-BE49-F238E27FC236}">
                  <a16:creationId xmlns:a16="http://schemas.microsoft.com/office/drawing/2014/main" id="{8D4BAD19-B711-9B70-D25E-11901CC3BB88}"/>
                </a:ext>
              </a:extLst>
            </p:cNvPr>
            <p:cNvCxnSpPr>
              <a:stCxn id="13" idx="1"/>
              <a:endCxn id="13" idx="3"/>
            </p:cNvCxnSpPr>
            <p:nvPr/>
          </p:nvCxnSpPr>
          <p:spPr>
            <a:xfrm>
              <a:off x="1011726" y="2024518"/>
              <a:ext cx="3967681" cy="0"/>
            </a:xfrm>
            <a:prstGeom prst="line">
              <a:avLst/>
            </a:prstGeom>
            <a:grpFill/>
          </p:spPr>
          <p:style>
            <a:lnRef idx="1">
              <a:schemeClr val="accent1"/>
            </a:lnRef>
            <a:fillRef idx="0">
              <a:schemeClr val="accent1"/>
            </a:fillRef>
            <a:effectRef idx="0">
              <a:schemeClr val="accent1"/>
            </a:effectRef>
            <a:fontRef idx="minor">
              <a:schemeClr val="tx1"/>
            </a:fontRef>
          </p:style>
        </p:cxnSp>
      </p:grpSp>
      <p:grpSp>
        <p:nvGrpSpPr>
          <p:cNvPr id="74" name="Nhóm 73">
            <a:extLst>
              <a:ext uri="{FF2B5EF4-FFF2-40B4-BE49-F238E27FC236}">
                <a16:creationId xmlns:a16="http://schemas.microsoft.com/office/drawing/2014/main" id="{FB0D3EE3-C118-7E21-2175-C9F51E8769F2}"/>
              </a:ext>
            </a:extLst>
          </p:cNvPr>
          <p:cNvGrpSpPr/>
          <p:nvPr/>
        </p:nvGrpSpPr>
        <p:grpSpPr>
          <a:xfrm>
            <a:off x="6836510" y="4158955"/>
            <a:ext cx="4420353" cy="2254377"/>
            <a:chOff x="1141353" y="4000037"/>
            <a:chExt cx="4420353" cy="2254377"/>
          </a:xfrm>
        </p:grpSpPr>
        <p:grpSp>
          <p:nvGrpSpPr>
            <p:cNvPr id="40" name="Nhóm 39">
              <a:extLst>
                <a:ext uri="{FF2B5EF4-FFF2-40B4-BE49-F238E27FC236}">
                  <a16:creationId xmlns:a16="http://schemas.microsoft.com/office/drawing/2014/main" id="{3CE62CF6-BE92-0692-4CB9-CA94B5A75576}"/>
                </a:ext>
              </a:extLst>
            </p:cNvPr>
            <p:cNvGrpSpPr/>
            <p:nvPr/>
          </p:nvGrpSpPr>
          <p:grpSpPr>
            <a:xfrm>
              <a:off x="1141353" y="4000037"/>
              <a:ext cx="4420353" cy="2254377"/>
              <a:chOff x="1011726" y="1032031"/>
              <a:chExt cx="3967681" cy="1984974"/>
            </a:xfrm>
          </p:grpSpPr>
          <p:grpSp>
            <p:nvGrpSpPr>
              <p:cNvPr id="41" name="Nhóm 40">
                <a:extLst>
                  <a:ext uri="{FF2B5EF4-FFF2-40B4-BE49-F238E27FC236}">
                    <a16:creationId xmlns:a16="http://schemas.microsoft.com/office/drawing/2014/main" id="{9CD0ACF3-B505-C9BE-DC35-5BD48F618B25}"/>
                  </a:ext>
                </a:extLst>
              </p:cNvPr>
              <p:cNvGrpSpPr/>
              <p:nvPr/>
            </p:nvGrpSpPr>
            <p:grpSpPr>
              <a:xfrm>
                <a:off x="1011726" y="1032031"/>
                <a:ext cx="3967681" cy="1984974"/>
                <a:chOff x="984565" y="977772"/>
                <a:chExt cx="3967681" cy="1984974"/>
              </a:xfrm>
            </p:grpSpPr>
            <p:sp>
              <p:nvSpPr>
                <p:cNvPr id="43" name="Hình chữ nhật: Một Góc Tròn 42">
                  <a:extLst>
                    <a:ext uri="{FF2B5EF4-FFF2-40B4-BE49-F238E27FC236}">
                      <a16:creationId xmlns:a16="http://schemas.microsoft.com/office/drawing/2014/main" id="{F44EFE19-C935-5E48-9A1A-765CA0122476}"/>
                    </a:ext>
                  </a:extLst>
                </p:cNvPr>
                <p:cNvSpPr/>
                <p:nvPr/>
              </p:nvSpPr>
              <p:spPr>
                <a:xfrm>
                  <a:off x="984565" y="977772"/>
                  <a:ext cx="3967681" cy="1984974"/>
                </a:xfrm>
                <a:prstGeom prst="round1Rect">
                  <a:avLst/>
                </a:prstGeom>
                <a:solidFill>
                  <a:srgbClr val="66FF99"/>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Hộp Văn bản 43">
                  <a:extLst>
                    <a:ext uri="{FF2B5EF4-FFF2-40B4-BE49-F238E27FC236}">
                      <a16:creationId xmlns:a16="http://schemas.microsoft.com/office/drawing/2014/main" id="{BC2F4F65-6DD5-382B-9842-726C564A870B}"/>
                    </a:ext>
                  </a:extLst>
                </p:cNvPr>
                <p:cNvSpPr txBox="1"/>
                <p:nvPr/>
              </p:nvSpPr>
              <p:spPr>
                <a:xfrm>
                  <a:off x="2027875" y="1248587"/>
                  <a:ext cx="2831593" cy="514893"/>
                </a:xfrm>
                <a:prstGeom prst="rect">
                  <a:avLst/>
                </a:prstGeom>
                <a:noFill/>
              </p:spPr>
              <p:txBody>
                <a:bodyPr wrap="square" rtlCol="0">
                  <a:spAutoFit/>
                </a:bodyPr>
                <a:lstStyle/>
                <a:p>
                  <a:r>
                    <a:rPr lang="vi-VN" sz="1600" dirty="0">
                      <a:solidFill>
                        <a:srgbClr val="C00000"/>
                      </a:solidFill>
                      <a:latin typeface="iCiel Cadena" panose="02000503000000020004" pitchFamily="2" charset="0"/>
                    </a:rPr>
                    <a:t>MỘT ĐẤT NƯỚC PHÁT TRIỂN CÀNG MẠNH MẼ, </a:t>
                  </a:r>
                </a:p>
              </p:txBody>
            </p:sp>
            <p:sp>
              <p:nvSpPr>
                <p:cNvPr id="45" name="Hộp Văn bản 44">
                  <a:extLst>
                    <a:ext uri="{FF2B5EF4-FFF2-40B4-BE49-F238E27FC236}">
                      <a16:creationId xmlns:a16="http://schemas.microsoft.com/office/drawing/2014/main" id="{0053C2C1-25C9-A51F-CA8B-971FE7A6B993}"/>
                    </a:ext>
                  </a:extLst>
                </p:cNvPr>
                <p:cNvSpPr txBox="1"/>
                <p:nvPr/>
              </p:nvSpPr>
              <p:spPr>
                <a:xfrm>
                  <a:off x="2019614" y="2241073"/>
                  <a:ext cx="2831593" cy="514893"/>
                </a:xfrm>
                <a:prstGeom prst="rect">
                  <a:avLst/>
                </a:prstGeom>
                <a:noFill/>
              </p:spPr>
              <p:txBody>
                <a:bodyPr wrap="square" rtlCol="0">
                  <a:spAutoFit/>
                </a:bodyPr>
                <a:lstStyle/>
                <a:p>
                  <a:r>
                    <a:rPr lang="vi-VN" sz="1600" dirty="0">
                      <a:solidFill>
                        <a:srgbClr val="C00000"/>
                      </a:solidFill>
                      <a:latin typeface="iCiel Cadena" panose="02000503000000020004" pitchFamily="2" charset="0"/>
                    </a:rPr>
                    <a:t>NHU CẦU CỦA CON NGƯỜI CŨNG THEO ĐÓ MÀ TĂNG VỌT</a:t>
                  </a:r>
                </a:p>
              </p:txBody>
            </p:sp>
          </p:grpSp>
          <p:cxnSp>
            <p:nvCxnSpPr>
              <p:cNvPr id="42" name="Đường nối Thẳng 41">
                <a:extLst>
                  <a:ext uri="{FF2B5EF4-FFF2-40B4-BE49-F238E27FC236}">
                    <a16:creationId xmlns:a16="http://schemas.microsoft.com/office/drawing/2014/main" id="{50A5B138-40DD-2595-2ED7-44563F5DEBB5}"/>
                  </a:ext>
                </a:extLst>
              </p:cNvPr>
              <p:cNvCxnSpPr>
                <a:stCxn id="43" idx="1"/>
                <a:endCxn id="43" idx="3"/>
              </p:cNvCxnSpPr>
              <p:nvPr/>
            </p:nvCxnSpPr>
            <p:spPr>
              <a:xfrm>
                <a:off x="1011726" y="2024518"/>
                <a:ext cx="3967681"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60" name="Hình ảnh 59">
              <a:extLst>
                <a:ext uri="{FF2B5EF4-FFF2-40B4-BE49-F238E27FC236}">
                  <a16:creationId xmlns:a16="http://schemas.microsoft.com/office/drawing/2014/main" id="{F576C59F-1884-E4D2-798F-5096361CE6B7}"/>
                </a:ext>
              </a:extLst>
            </p:cNvPr>
            <p:cNvPicPr>
              <a:picLocks noChangeAspect="1"/>
            </p:cNvPicPr>
            <p:nvPr/>
          </p:nvPicPr>
          <p:blipFill>
            <a:blip r:embed="rId4"/>
            <a:stretch>
              <a:fillRect/>
            </a:stretch>
          </p:blipFill>
          <p:spPr>
            <a:xfrm>
              <a:off x="1368994" y="4146411"/>
              <a:ext cx="832919" cy="832919"/>
            </a:xfrm>
            <a:prstGeom prst="rect">
              <a:avLst/>
            </a:prstGeom>
          </p:spPr>
        </p:pic>
        <p:pic>
          <p:nvPicPr>
            <p:cNvPr id="62" name="Hình ảnh 61">
              <a:extLst>
                <a:ext uri="{FF2B5EF4-FFF2-40B4-BE49-F238E27FC236}">
                  <a16:creationId xmlns:a16="http://schemas.microsoft.com/office/drawing/2014/main" id="{F350343B-81D6-30DA-AB48-1A3C6AFD997C}"/>
                </a:ext>
              </a:extLst>
            </p:cNvPr>
            <p:cNvPicPr>
              <a:picLocks noChangeAspect="1"/>
            </p:cNvPicPr>
            <p:nvPr/>
          </p:nvPicPr>
          <p:blipFill>
            <a:blip r:embed="rId5"/>
            <a:stretch>
              <a:fillRect/>
            </a:stretch>
          </p:blipFill>
          <p:spPr>
            <a:xfrm>
              <a:off x="1412023" y="5306381"/>
              <a:ext cx="796705" cy="796705"/>
            </a:xfrm>
            <a:prstGeom prst="rect">
              <a:avLst/>
            </a:prstGeom>
          </p:spPr>
        </p:pic>
      </p:grpSp>
      <p:grpSp>
        <p:nvGrpSpPr>
          <p:cNvPr id="75" name="Nhóm 74">
            <a:extLst>
              <a:ext uri="{FF2B5EF4-FFF2-40B4-BE49-F238E27FC236}">
                <a16:creationId xmlns:a16="http://schemas.microsoft.com/office/drawing/2014/main" id="{B640F25F-3214-DD66-7213-AC469744A12E}"/>
              </a:ext>
            </a:extLst>
          </p:cNvPr>
          <p:cNvGrpSpPr/>
          <p:nvPr/>
        </p:nvGrpSpPr>
        <p:grpSpPr>
          <a:xfrm>
            <a:off x="1167219" y="4122722"/>
            <a:ext cx="4420353" cy="2254377"/>
            <a:chOff x="6937972" y="4114997"/>
            <a:chExt cx="4420353" cy="2254377"/>
          </a:xfrm>
          <a:solidFill>
            <a:srgbClr val="CDFCF6"/>
          </a:solidFill>
          <a:effectLst>
            <a:outerShdw blurRad="63500" sx="102000" sy="102000" algn="ctr" rotWithShape="0">
              <a:prstClr val="black">
                <a:alpha val="40000"/>
              </a:prstClr>
            </a:outerShdw>
          </a:effectLst>
        </p:grpSpPr>
        <p:grpSp>
          <p:nvGrpSpPr>
            <p:cNvPr id="47" name="Nhóm 46">
              <a:extLst>
                <a:ext uri="{FF2B5EF4-FFF2-40B4-BE49-F238E27FC236}">
                  <a16:creationId xmlns:a16="http://schemas.microsoft.com/office/drawing/2014/main" id="{F3C96624-4626-0928-3B89-30FA47A5ECBC}"/>
                </a:ext>
              </a:extLst>
            </p:cNvPr>
            <p:cNvGrpSpPr/>
            <p:nvPr/>
          </p:nvGrpSpPr>
          <p:grpSpPr>
            <a:xfrm>
              <a:off x="6937972" y="4114997"/>
              <a:ext cx="4420353" cy="2254377"/>
              <a:chOff x="1011726" y="1032031"/>
              <a:chExt cx="3967681" cy="1984974"/>
            </a:xfrm>
            <a:grpFill/>
          </p:grpSpPr>
          <p:grpSp>
            <p:nvGrpSpPr>
              <p:cNvPr id="48" name="Nhóm 47">
                <a:extLst>
                  <a:ext uri="{FF2B5EF4-FFF2-40B4-BE49-F238E27FC236}">
                    <a16:creationId xmlns:a16="http://schemas.microsoft.com/office/drawing/2014/main" id="{753244BB-D67B-127F-3B31-B06415F47588}"/>
                  </a:ext>
                </a:extLst>
              </p:cNvPr>
              <p:cNvGrpSpPr/>
              <p:nvPr/>
            </p:nvGrpSpPr>
            <p:grpSpPr>
              <a:xfrm>
                <a:off x="1011726" y="1032031"/>
                <a:ext cx="3967681" cy="1984974"/>
                <a:chOff x="984565" y="977772"/>
                <a:chExt cx="3967681" cy="1984974"/>
              </a:xfrm>
              <a:grpFill/>
            </p:grpSpPr>
            <p:sp>
              <p:nvSpPr>
                <p:cNvPr id="50" name="Hình chữ nhật: Một Góc Tròn 49">
                  <a:extLst>
                    <a:ext uri="{FF2B5EF4-FFF2-40B4-BE49-F238E27FC236}">
                      <a16:creationId xmlns:a16="http://schemas.microsoft.com/office/drawing/2014/main" id="{DC0ED01A-A92E-C9B0-293B-F7707D6A8DD3}"/>
                    </a:ext>
                  </a:extLst>
                </p:cNvPr>
                <p:cNvSpPr/>
                <p:nvPr/>
              </p:nvSpPr>
              <p:spPr>
                <a:xfrm>
                  <a:off x="984565" y="977772"/>
                  <a:ext cx="3967681" cy="1984974"/>
                </a:xfrm>
                <a:prstGeom prst="round1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Hộp Văn bản 50">
                  <a:extLst>
                    <a:ext uri="{FF2B5EF4-FFF2-40B4-BE49-F238E27FC236}">
                      <a16:creationId xmlns:a16="http://schemas.microsoft.com/office/drawing/2014/main" id="{5EA8C002-8EF8-B8D3-2FDA-DD71546E93B0}"/>
                    </a:ext>
                  </a:extLst>
                </p:cNvPr>
                <p:cNvSpPr txBox="1"/>
                <p:nvPr/>
              </p:nvSpPr>
              <p:spPr>
                <a:xfrm>
                  <a:off x="2027876" y="1121747"/>
                  <a:ext cx="2831593" cy="731691"/>
                </a:xfrm>
                <a:prstGeom prst="rect">
                  <a:avLst/>
                </a:prstGeom>
                <a:grpFill/>
              </p:spPr>
              <p:txBody>
                <a:bodyPr wrap="square" rtlCol="0">
                  <a:spAutoFit/>
                </a:bodyPr>
                <a:lstStyle/>
                <a:p>
                  <a:r>
                    <a:rPr lang="vi-VN" sz="1600" dirty="0">
                      <a:solidFill>
                        <a:srgbClr val="C00000"/>
                      </a:solidFill>
                      <a:latin typeface="iCiel Cadena" panose="02000503000000020004" pitchFamily="2" charset="0"/>
                    </a:rPr>
                    <a:t>TRAO ĐỔI MUA BÁN, QUẢN LÝ HÀNG HÓA TỪ THỦ CÔNG DẦN CHUYỂN SANG MÁY MÓC</a:t>
                  </a:r>
                </a:p>
              </p:txBody>
            </p:sp>
            <p:sp>
              <p:nvSpPr>
                <p:cNvPr id="52" name="Hộp Văn bản 51">
                  <a:extLst>
                    <a:ext uri="{FF2B5EF4-FFF2-40B4-BE49-F238E27FC236}">
                      <a16:creationId xmlns:a16="http://schemas.microsoft.com/office/drawing/2014/main" id="{0DA99F54-7681-FECA-8B65-D49FB653FA84}"/>
                    </a:ext>
                  </a:extLst>
                </p:cNvPr>
                <p:cNvSpPr txBox="1"/>
                <p:nvPr/>
              </p:nvSpPr>
              <p:spPr>
                <a:xfrm>
                  <a:off x="2027875" y="2106107"/>
                  <a:ext cx="2831593" cy="731691"/>
                </a:xfrm>
                <a:prstGeom prst="rect">
                  <a:avLst/>
                </a:prstGeom>
                <a:grpFill/>
              </p:spPr>
              <p:txBody>
                <a:bodyPr wrap="square" rtlCol="0">
                  <a:spAutoFit/>
                </a:bodyPr>
                <a:lstStyle/>
                <a:p>
                  <a:r>
                    <a:rPr lang="vi-VN" sz="1600" dirty="0">
                      <a:solidFill>
                        <a:srgbClr val="C00000"/>
                      </a:solidFill>
                      <a:latin typeface="iCiel Cadena" panose="02000503000000020004" pitchFamily="2" charset="0"/>
                    </a:rPr>
                    <a:t>ĐÓ CŨNG CHÍNH LÀ MỤC ĐÍCH CHỌN ĐỀ TÀI XÂY DỰNG WEBSITE CỦA EM</a:t>
                  </a:r>
                </a:p>
              </p:txBody>
            </p:sp>
          </p:grpSp>
          <p:cxnSp>
            <p:nvCxnSpPr>
              <p:cNvPr id="49" name="Đường nối Thẳng 48">
                <a:extLst>
                  <a:ext uri="{FF2B5EF4-FFF2-40B4-BE49-F238E27FC236}">
                    <a16:creationId xmlns:a16="http://schemas.microsoft.com/office/drawing/2014/main" id="{C5346BAB-7674-A6E9-B2E6-1DF41C5E26CA}"/>
                  </a:ext>
                </a:extLst>
              </p:cNvPr>
              <p:cNvCxnSpPr>
                <a:stCxn id="50" idx="1"/>
                <a:endCxn id="50" idx="3"/>
              </p:cNvCxnSpPr>
              <p:nvPr/>
            </p:nvCxnSpPr>
            <p:spPr>
              <a:xfrm>
                <a:off x="1011726" y="2024518"/>
                <a:ext cx="3967681" cy="0"/>
              </a:xfrm>
              <a:prstGeom prst="line">
                <a:avLst/>
              </a:prstGeom>
              <a:grpFill/>
            </p:spPr>
            <p:style>
              <a:lnRef idx="1">
                <a:schemeClr val="accent1"/>
              </a:lnRef>
              <a:fillRef idx="0">
                <a:schemeClr val="accent1"/>
              </a:fillRef>
              <a:effectRef idx="0">
                <a:schemeClr val="accent1"/>
              </a:effectRef>
              <a:fontRef idx="minor">
                <a:schemeClr val="tx1"/>
              </a:fontRef>
            </p:style>
          </p:cxnSp>
        </p:grpSp>
        <p:pic>
          <p:nvPicPr>
            <p:cNvPr id="64" name="Hình ảnh 63">
              <a:extLst>
                <a:ext uri="{FF2B5EF4-FFF2-40B4-BE49-F238E27FC236}">
                  <a16:creationId xmlns:a16="http://schemas.microsoft.com/office/drawing/2014/main" id="{C6B15060-3FEE-C08A-17C7-BB7A0D281B73}"/>
                </a:ext>
              </a:extLst>
            </p:cNvPr>
            <p:cNvPicPr>
              <a:picLocks noChangeAspect="1"/>
            </p:cNvPicPr>
            <p:nvPr/>
          </p:nvPicPr>
          <p:blipFill>
            <a:blip r:embed="rId6"/>
            <a:stretch>
              <a:fillRect/>
            </a:stretch>
          </p:blipFill>
          <p:spPr>
            <a:xfrm>
              <a:off x="7084578" y="4217432"/>
              <a:ext cx="869133" cy="869133"/>
            </a:xfrm>
            <a:prstGeom prst="rect">
              <a:avLst/>
            </a:prstGeom>
            <a:grpFill/>
          </p:spPr>
        </p:pic>
        <p:pic>
          <p:nvPicPr>
            <p:cNvPr id="66" name="Hình ảnh 65">
              <a:extLst>
                <a:ext uri="{FF2B5EF4-FFF2-40B4-BE49-F238E27FC236}">
                  <a16:creationId xmlns:a16="http://schemas.microsoft.com/office/drawing/2014/main" id="{CE04626D-77C1-4435-8827-96DF29FD289A}"/>
                </a:ext>
              </a:extLst>
            </p:cNvPr>
            <p:cNvPicPr>
              <a:picLocks noChangeAspect="1"/>
            </p:cNvPicPr>
            <p:nvPr/>
          </p:nvPicPr>
          <p:blipFill>
            <a:blip r:embed="rId7"/>
            <a:stretch>
              <a:fillRect/>
            </a:stretch>
          </p:blipFill>
          <p:spPr>
            <a:xfrm>
              <a:off x="7102684" y="5312070"/>
              <a:ext cx="832919" cy="832919"/>
            </a:xfrm>
            <a:prstGeom prst="rect">
              <a:avLst/>
            </a:prstGeom>
            <a:grpFill/>
          </p:spPr>
        </p:pic>
      </p:grpSp>
      <p:grpSp>
        <p:nvGrpSpPr>
          <p:cNvPr id="2" name="Nhóm 1">
            <a:extLst>
              <a:ext uri="{FF2B5EF4-FFF2-40B4-BE49-F238E27FC236}">
                <a16:creationId xmlns:a16="http://schemas.microsoft.com/office/drawing/2014/main" id="{B489C865-617C-2984-E7C7-37E39BA0CBFA}"/>
              </a:ext>
            </a:extLst>
          </p:cNvPr>
          <p:cNvGrpSpPr/>
          <p:nvPr/>
        </p:nvGrpSpPr>
        <p:grpSpPr>
          <a:xfrm>
            <a:off x="5758914" y="991232"/>
            <a:ext cx="5497950" cy="2254377"/>
            <a:chOff x="5758914" y="991232"/>
            <a:chExt cx="5497950" cy="2254377"/>
          </a:xfrm>
        </p:grpSpPr>
        <p:grpSp>
          <p:nvGrpSpPr>
            <p:cNvPr id="72" name="Nhóm 71">
              <a:extLst>
                <a:ext uri="{FF2B5EF4-FFF2-40B4-BE49-F238E27FC236}">
                  <a16:creationId xmlns:a16="http://schemas.microsoft.com/office/drawing/2014/main" id="{F95E2FA3-5144-FE48-083D-6741D1B9C741}"/>
                </a:ext>
              </a:extLst>
            </p:cNvPr>
            <p:cNvGrpSpPr/>
            <p:nvPr/>
          </p:nvGrpSpPr>
          <p:grpSpPr>
            <a:xfrm>
              <a:off x="6836511" y="991232"/>
              <a:ext cx="4420353" cy="2254377"/>
              <a:chOff x="6937974" y="977772"/>
              <a:chExt cx="4420353" cy="2254377"/>
            </a:xfrm>
            <a:effectLst>
              <a:outerShdw blurRad="63500" sx="102000" sy="102000" algn="ctr" rotWithShape="0">
                <a:prstClr val="black">
                  <a:alpha val="40000"/>
                </a:prstClr>
              </a:outerShdw>
            </a:effectLst>
          </p:grpSpPr>
          <p:grpSp>
            <p:nvGrpSpPr>
              <p:cNvPr id="26" name="Nhóm 25">
                <a:extLst>
                  <a:ext uri="{FF2B5EF4-FFF2-40B4-BE49-F238E27FC236}">
                    <a16:creationId xmlns:a16="http://schemas.microsoft.com/office/drawing/2014/main" id="{0D3FFC34-1916-381A-A829-6247E71B78E6}"/>
                  </a:ext>
                </a:extLst>
              </p:cNvPr>
              <p:cNvGrpSpPr/>
              <p:nvPr/>
            </p:nvGrpSpPr>
            <p:grpSpPr>
              <a:xfrm>
                <a:off x="6937974" y="977772"/>
                <a:ext cx="4420353" cy="2254377"/>
                <a:chOff x="1011726" y="1032031"/>
                <a:chExt cx="3967681" cy="1984974"/>
              </a:xfrm>
            </p:grpSpPr>
            <p:grpSp>
              <p:nvGrpSpPr>
                <p:cNvPr id="27" name="Nhóm 26">
                  <a:extLst>
                    <a:ext uri="{FF2B5EF4-FFF2-40B4-BE49-F238E27FC236}">
                      <a16:creationId xmlns:a16="http://schemas.microsoft.com/office/drawing/2014/main" id="{27182D46-E502-C9CA-2C28-5EC1259F72F0}"/>
                    </a:ext>
                  </a:extLst>
                </p:cNvPr>
                <p:cNvGrpSpPr/>
                <p:nvPr/>
              </p:nvGrpSpPr>
              <p:grpSpPr>
                <a:xfrm>
                  <a:off x="1011726" y="1032031"/>
                  <a:ext cx="3967681" cy="1984974"/>
                  <a:chOff x="984565" y="977772"/>
                  <a:chExt cx="3967681" cy="1984974"/>
                </a:xfrm>
              </p:grpSpPr>
              <p:sp>
                <p:nvSpPr>
                  <p:cNvPr id="29" name="Hình chữ nhật: Một Góc Tròn 28">
                    <a:extLst>
                      <a:ext uri="{FF2B5EF4-FFF2-40B4-BE49-F238E27FC236}">
                        <a16:creationId xmlns:a16="http://schemas.microsoft.com/office/drawing/2014/main" id="{72996D0F-38B2-9435-B7C8-9EA54A83615B}"/>
                      </a:ext>
                    </a:extLst>
                  </p:cNvPr>
                  <p:cNvSpPr/>
                  <p:nvPr/>
                </p:nvSpPr>
                <p:spPr>
                  <a:xfrm>
                    <a:off x="984565" y="977772"/>
                    <a:ext cx="3967681" cy="1984974"/>
                  </a:xfrm>
                  <a:prstGeom prst="round1Rect">
                    <a:avLst/>
                  </a:prstGeom>
                  <a:solidFill>
                    <a:srgbClr val="FED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Hộp Văn bản 29">
                    <a:extLst>
                      <a:ext uri="{FF2B5EF4-FFF2-40B4-BE49-F238E27FC236}">
                        <a16:creationId xmlns:a16="http://schemas.microsoft.com/office/drawing/2014/main" id="{9ACD9672-17BC-3A88-805E-CC2339C91212}"/>
                      </a:ext>
                    </a:extLst>
                  </p:cNvPr>
                  <p:cNvSpPr txBox="1"/>
                  <p:nvPr/>
                </p:nvSpPr>
                <p:spPr>
                  <a:xfrm>
                    <a:off x="2027876" y="1121747"/>
                    <a:ext cx="2831593" cy="731691"/>
                  </a:xfrm>
                  <a:prstGeom prst="rect">
                    <a:avLst/>
                  </a:prstGeom>
                  <a:noFill/>
                </p:spPr>
                <p:txBody>
                  <a:bodyPr wrap="square" rtlCol="0">
                    <a:spAutoFit/>
                  </a:bodyPr>
                  <a:lstStyle/>
                  <a:p>
                    <a:r>
                      <a:rPr lang="vi-VN" sz="1600" dirty="0">
                        <a:solidFill>
                          <a:srgbClr val="C00000"/>
                        </a:solidFill>
                        <a:latin typeface="iCiel Cadena" panose="02000503000000020004" pitchFamily="2" charset="0"/>
                      </a:rPr>
                      <a:t>VIỆC MUA SẮM CÁC NHU YẾU PHẨM VÀ CÁC ĐỒ DÙNG TRỞ NÊN KHÓ KHĂN CHO CON NGƯỜI</a:t>
                    </a:r>
                  </a:p>
                </p:txBody>
              </p:sp>
              <p:sp>
                <p:nvSpPr>
                  <p:cNvPr id="33" name="Hộp Văn bản 32">
                    <a:extLst>
                      <a:ext uri="{FF2B5EF4-FFF2-40B4-BE49-F238E27FC236}">
                        <a16:creationId xmlns:a16="http://schemas.microsoft.com/office/drawing/2014/main" id="{89E325C7-9808-CE25-2B2F-C759AE027F36}"/>
                      </a:ext>
                    </a:extLst>
                  </p:cNvPr>
                  <p:cNvSpPr txBox="1"/>
                  <p:nvPr/>
                </p:nvSpPr>
                <p:spPr>
                  <a:xfrm>
                    <a:off x="2027875" y="2106107"/>
                    <a:ext cx="2831593" cy="731691"/>
                  </a:xfrm>
                  <a:prstGeom prst="rect">
                    <a:avLst/>
                  </a:prstGeom>
                  <a:noFill/>
                </p:spPr>
                <p:txBody>
                  <a:bodyPr wrap="square" rtlCol="0">
                    <a:spAutoFit/>
                  </a:bodyPr>
                  <a:lstStyle/>
                  <a:p>
                    <a:r>
                      <a:rPr lang="vi-VN" sz="1600" dirty="0">
                        <a:solidFill>
                          <a:srgbClr val="C00000"/>
                        </a:solidFill>
                        <a:latin typeface="iCiel Cadena" panose="02000503000000020004" pitchFamily="2" charset="0"/>
                      </a:rPr>
                      <a:t>MUA SẮM TRỰC TUYẾN PHÁT TRIỂN VƯỢT BẬC CHO TỚI BÂY GIỜ</a:t>
                    </a:r>
                  </a:p>
                </p:txBody>
              </p:sp>
            </p:grpSp>
            <p:cxnSp>
              <p:nvCxnSpPr>
                <p:cNvPr id="28" name="Đường nối Thẳng 27">
                  <a:extLst>
                    <a:ext uri="{FF2B5EF4-FFF2-40B4-BE49-F238E27FC236}">
                      <a16:creationId xmlns:a16="http://schemas.microsoft.com/office/drawing/2014/main" id="{DE851C1D-840F-A127-E20E-5F6860BF6646}"/>
                    </a:ext>
                  </a:extLst>
                </p:cNvPr>
                <p:cNvCxnSpPr>
                  <a:stCxn id="29" idx="1"/>
                  <a:endCxn id="29" idx="3"/>
                </p:cNvCxnSpPr>
                <p:nvPr/>
              </p:nvCxnSpPr>
              <p:spPr>
                <a:xfrm>
                  <a:off x="1011726" y="2024518"/>
                  <a:ext cx="3967681"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35" name="Hình ảnh 34">
                <a:extLst>
                  <a:ext uri="{FF2B5EF4-FFF2-40B4-BE49-F238E27FC236}">
                    <a16:creationId xmlns:a16="http://schemas.microsoft.com/office/drawing/2014/main" id="{9AEA268E-EBB4-7C50-7F63-C17F3407C9DC}"/>
                  </a:ext>
                </a:extLst>
              </p:cNvPr>
              <p:cNvPicPr>
                <a:picLocks noChangeAspect="1"/>
              </p:cNvPicPr>
              <p:nvPr/>
            </p:nvPicPr>
            <p:blipFill>
              <a:blip r:embed="rId8"/>
              <a:stretch>
                <a:fillRect/>
              </a:stretch>
            </p:blipFill>
            <p:spPr>
              <a:xfrm>
                <a:off x="7149139" y="1114178"/>
                <a:ext cx="843375" cy="843375"/>
              </a:xfrm>
              <a:prstGeom prst="rect">
                <a:avLst/>
              </a:prstGeom>
            </p:spPr>
          </p:pic>
          <p:pic>
            <p:nvPicPr>
              <p:cNvPr id="37" name="Hình ảnh 36">
                <a:extLst>
                  <a:ext uri="{FF2B5EF4-FFF2-40B4-BE49-F238E27FC236}">
                    <a16:creationId xmlns:a16="http://schemas.microsoft.com/office/drawing/2014/main" id="{7EA20DEE-5509-9BA1-DACF-DC494BC64AFF}"/>
                  </a:ext>
                </a:extLst>
              </p:cNvPr>
              <p:cNvPicPr>
                <a:picLocks noChangeAspect="1"/>
              </p:cNvPicPr>
              <p:nvPr/>
            </p:nvPicPr>
            <p:blipFill>
              <a:blip r:embed="rId9"/>
              <a:stretch>
                <a:fillRect/>
              </a:stretch>
            </p:blipFill>
            <p:spPr>
              <a:xfrm>
                <a:off x="7077411" y="2246868"/>
                <a:ext cx="843375" cy="843375"/>
              </a:xfrm>
              <a:prstGeom prst="rect">
                <a:avLst/>
              </a:prstGeom>
            </p:spPr>
          </p:pic>
        </p:grpSp>
        <p:sp>
          <p:nvSpPr>
            <p:cNvPr id="67" name="Mũi tên: Phải 66">
              <a:extLst>
                <a:ext uri="{FF2B5EF4-FFF2-40B4-BE49-F238E27FC236}">
                  <a16:creationId xmlns:a16="http://schemas.microsoft.com/office/drawing/2014/main" id="{70F34AC3-5E35-DEF9-6470-22F65A77A016}"/>
                </a:ext>
              </a:extLst>
            </p:cNvPr>
            <p:cNvSpPr/>
            <p:nvPr/>
          </p:nvSpPr>
          <p:spPr>
            <a:xfrm>
              <a:off x="5758914" y="1800741"/>
              <a:ext cx="925661" cy="458505"/>
            </a:xfrm>
            <a:prstGeom prst="rightArrow">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70" name="Mũi tên: Phải 69">
            <a:extLst>
              <a:ext uri="{FF2B5EF4-FFF2-40B4-BE49-F238E27FC236}">
                <a16:creationId xmlns:a16="http://schemas.microsoft.com/office/drawing/2014/main" id="{C42288EF-01D4-0EA0-C4BF-16F66870BC89}"/>
              </a:ext>
            </a:extLst>
          </p:cNvPr>
          <p:cNvSpPr/>
          <p:nvPr/>
        </p:nvSpPr>
        <p:spPr>
          <a:xfrm rot="10800000">
            <a:off x="5695600" y="5012933"/>
            <a:ext cx="925661" cy="458505"/>
          </a:xfrm>
          <a:prstGeom prst="rightArrow">
            <a:avLst/>
          </a:prstGeom>
          <a:solidFill>
            <a:srgbClr val="66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1" name="Mũi tên: Phải 70">
            <a:extLst>
              <a:ext uri="{FF2B5EF4-FFF2-40B4-BE49-F238E27FC236}">
                <a16:creationId xmlns:a16="http://schemas.microsoft.com/office/drawing/2014/main" id="{30BD79AC-0ECB-12F5-1DDE-7702AA9171A1}"/>
              </a:ext>
            </a:extLst>
          </p:cNvPr>
          <p:cNvSpPr/>
          <p:nvPr/>
        </p:nvSpPr>
        <p:spPr>
          <a:xfrm rot="5400000">
            <a:off x="8973341" y="3530712"/>
            <a:ext cx="692754" cy="34314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8" name="Hình ảnh 7">
            <a:extLst>
              <a:ext uri="{FF2B5EF4-FFF2-40B4-BE49-F238E27FC236}">
                <a16:creationId xmlns:a16="http://schemas.microsoft.com/office/drawing/2014/main" id="{43BA7945-DF39-F81A-6C5D-B7ADA91FE6A7}"/>
              </a:ext>
            </a:extLst>
          </p:cNvPr>
          <p:cNvPicPr>
            <a:picLocks noChangeAspect="1"/>
          </p:cNvPicPr>
          <p:nvPr/>
        </p:nvPicPr>
        <p:blipFill>
          <a:blip r:embed="rId10"/>
          <a:stretch>
            <a:fillRect/>
          </a:stretch>
        </p:blipFill>
        <p:spPr>
          <a:xfrm>
            <a:off x="11472112" y="6152714"/>
            <a:ext cx="636350" cy="601766"/>
          </a:xfrm>
          <a:prstGeom prst="rect">
            <a:avLst/>
          </a:prstGeom>
        </p:spPr>
      </p:pic>
    </p:spTree>
    <p:extLst>
      <p:ext uri="{BB962C8B-B14F-4D97-AF65-F5344CB8AC3E}">
        <p14:creationId xmlns:p14="http://schemas.microsoft.com/office/powerpoint/2010/main" val="3486740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fade">
                                      <p:cBhvr>
                                        <p:cTn id="17" dur="500"/>
                                        <p:tgtEl>
                                          <p:spTgt spid="71"/>
                                        </p:tgtEl>
                                      </p:cBhvr>
                                    </p:animEffect>
                                  </p:childTnLst>
                                </p:cTn>
                              </p:par>
                              <p:par>
                                <p:cTn id="18" presetID="10" presetClass="entr" presetSubtype="0" fill="hold" nodeType="with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0"/>
                                        </p:tgtEl>
                                        <p:attrNameLst>
                                          <p:attrName>style.visibility</p:attrName>
                                        </p:attrNameLst>
                                      </p:cBhvr>
                                      <p:to>
                                        <p:strVal val="visible"/>
                                      </p:to>
                                    </p:set>
                                    <p:animEffect transition="in" filter="fade">
                                      <p:cBhvr>
                                        <p:cTn id="28"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Nhóm 1">
            <a:extLst>
              <a:ext uri="{FF2B5EF4-FFF2-40B4-BE49-F238E27FC236}">
                <a16:creationId xmlns:a16="http://schemas.microsoft.com/office/drawing/2014/main" id="{48B1C455-54C8-B804-3ABE-AE808FBAFE53}"/>
              </a:ext>
            </a:extLst>
          </p:cNvPr>
          <p:cNvGrpSpPr/>
          <p:nvPr/>
        </p:nvGrpSpPr>
        <p:grpSpPr>
          <a:xfrm>
            <a:off x="0" y="0"/>
            <a:ext cx="12192000" cy="6858000"/>
            <a:chOff x="0" y="0"/>
            <a:chExt cx="12192000" cy="6858000"/>
          </a:xfrm>
        </p:grpSpPr>
        <p:sp>
          <p:nvSpPr>
            <p:cNvPr id="5" name="Hình chữ nhật 4">
              <a:extLst>
                <a:ext uri="{FF2B5EF4-FFF2-40B4-BE49-F238E27FC236}">
                  <a16:creationId xmlns:a16="http://schemas.microsoft.com/office/drawing/2014/main" id="{9F91967E-2F40-DE7E-9D2B-18B12D7AC081}"/>
                </a:ext>
              </a:extLst>
            </p:cNvPr>
            <p:cNvSpPr/>
            <p:nvPr/>
          </p:nvSpPr>
          <p:spPr>
            <a:xfrm>
              <a:off x="0"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7" name="Hình chữ nhật: Góc Tròn 6">
              <a:extLst>
                <a:ext uri="{FF2B5EF4-FFF2-40B4-BE49-F238E27FC236}">
                  <a16:creationId xmlns:a16="http://schemas.microsoft.com/office/drawing/2014/main" id="{AC4D19FE-1053-9534-6127-FD26718042CE}"/>
                </a:ext>
              </a:extLst>
            </p:cNvPr>
            <p:cNvSpPr/>
            <p:nvPr/>
          </p:nvSpPr>
          <p:spPr>
            <a:xfrm>
              <a:off x="461727" y="230863"/>
              <a:ext cx="4237022" cy="516048"/>
            </a:xfrm>
            <a:prstGeom prst="roundRect">
              <a:avLst/>
            </a:prstGeom>
            <a:solidFill>
              <a:srgbClr val="F6BA6F"/>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vi-VN" dirty="0">
                  <a:solidFill>
                    <a:srgbClr val="C00000"/>
                  </a:solidFill>
                  <a:latin typeface="iCiel Cadena" panose="02000503000000020004" pitchFamily="2" charset="0"/>
                </a:rPr>
                <a:t>TÌM HIỂU VỀ THƯƠNG MẠI ĐIỆN TỬ:</a:t>
              </a:r>
            </a:p>
          </p:txBody>
        </p:sp>
        <p:sp>
          <p:nvSpPr>
            <p:cNvPr id="6" name="Hình thoi 5">
              <a:extLst>
                <a:ext uri="{FF2B5EF4-FFF2-40B4-BE49-F238E27FC236}">
                  <a16:creationId xmlns:a16="http://schemas.microsoft.com/office/drawing/2014/main" id="{67CF6E37-E164-BE1C-4C2F-10439146A23F}"/>
                </a:ext>
              </a:extLst>
            </p:cNvPr>
            <p:cNvSpPr/>
            <p:nvPr/>
          </p:nvSpPr>
          <p:spPr>
            <a:xfrm>
              <a:off x="176544" y="108641"/>
              <a:ext cx="760491" cy="760491"/>
            </a:xfrm>
            <a:prstGeom prst="diamond">
              <a:avLst/>
            </a:prstGeom>
            <a:solidFill>
              <a:srgbClr val="1F4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2</a:t>
              </a:r>
            </a:p>
          </p:txBody>
        </p:sp>
      </p:grpSp>
      <p:grpSp>
        <p:nvGrpSpPr>
          <p:cNvPr id="3" name="Nhóm 2">
            <a:extLst>
              <a:ext uri="{FF2B5EF4-FFF2-40B4-BE49-F238E27FC236}">
                <a16:creationId xmlns:a16="http://schemas.microsoft.com/office/drawing/2014/main" id="{B2F8FC81-56DD-B8AE-D34D-FE5D3CCD2011}"/>
              </a:ext>
            </a:extLst>
          </p:cNvPr>
          <p:cNvGrpSpPr/>
          <p:nvPr/>
        </p:nvGrpSpPr>
        <p:grpSpPr>
          <a:xfrm>
            <a:off x="1352754" y="1548885"/>
            <a:ext cx="10037055" cy="2251992"/>
            <a:chOff x="1352754" y="1548885"/>
            <a:chExt cx="10037055" cy="2251992"/>
          </a:xfrm>
        </p:grpSpPr>
        <p:sp>
          <p:nvSpPr>
            <p:cNvPr id="77" name="Hình chữ nhật: Cắt Góc Chéo 76">
              <a:extLst>
                <a:ext uri="{FF2B5EF4-FFF2-40B4-BE49-F238E27FC236}">
                  <a16:creationId xmlns:a16="http://schemas.microsoft.com/office/drawing/2014/main" id="{F35BF51D-3001-8ABD-A81F-CEBD63B875F3}"/>
                </a:ext>
              </a:extLst>
            </p:cNvPr>
            <p:cNvSpPr/>
            <p:nvPr/>
          </p:nvSpPr>
          <p:spPr>
            <a:xfrm>
              <a:off x="1352754" y="1548885"/>
              <a:ext cx="10037055" cy="2251992"/>
            </a:xfrm>
            <a:prstGeom prst="snip2DiagRect">
              <a:avLst/>
            </a:prstGeom>
            <a:solidFill>
              <a:srgbClr val="CDFCF6"/>
            </a:solidFill>
            <a:ln w="9525">
              <a:solidFill>
                <a:srgbClr val="0070C0"/>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t>S</a:t>
              </a:r>
            </a:p>
          </p:txBody>
        </p:sp>
        <p:grpSp>
          <p:nvGrpSpPr>
            <p:cNvPr id="17" name="Nhóm 16">
              <a:extLst>
                <a:ext uri="{FF2B5EF4-FFF2-40B4-BE49-F238E27FC236}">
                  <a16:creationId xmlns:a16="http://schemas.microsoft.com/office/drawing/2014/main" id="{43EF2B16-617D-CE1C-2027-88F481CFE08C}"/>
                </a:ext>
              </a:extLst>
            </p:cNvPr>
            <p:cNvGrpSpPr/>
            <p:nvPr/>
          </p:nvGrpSpPr>
          <p:grpSpPr>
            <a:xfrm>
              <a:off x="10121284" y="2362051"/>
              <a:ext cx="883021" cy="888006"/>
              <a:chOff x="8410668" y="1439501"/>
              <a:chExt cx="2018923" cy="1892174"/>
            </a:xfrm>
            <a:solidFill>
              <a:srgbClr val="E6E6E6"/>
            </a:solidFill>
          </p:grpSpPr>
          <p:sp>
            <p:nvSpPr>
              <p:cNvPr id="10" name="Hình chữ nhật: Góc Tròn 9">
                <a:extLst>
                  <a:ext uri="{FF2B5EF4-FFF2-40B4-BE49-F238E27FC236}">
                    <a16:creationId xmlns:a16="http://schemas.microsoft.com/office/drawing/2014/main" id="{9605861D-E0C6-C400-4745-5CD4C87F8D8D}"/>
                  </a:ext>
                </a:extLst>
              </p:cNvPr>
              <p:cNvSpPr/>
              <p:nvPr/>
            </p:nvSpPr>
            <p:spPr>
              <a:xfrm>
                <a:off x="8410668" y="1439501"/>
                <a:ext cx="2018923" cy="189217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9" name="Hình ảnh 8">
                <a:extLst>
                  <a:ext uri="{FF2B5EF4-FFF2-40B4-BE49-F238E27FC236}">
                    <a16:creationId xmlns:a16="http://schemas.microsoft.com/office/drawing/2014/main" id="{7965BA3B-1CFB-BE8C-C661-B8DA5763BCEB}"/>
                  </a:ext>
                </a:extLst>
              </p:cNvPr>
              <p:cNvPicPr>
                <a:picLocks noChangeAspect="1"/>
              </p:cNvPicPr>
              <p:nvPr/>
            </p:nvPicPr>
            <p:blipFill>
              <a:blip r:embed="rId2"/>
              <a:stretch>
                <a:fillRect/>
              </a:stretch>
            </p:blipFill>
            <p:spPr>
              <a:xfrm>
                <a:off x="8609844" y="1593484"/>
                <a:ext cx="1620569" cy="1620569"/>
              </a:xfrm>
              <a:prstGeom prst="rect">
                <a:avLst/>
              </a:prstGeom>
              <a:grpFill/>
            </p:spPr>
          </p:pic>
        </p:grpSp>
        <p:pic>
          <p:nvPicPr>
            <p:cNvPr id="16" name="Hình ảnh 15">
              <a:extLst>
                <a:ext uri="{FF2B5EF4-FFF2-40B4-BE49-F238E27FC236}">
                  <a16:creationId xmlns:a16="http://schemas.microsoft.com/office/drawing/2014/main" id="{71E5A57A-D898-BE32-0099-A903BAAFB401}"/>
                </a:ext>
              </a:extLst>
            </p:cNvPr>
            <p:cNvPicPr>
              <a:picLocks noChangeAspect="1"/>
            </p:cNvPicPr>
            <p:nvPr/>
          </p:nvPicPr>
          <p:blipFill>
            <a:blip r:embed="rId3"/>
            <a:stretch>
              <a:fillRect/>
            </a:stretch>
          </p:blipFill>
          <p:spPr>
            <a:xfrm>
              <a:off x="1817454" y="1792840"/>
              <a:ext cx="932543" cy="932543"/>
            </a:xfrm>
            <a:prstGeom prst="rect">
              <a:avLst/>
            </a:prstGeom>
          </p:spPr>
        </p:pic>
        <p:cxnSp>
          <p:nvCxnSpPr>
            <p:cNvPr id="21" name="Đường kết nối Mũi tên Thẳng 20">
              <a:extLst>
                <a:ext uri="{FF2B5EF4-FFF2-40B4-BE49-F238E27FC236}">
                  <a16:creationId xmlns:a16="http://schemas.microsoft.com/office/drawing/2014/main" id="{A21CAB68-0B76-9305-247F-5297FEE7B3AA}"/>
                </a:ext>
              </a:extLst>
            </p:cNvPr>
            <p:cNvCxnSpPr>
              <a:cxnSpLocks/>
            </p:cNvCxnSpPr>
            <p:nvPr/>
          </p:nvCxnSpPr>
          <p:spPr>
            <a:xfrm>
              <a:off x="1652257" y="2838339"/>
              <a:ext cx="834729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4" name="Hình Bầu dục 23">
              <a:extLst>
                <a:ext uri="{FF2B5EF4-FFF2-40B4-BE49-F238E27FC236}">
                  <a16:creationId xmlns:a16="http://schemas.microsoft.com/office/drawing/2014/main" id="{D66A6632-0AEB-EAA1-3479-FEB0D993B7BB}"/>
                </a:ext>
              </a:extLst>
            </p:cNvPr>
            <p:cNvSpPr/>
            <p:nvPr/>
          </p:nvSpPr>
          <p:spPr>
            <a:xfrm>
              <a:off x="2186392" y="2725383"/>
              <a:ext cx="194669" cy="194669"/>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Hình Bầu dục 24">
              <a:extLst>
                <a:ext uri="{FF2B5EF4-FFF2-40B4-BE49-F238E27FC236}">
                  <a16:creationId xmlns:a16="http://schemas.microsoft.com/office/drawing/2014/main" id="{A30ACE00-2FE2-2F99-CB89-B00CABA67045}"/>
                </a:ext>
              </a:extLst>
            </p:cNvPr>
            <p:cNvSpPr/>
            <p:nvPr/>
          </p:nvSpPr>
          <p:spPr>
            <a:xfrm>
              <a:off x="4150234" y="2725383"/>
              <a:ext cx="194669" cy="19466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6" name="Hình Bầu dục 25">
              <a:extLst>
                <a:ext uri="{FF2B5EF4-FFF2-40B4-BE49-F238E27FC236}">
                  <a16:creationId xmlns:a16="http://schemas.microsoft.com/office/drawing/2014/main" id="{7FFCEEDE-6075-BC95-8277-C33A04C5CE4D}"/>
                </a:ext>
              </a:extLst>
            </p:cNvPr>
            <p:cNvSpPr/>
            <p:nvPr/>
          </p:nvSpPr>
          <p:spPr>
            <a:xfrm>
              <a:off x="6274814" y="2725383"/>
              <a:ext cx="194669" cy="19466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7" name="Hình Bầu dục 26">
              <a:extLst>
                <a:ext uri="{FF2B5EF4-FFF2-40B4-BE49-F238E27FC236}">
                  <a16:creationId xmlns:a16="http://schemas.microsoft.com/office/drawing/2014/main" id="{808E1215-23FA-3CE2-BF76-1D8CAAE4DBB1}"/>
                </a:ext>
              </a:extLst>
            </p:cNvPr>
            <p:cNvSpPr/>
            <p:nvPr/>
          </p:nvSpPr>
          <p:spPr>
            <a:xfrm>
              <a:off x="8423001" y="2733915"/>
              <a:ext cx="194669" cy="1946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29" name="Hình ảnh 28">
              <a:extLst>
                <a:ext uri="{FF2B5EF4-FFF2-40B4-BE49-F238E27FC236}">
                  <a16:creationId xmlns:a16="http://schemas.microsoft.com/office/drawing/2014/main" id="{1A07ECB2-A610-581E-D151-562808DFBC8C}"/>
                </a:ext>
              </a:extLst>
            </p:cNvPr>
            <p:cNvPicPr>
              <a:picLocks noChangeAspect="1"/>
            </p:cNvPicPr>
            <p:nvPr/>
          </p:nvPicPr>
          <p:blipFill>
            <a:blip r:embed="rId4"/>
            <a:stretch>
              <a:fillRect/>
            </a:stretch>
          </p:blipFill>
          <p:spPr>
            <a:xfrm>
              <a:off x="3901832" y="2069319"/>
              <a:ext cx="610573" cy="610573"/>
            </a:xfrm>
            <a:prstGeom prst="rect">
              <a:avLst/>
            </a:prstGeom>
          </p:spPr>
        </p:pic>
        <p:pic>
          <p:nvPicPr>
            <p:cNvPr id="31" name="Hình ảnh 30">
              <a:extLst>
                <a:ext uri="{FF2B5EF4-FFF2-40B4-BE49-F238E27FC236}">
                  <a16:creationId xmlns:a16="http://schemas.microsoft.com/office/drawing/2014/main" id="{6E4C8A28-B9DA-D9A9-AB2B-5B99A7A591BB}"/>
                </a:ext>
              </a:extLst>
            </p:cNvPr>
            <p:cNvPicPr>
              <a:picLocks noChangeAspect="1"/>
            </p:cNvPicPr>
            <p:nvPr/>
          </p:nvPicPr>
          <p:blipFill>
            <a:blip r:embed="rId5"/>
            <a:stretch>
              <a:fillRect/>
            </a:stretch>
          </p:blipFill>
          <p:spPr>
            <a:xfrm>
              <a:off x="6066862" y="2066142"/>
              <a:ext cx="610574" cy="610574"/>
            </a:xfrm>
            <a:prstGeom prst="rect">
              <a:avLst/>
            </a:prstGeom>
          </p:spPr>
        </p:pic>
        <p:pic>
          <p:nvPicPr>
            <p:cNvPr id="33" name="Hình ảnh 32">
              <a:extLst>
                <a:ext uri="{FF2B5EF4-FFF2-40B4-BE49-F238E27FC236}">
                  <a16:creationId xmlns:a16="http://schemas.microsoft.com/office/drawing/2014/main" id="{F83E9F9C-84CC-CFBC-D19A-BBD865473024}"/>
                </a:ext>
              </a:extLst>
            </p:cNvPr>
            <p:cNvPicPr>
              <a:picLocks noChangeAspect="1"/>
            </p:cNvPicPr>
            <p:nvPr/>
          </p:nvPicPr>
          <p:blipFill>
            <a:blip r:embed="rId6"/>
            <a:stretch>
              <a:fillRect/>
            </a:stretch>
          </p:blipFill>
          <p:spPr>
            <a:xfrm>
              <a:off x="8186114" y="2037873"/>
              <a:ext cx="712260" cy="712260"/>
            </a:xfrm>
            <a:prstGeom prst="rect">
              <a:avLst/>
            </a:prstGeom>
          </p:spPr>
        </p:pic>
        <p:sp>
          <p:nvSpPr>
            <p:cNvPr id="34" name="Hộp Văn bản 33">
              <a:extLst>
                <a:ext uri="{FF2B5EF4-FFF2-40B4-BE49-F238E27FC236}">
                  <a16:creationId xmlns:a16="http://schemas.microsoft.com/office/drawing/2014/main" id="{B6D0D106-88A4-54FA-90B9-35B6B4EE2F1C}"/>
                </a:ext>
              </a:extLst>
            </p:cNvPr>
            <p:cNvSpPr txBox="1"/>
            <p:nvPr/>
          </p:nvSpPr>
          <p:spPr>
            <a:xfrm>
              <a:off x="1652257" y="2959527"/>
              <a:ext cx="1262959" cy="369332"/>
            </a:xfrm>
            <a:prstGeom prst="rect">
              <a:avLst/>
            </a:prstGeom>
            <a:noFill/>
          </p:spPr>
          <p:txBody>
            <a:bodyPr wrap="square" rtlCol="0">
              <a:spAutoFit/>
            </a:bodyPr>
            <a:lstStyle/>
            <a:p>
              <a:pPr algn="ctr"/>
              <a:r>
                <a:rPr lang="vi-VN" dirty="0">
                  <a:solidFill>
                    <a:srgbClr val="C00000"/>
                  </a:solidFill>
                  <a:latin typeface="iCiel Cadena" panose="02000503000000020004" pitchFamily="2" charset="0"/>
                </a:rPr>
                <a:t>Giảng viên</a:t>
              </a:r>
            </a:p>
          </p:txBody>
        </p:sp>
        <p:sp>
          <p:nvSpPr>
            <p:cNvPr id="37" name="Hộp Văn bản 36">
              <a:extLst>
                <a:ext uri="{FF2B5EF4-FFF2-40B4-BE49-F238E27FC236}">
                  <a16:creationId xmlns:a16="http://schemas.microsoft.com/office/drawing/2014/main" id="{46FB6C11-B19F-3AD8-5DE6-5A562563B0C6}"/>
                </a:ext>
              </a:extLst>
            </p:cNvPr>
            <p:cNvSpPr txBox="1"/>
            <p:nvPr/>
          </p:nvSpPr>
          <p:spPr>
            <a:xfrm>
              <a:off x="3616088" y="2959527"/>
              <a:ext cx="1262959" cy="369332"/>
            </a:xfrm>
            <a:prstGeom prst="rect">
              <a:avLst/>
            </a:prstGeom>
            <a:noFill/>
          </p:spPr>
          <p:txBody>
            <a:bodyPr wrap="square" rtlCol="0">
              <a:spAutoFit/>
            </a:bodyPr>
            <a:lstStyle/>
            <a:p>
              <a:pPr algn="ctr"/>
              <a:r>
                <a:rPr lang="vi-VN" dirty="0">
                  <a:solidFill>
                    <a:srgbClr val="FFC000"/>
                  </a:solidFill>
                  <a:latin typeface="iCiel Cadena" panose="02000503000000020004" pitchFamily="2" charset="0"/>
                </a:rPr>
                <a:t>Trả phí</a:t>
              </a:r>
            </a:p>
          </p:txBody>
        </p:sp>
        <p:sp>
          <p:nvSpPr>
            <p:cNvPr id="38" name="Hộp Văn bản 37">
              <a:extLst>
                <a:ext uri="{FF2B5EF4-FFF2-40B4-BE49-F238E27FC236}">
                  <a16:creationId xmlns:a16="http://schemas.microsoft.com/office/drawing/2014/main" id="{9DB756DB-A860-51B3-BC3E-9AB586928A56}"/>
                </a:ext>
              </a:extLst>
            </p:cNvPr>
            <p:cNvSpPr txBox="1"/>
            <p:nvPr/>
          </p:nvSpPr>
          <p:spPr>
            <a:xfrm>
              <a:off x="5185866" y="2959527"/>
              <a:ext cx="2423538" cy="369332"/>
            </a:xfrm>
            <a:prstGeom prst="rect">
              <a:avLst/>
            </a:prstGeom>
            <a:noFill/>
          </p:spPr>
          <p:txBody>
            <a:bodyPr wrap="square" rtlCol="0">
              <a:spAutoFit/>
            </a:bodyPr>
            <a:lstStyle/>
            <a:p>
              <a:r>
                <a:rPr lang="vi-VN" dirty="0">
                  <a:solidFill>
                    <a:srgbClr val="00B050"/>
                  </a:solidFill>
                  <a:latin typeface="iCiel Cadena" panose="02000503000000020004" pitchFamily="2" charset="0"/>
                </a:rPr>
                <a:t>Các phần mềm hỗ trợ</a:t>
              </a:r>
            </a:p>
          </p:txBody>
        </p:sp>
        <p:sp>
          <p:nvSpPr>
            <p:cNvPr id="39" name="Hộp Văn bản 38">
              <a:extLst>
                <a:ext uri="{FF2B5EF4-FFF2-40B4-BE49-F238E27FC236}">
                  <a16:creationId xmlns:a16="http://schemas.microsoft.com/office/drawing/2014/main" id="{A69777B0-2FE1-A428-2038-16FEBA5BE66F}"/>
                </a:ext>
              </a:extLst>
            </p:cNvPr>
            <p:cNvSpPr txBox="1"/>
            <p:nvPr/>
          </p:nvSpPr>
          <p:spPr>
            <a:xfrm>
              <a:off x="7679519" y="2945735"/>
              <a:ext cx="1852674" cy="369332"/>
            </a:xfrm>
            <a:prstGeom prst="rect">
              <a:avLst/>
            </a:prstGeom>
            <a:noFill/>
          </p:spPr>
          <p:txBody>
            <a:bodyPr wrap="square" rtlCol="0">
              <a:spAutoFit/>
            </a:bodyPr>
            <a:lstStyle/>
            <a:p>
              <a:r>
                <a:rPr lang="vi-VN" dirty="0">
                  <a:solidFill>
                    <a:srgbClr val="0070C0"/>
                  </a:solidFill>
                  <a:latin typeface="iCiel Cadena" panose="02000503000000020004" pitchFamily="2" charset="0"/>
                </a:rPr>
                <a:t>Cấp quyền </a:t>
              </a:r>
              <a:r>
                <a:rPr lang="vi-VN" dirty="0" err="1">
                  <a:solidFill>
                    <a:srgbClr val="0070C0"/>
                  </a:solidFill>
                  <a:latin typeface="iCiel Cadena" panose="02000503000000020004" pitchFamily="2" charset="0"/>
                </a:rPr>
                <a:t>User</a:t>
              </a:r>
              <a:endParaRPr lang="vi-VN" dirty="0">
                <a:solidFill>
                  <a:srgbClr val="0070C0"/>
                </a:solidFill>
                <a:latin typeface="iCiel Cadena" panose="02000503000000020004" pitchFamily="2" charset="0"/>
              </a:endParaRPr>
            </a:p>
          </p:txBody>
        </p:sp>
      </p:grpSp>
      <p:sp>
        <p:nvSpPr>
          <p:cNvPr id="43" name="Mũi tên: Phải Có Khía 42">
            <a:extLst>
              <a:ext uri="{FF2B5EF4-FFF2-40B4-BE49-F238E27FC236}">
                <a16:creationId xmlns:a16="http://schemas.microsoft.com/office/drawing/2014/main" id="{29F3CC6C-03A2-5070-AD47-639EACDC4A74}"/>
              </a:ext>
            </a:extLst>
          </p:cNvPr>
          <p:cNvSpPr/>
          <p:nvPr/>
        </p:nvSpPr>
        <p:spPr>
          <a:xfrm>
            <a:off x="161367" y="4884575"/>
            <a:ext cx="1519842" cy="788132"/>
          </a:xfrm>
          <a:prstGeom prst="notchedRightArrow">
            <a:avLst>
              <a:gd name="adj1" fmla="val 50000"/>
              <a:gd name="adj2" fmla="val 47850"/>
            </a:avLst>
          </a:prstGeom>
          <a:solidFill>
            <a:srgbClr val="1F4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TÓM LẠI</a:t>
            </a:r>
          </a:p>
        </p:txBody>
      </p:sp>
      <p:sp>
        <p:nvSpPr>
          <p:cNvPr id="44" name="Hình chữ nhật: Góc Tròn 43">
            <a:extLst>
              <a:ext uri="{FF2B5EF4-FFF2-40B4-BE49-F238E27FC236}">
                <a16:creationId xmlns:a16="http://schemas.microsoft.com/office/drawing/2014/main" id="{66E0B673-8C54-56EE-9F6E-9E120C449E33}"/>
              </a:ext>
            </a:extLst>
          </p:cNvPr>
          <p:cNvSpPr/>
          <p:nvPr/>
        </p:nvSpPr>
        <p:spPr>
          <a:xfrm>
            <a:off x="2325993" y="4788122"/>
            <a:ext cx="2282221" cy="968237"/>
          </a:xfrm>
          <a:prstGeom prst="roundRect">
            <a:avLst/>
          </a:prstGeom>
          <a:solidFill>
            <a:srgbClr val="1CD6CE"/>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52" name="Hộp Văn bản 51">
            <a:extLst>
              <a:ext uri="{FF2B5EF4-FFF2-40B4-BE49-F238E27FC236}">
                <a16:creationId xmlns:a16="http://schemas.microsoft.com/office/drawing/2014/main" id="{65FE7BA2-4088-678F-3B96-8823D35D78FB}"/>
              </a:ext>
            </a:extLst>
          </p:cNvPr>
          <p:cNvSpPr txBox="1"/>
          <p:nvPr/>
        </p:nvSpPr>
        <p:spPr>
          <a:xfrm>
            <a:off x="3249446" y="5093975"/>
            <a:ext cx="1262959" cy="369332"/>
          </a:xfrm>
          <a:prstGeom prst="rect">
            <a:avLst/>
          </a:prstGeom>
          <a:noFill/>
          <a:effectLst>
            <a:outerShdw blurRad="63500" sx="102000" sy="102000" algn="ctr" rotWithShape="0">
              <a:prstClr val="black">
                <a:alpha val="40000"/>
              </a:prstClr>
            </a:outerShdw>
          </a:effectLst>
        </p:spPr>
        <p:txBody>
          <a:bodyPr wrap="square" rtlCol="0">
            <a:spAutoFit/>
          </a:bodyPr>
          <a:lstStyle/>
          <a:p>
            <a:r>
              <a:rPr lang="vi-VN" dirty="0">
                <a:solidFill>
                  <a:srgbClr val="C00000"/>
                </a:solidFill>
                <a:latin typeface="iCiel Cadena" panose="02000503000000020004" pitchFamily="2" charset="0"/>
              </a:rPr>
              <a:t>MUA BÁN</a:t>
            </a:r>
          </a:p>
        </p:txBody>
      </p:sp>
      <p:sp>
        <p:nvSpPr>
          <p:cNvPr id="53" name="Hình chữ nhật: Góc Tròn 52">
            <a:extLst>
              <a:ext uri="{FF2B5EF4-FFF2-40B4-BE49-F238E27FC236}">
                <a16:creationId xmlns:a16="http://schemas.microsoft.com/office/drawing/2014/main" id="{B7B2CFB2-E7DE-34BD-BA69-BDD7FD33231A}"/>
              </a:ext>
            </a:extLst>
          </p:cNvPr>
          <p:cNvSpPr/>
          <p:nvPr/>
        </p:nvSpPr>
        <p:spPr>
          <a:xfrm>
            <a:off x="5397298" y="4768144"/>
            <a:ext cx="2282221" cy="968237"/>
          </a:xfrm>
          <a:prstGeom prst="roundRect">
            <a:avLst/>
          </a:prstGeom>
          <a:solidFill>
            <a:srgbClr val="FFFF0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55" name="Hình ảnh 54">
            <a:extLst>
              <a:ext uri="{FF2B5EF4-FFF2-40B4-BE49-F238E27FC236}">
                <a16:creationId xmlns:a16="http://schemas.microsoft.com/office/drawing/2014/main" id="{2115F627-2A17-A935-B0EC-1AA7877A3C94}"/>
              </a:ext>
            </a:extLst>
          </p:cNvPr>
          <p:cNvPicPr>
            <a:picLocks noChangeAspect="1"/>
          </p:cNvPicPr>
          <p:nvPr/>
        </p:nvPicPr>
        <p:blipFill>
          <a:blip r:embed="rId7"/>
          <a:stretch>
            <a:fillRect/>
          </a:stretch>
        </p:blipFill>
        <p:spPr>
          <a:xfrm>
            <a:off x="5515900" y="4903345"/>
            <a:ext cx="758914" cy="758914"/>
          </a:xfrm>
          <a:prstGeom prst="rect">
            <a:avLst/>
          </a:prstGeom>
        </p:spPr>
      </p:pic>
      <p:sp>
        <p:nvSpPr>
          <p:cNvPr id="56" name="Hộp Văn bản 55">
            <a:extLst>
              <a:ext uri="{FF2B5EF4-FFF2-40B4-BE49-F238E27FC236}">
                <a16:creationId xmlns:a16="http://schemas.microsoft.com/office/drawing/2014/main" id="{B87ACE7B-5EA8-1750-971E-C681DD1F3138}"/>
              </a:ext>
            </a:extLst>
          </p:cNvPr>
          <p:cNvSpPr txBox="1"/>
          <p:nvPr/>
        </p:nvSpPr>
        <p:spPr>
          <a:xfrm>
            <a:off x="6371282" y="5067596"/>
            <a:ext cx="1211769" cy="369332"/>
          </a:xfrm>
          <a:prstGeom prst="rect">
            <a:avLst/>
          </a:prstGeom>
          <a:noFill/>
        </p:spPr>
        <p:txBody>
          <a:bodyPr wrap="square" rtlCol="0">
            <a:spAutoFit/>
          </a:bodyPr>
          <a:lstStyle/>
          <a:p>
            <a:r>
              <a:rPr lang="vi-VN" dirty="0">
                <a:solidFill>
                  <a:srgbClr val="C00000"/>
                </a:solidFill>
                <a:latin typeface="iCiel Cadena" panose="02000503000000020004" pitchFamily="2" charset="0"/>
              </a:rPr>
              <a:t>INTERNET</a:t>
            </a:r>
          </a:p>
        </p:txBody>
      </p:sp>
      <p:pic>
        <p:nvPicPr>
          <p:cNvPr id="58" name="Hình ảnh 57">
            <a:extLst>
              <a:ext uri="{FF2B5EF4-FFF2-40B4-BE49-F238E27FC236}">
                <a16:creationId xmlns:a16="http://schemas.microsoft.com/office/drawing/2014/main" id="{98A9A18E-2867-FAE4-95B4-E18DC1FCAC65}"/>
              </a:ext>
            </a:extLst>
          </p:cNvPr>
          <p:cNvPicPr>
            <a:picLocks noChangeAspect="1"/>
          </p:cNvPicPr>
          <p:nvPr/>
        </p:nvPicPr>
        <p:blipFill>
          <a:blip r:embed="rId8"/>
          <a:stretch>
            <a:fillRect/>
          </a:stretch>
        </p:blipFill>
        <p:spPr>
          <a:xfrm>
            <a:off x="2385894" y="4853840"/>
            <a:ext cx="836799" cy="836799"/>
          </a:xfrm>
          <a:prstGeom prst="rect">
            <a:avLst/>
          </a:prstGeom>
        </p:spPr>
      </p:pic>
      <p:sp>
        <p:nvSpPr>
          <p:cNvPr id="59" name="Hình chữ nhật: Góc Tròn 58">
            <a:extLst>
              <a:ext uri="{FF2B5EF4-FFF2-40B4-BE49-F238E27FC236}">
                <a16:creationId xmlns:a16="http://schemas.microsoft.com/office/drawing/2014/main" id="{E64DD30A-F67A-6E95-0AFF-7DE35AC52A13}"/>
              </a:ext>
            </a:extLst>
          </p:cNvPr>
          <p:cNvSpPr/>
          <p:nvPr/>
        </p:nvSpPr>
        <p:spPr>
          <a:xfrm>
            <a:off x="8468603" y="4775768"/>
            <a:ext cx="3364276" cy="968237"/>
          </a:xfrm>
          <a:prstGeom prst="roundRect">
            <a:avLst/>
          </a:prstGeom>
          <a:solidFill>
            <a:srgbClr val="00B0F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63" name="Hình ảnh 62">
            <a:extLst>
              <a:ext uri="{FF2B5EF4-FFF2-40B4-BE49-F238E27FC236}">
                <a16:creationId xmlns:a16="http://schemas.microsoft.com/office/drawing/2014/main" id="{F313601B-CAFC-2829-0439-55548A13BB32}"/>
              </a:ext>
            </a:extLst>
          </p:cNvPr>
          <p:cNvPicPr>
            <a:picLocks noChangeAspect="1"/>
          </p:cNvPicPr>
          <p:nvPr/>
        </p:nvPicPr>
        <p:blipFill>
          <a:blip r:embed="rId9"/>
          <a:stretch>
            <a:fillRect/>
          </a:stretch>
        </p:blipFill>
        <p:spPr>
          <a:xfrm>
            <a:off x="8605856" y="4921555"/>
            <a:ext cx="814826" cy="814826"/>
          </a:xfrm>
          <a:prstGeom prst="rect">
            <a:avLst/>
          </a:prstGeom>
        </p:spPr>
      </p:pic>
      <p:sp>
        <p:nvSpPr>
          <p:cNvPr id="64" name="Hộp Văn bản 63">
            <a:extLst>
              <a:ext uri="{FF2B5EF4-FFF2-40B4-BE49-F238E27FC236}">
                <a16:creationId xmlns:a16="http://schemas.microsoft.com/office/drawing/2014/main" id="{492EF823-85D3-2D60-93BD-5C5BC5046F46}"/>
              </a:ext>
            </a:extLst>
          </p:cNvPr>
          <p:cNvSpPr txBox="1"/>
          <p:nvPr/>
        </p:nvSpPr>
        <p:spPr>
          <a:xfrm>
            <a:off x="9310325" y="5093975"/>
            <a:ext cx="2659807" cy="369332"/>
          </a:xfrm>
          <a:prstGeom prst="rect">
            <a:avLst/>
          </a:prstGeom>
          <a:noFill/>
        </p:spPr>
        <p:txBody>
          <a:bodyPr wrap="square" rtlCol="0">
            <a:spAutoFit/>
          </a:bodyPr>
          <a:lstStyle/>
          <a:p>
            <a:r>
              <a:rPr lang="vi-VN" dirty="0">
                <a:solidFill>
                  <a:srgbClr val="C00000"/>
                </a:solidFill>
                <a:latin typeface="iCiel Cadena" panose="02000503000000020004" pitchFamily="2" charset="0"/>
              </a:rPr>
              <a:t>THƯƠNG MẠI ĐIỆN TỬ </a:t>
            </a:r>
          </a:p>
        </p:txBody>
      </p:sp>
      <p:cxnSp>
        <p:nvCxnSpPr>
          <p:cNvPr id="66" name="Đường kết nối: Cong 65">
            <a:extLst>
              <a:ext uri="{FF2B5EF4-FFF2-40B4-BE49-F238E27FC236}">
                <a16:creationId xmlns:a16="http://schemas.microsoft.com/office/drawing/2014/main" id="{679A953A-846B-E000-8E65-C2ECA3E42684}"/>
              </a:ext>
            </a:extLst>
          </p:cNvPr>
          <p:cNvCxnSpPr>
            <a:cxnSpLocks/>
          </p:cNvCxnSpPr>
          <p:nvPr/>
        </p:nvCxnSpPr>
        <p:spPr>
          <a:xfrm flipV="1">
            <a:off x="4649658" y="5093975"/>
            <a:ext cx="704350" cy="342953"/>
          </a:xfrm>
          <a:prstGeom prst="curvedConnector3">
            <a:avLst>
              <a:gd name="adj1" fmla="val 5257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Đường kết nối: Cong 70">
            <a:extLst>
              <a:ext uri="{FF2B5EF4-FFF2-40B4-BE49-F238E27FC236}">
                <a16:creationId xmlns:a16="http://schemas.microsoft.com/office/drawing/2014/main" id="{188E901A-BAFC-91A3-46E5-4E8DCCB1EA26}"/>
              </a:ext>
            </a:extLst>
          </p:cNvPr>
          <p:cNvCxnSpPr>
            <a:cxnSpLocks/>
          </p:cNvCxnSpPr>
          <p:nvPr/>
        </p:nvCxnSpPr>
        <p:spPr>
          <a:xfrm>
            <a:off x="7720304" y="5067596"/>
            <a:ext cx="663684" cy="369332"/>
          </a:xfrm>
          <a:prstGeom prst="curvedConnector3">
            <a:avLst/>
          </a:prstGeom>
          <a:ln w="19050">
            <a:tailEnd type="triangle"/>
          </a:ln>
        </p:spPr>
        <p:style>
          <a:lnRef idx="1">
            <a:schemeClr val="accent4"/>
          </a:lnRef>
          <a:fillRef idx="0">
            <a:schemeClr val="accent4"/>
          </a:fillRef>
          <a:effectRef idx="0">
            <a:schemeClr val="accent4"/>
          </a:effectRef>
          <a:fontRef idx="minor">
            <a:schemeClr val="tx1"/>
          </a:fontRef>
        </p:style>
      </p:cxnSp>
      <p:pic>
        <p:nvPicPr>
          <p:cNvPr id="4" name="Hình ảnh 3">
            <a:extLst>
              <a:ext uri="{FF2B5EF4-FFF2-40B4-BE49-F238E27FC236}">
                <a16:creationId xmlns:a16="http://schemas.microsoft.com/office/drawing/2014/main" id="{CA846EEB-4F10-2606-38E3-F37A4546F25E}"/>
              </a:ext>
            </a:extLst>
          </p:cNvPr>
          <p:cNvPicPr>
            <a:picLocks noChangeAspect="1"/>
          </p:cNvPicPr>
          <p:nvPr/>
        </p:nvPicPr>
        <p:blipFill>
          <a:blip r:embed="rId10"/>
          <a:stretch>
            <a:fillRect/>
          </a:stretch>
        </p:blipFill>
        <p:spPr>
          <a:xfrm>
            <a:off x="169848" y="5998951"/>
            <a:ext cx="793534" cy="750408"/>
          </a:xfrm>
          <a:prstGeom prst="rect">
            <a:avLst/>
          </a:prstGeom>
        </p:spPr>
      </p:pic>
    </p:spTree>
    <p:extLst>
      <p:ext uri="{BB962C8B-B14F-4D97-AF65-F5344CB8AC3E}">
        <p14:creationId xmlns:p14="http://schemas.microsoft.com/office/powerpoint/2010/main" val="3248114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1000"/>
                                        <p:tgtEl>
                                          <p:spTgt spid="43"/>
                                        </p:tgtEl>
                                      </p:cBhvr>
                                    </p:animEffect>
                                    <p:anim calcmode="lin" valueType="num">
                                      <p:cBhvr>
                                        <p:cTn id="15" dur="1000" fill="hold"/>
                                        <p:tgtEl>
                                          <p:spTgt spid="43"/>
                                        </p:tgtEl>
                                        <p:attrNameLst>
                                          <p:attrName>ppt_x</p:attrName>
                                        </p:attrNameLst>
                                      </p:cBhvr>
                                      <p:tavLst>
                                        <p:tav tm="0">
                                          <p:val>
                                            <p:strVal val="#ppt_x"/>
                                          </p:val>
                                        </p:tav>
                                        <p:tav tm="100000">
                                          <p:val>
                                            <p:strVal val="#ppt_x"/>
                                          </p:val>
                                        </p:tav>
                                      </p:tavLst>
                                    </p:anim>
                                    <p:anim calcmode="lin" valueType="num">
                                      <p:cBhvr>
                                        <p:cTn id="16"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par>
                                <p:cTn id="22" presetID="10" presetClass="entr" presetSubtype="0" fill="hold" nodeType="withEffect">
                                  <p:stCondLst>
                                    <p:cond delay="0"/>
                                  </p:stCondLst>
                                  <p:childTnLst>
                                    <p:set>
                                      <p:cBhvr>
                                        <p:cTn id="23" dur="1" fill="hold">
                                          <p:stCondLst>
                                            <p:cond delay="0"/>
                                          </p:stCondLst>
                                        </p:cTn>
                                        <p:tgtEl>
                                          <p:spTgt spid="58"/>
                                        </p:tgtEl>
                                        <p:attrNameLst>
                                          <p:attrName>style.visibility</p:attrName>
                                        </p:attrNameLst>
                                      </p:cBhvr>
                                      <p:to>
                                        <p:strVal val="visible"/>
                                      </p:to>
                                    </p:set>
                                    <p:animEffect transition="in" filter="fade">
                                      <p:cBhvr>
                                        <p:cTn id="24" dur="500"/>
                                        <p:tgtEl>
                                          <p:spTgt spid="5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fade">
                                      <p:cBhvr>
                                        <p:cTn id="32" dur="500"/>
                                        <p:tgtEl>
                                          <p:spTgt spid="66"/>
                                        </p:tgtEl>
                                      </p:cBhvr>
                                    </p:animEffect>
                                  </p:childTnLst>
                                </p:cTn>
                              </p:par>
                              <p:par>
                                <p:cTn id="33" presetID="10" presetClass="entr" presetSubtype="0" fill="hold"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500"/>
                                        <p:tgtEl>
                                          <p:spTgt spid="5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500"/>
                                        <p:tgtEl>
                                          <p:spTgt spid="5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500"/>
                                        <p:tgtEl>
                                          <p:spTgt spid="64"/>
                                        </p:tgtEl>
                                      </p:cBhvr>
                                    </p:animEffect>
                                  </p:childTnLst>
                                </p:cTn>
                              </p:par>
                              <p:par>
                                <p:cTn id="53" presetID="10" presetClass="entr" presetSubtype="0" fill="hold" nodeType="with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fade">
                                      <p:cBhvr>
                                        <p:cTn id="5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52" grpId="0"/>
      <p:bldP spid="53" grpId="0" animBg="1"/>
      <p:bldP spid="56" grpId="0"/>
      <p:bldP spid="59" grpId="0" animBg="1"/>
      <p:bldP spid="6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nh chữ nhật 4">
            <a:extLst>
              <a:ext uri="{FF2B5EF4-FFF2-40B4-BE49-F238E27FC236}">
                <a16:creationId xmlns:a16="http://schemas.microsoft.com/office/drawing/2014/main" id="{BA88A0ED-25FB-91A9-9879-64ECCF62D76F}"/>
              </a:ext>
            </a:extLst>
          </p:cNvPr>
          <p:cNvSpPr/>
          <p:nvPr/>
        </p:nvSpPr>
        <p:spPr>
          <a:xfrm>
            <a:off x="21"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iCiel Cadena" panose="02000503000000020004" pitchFamily="2" charset="0"/>
            </a:endParaRPr>
          </a:p>
        </p:txBody>
      </p:sp>
      <p:sp>
        <p:nvSpPr>
          <p:cNvPr id="14" name="Hình chữ nhật: Góc Tròn 13">
            <a:extLst>
              <a:ext uri="{FF2B5EF4-FFF2-40B4-BE49-F238E27FC236}">
                <a16:creationId xmlns:a16="http://schemas.microsoft.com/office/drawing/2014/main" id="{CD6EC72A-C766-2D04-EB35-8F45DF887F9D}"/>
              </a:ext>
            </a:extLst>
          </p:cNvPr>
          <p:cNvSpPr/>
          <p:nvPr/>
        </p:nvSpPr>
        <p:spPr>
          <a:xfrm>
            <a:off x="385157" y="361431"/>
            <a:ext cx="6015644" cy="369333"/>
          </a:xfrm>
          <a:prstGeom prst="roundRect">
            <a:avLst>
              <a:gd name="adj" fmla="val 5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iCiel Cadena" panose="02000503000000020004" pitchFamily="2" charset="0"/>
            </a:endParaRPr>
          </a:p>
        </p:txBody>
      </p:sp>
      <p:pic>
        <p:nvPicPr>
          <p:cNvPr id="9" name="Hình ảnh 8">
            <a:extLst>
              <a:ext uri="{FF2B5EF4-FFF2-40B4-BE49-F238E27FC236}">
                <a16:creationId xmlns:a16="http://schemas.microsoft.com/office/drawing/2014/main" id="{5369CC4C-A903-1E26-5DBB-095A4E13D29D}"/>
              </a:ext>
            </a:extLst>
          </p:cNvPr>
          <p:cNvPicPr>
            <a:picLocks noChangeAspect="1"/>
          </p:cNvPicPr>
          <p:nvPr/>
        </p:nvPicPr>
        <p:blipFill>
          <a:blip r:embed="rId2"/>
          <a:stretch>
            <a:fillRect/>
          </a:stretch>
        </p:blipFill>
        <p:spPr>
          <a:xfrm rot="15300000">
            <a:off x="241818" y="166732"/>
            <a:ext cx="758732" cy="758732"/>
          </a:xfrm>
          <a:prstGeom prst="rect">
            <a:avLst/>
          </a:prstGeom>
        </p:spPr>
      </p:pic>
      <p:sp>
        <p:nvSpPr>
          <p:cNvPr id="15" name="Hộp Văn bản 14">
            <a:extLst>
              <a:ext uri="{FF2B5EF4-FFF2-40B4-BE49-F238E27FC236}">
                <a16:creationId xmlns:a16="http://schemas.microsoft.com/office/drawing/2014/main" id="{D63CC12C-BEEB-439B-5808-B407ED1C5AF5}"/>
              </a:ext>
            </a:extLst>
          </p:cNvPr>
          <p:cNvSpPr txBox="1"/>
          <p:nvPr/>
        </p:nvSpPr>
        <p:spPr>
          <a:xfrm>
            <a:off x="973589" y="364604"/>
            <a:ext cx="5427211" cy="369332"/>
          </a:xfrm>
          <a:prstGeom prst="rect">
            <a:avLst/>
          </a:prstGeom>
          <a:noFill/>
        </p:spPr>
        <p:txBody>
          <a:bodyPr wrap="square" rtlCol="0">
            <a:spAutoFit/>
          </a:bodyPr>
          <a:lstStyle/>
          <a:p>
            <a:pPr algn="ctr"/>
            <a:r>
              <a:rPr lang="vi-VN" dirty="0">
                <a:solidFill>
                  <a:srgbClr val="FFFF00"/>
                </a:solidFill>
                <a:latin typeface="iCiel Cadena" panose="02000503000000020004" pitchFamily="2" charset="0"/>
              </a:rPr>
              <a:t>CÁC HÌNH THỨC THƯƠNG MẠI ĐIỆN TỬ TRỌNG ĐIỂM</a:t>
            </a:r>
          </a:p>
        </p:txBody>
      </p:sp>
      <p:grpSp>
        <p:nvGrpSpPr>
          <p:cNvPr id="3" name="Nhóm 2">
            <a:extLst>
              <a:ext uri="{FF2B5EF4-FFF2-40B4-BE49-F238E27FC236}">
                <a16:creationId xmlns:a16="http://schemas.microsoft.com/office/drawing/2014/main" id="{D4B8333E-9380-A9ED-3990-DB467ECBB908}"/>
              </a:ext>
            </a:extLst>
          </p:cNvPr>
          <p:cNvGrpSpPr/>
          <p:nvPr/>
        </p:nvGrpSpPr>
        <p:grpSpPr>
          <a:xfrm>
            <a:off x="572808" y="1633914"/>
            <a:ext cx="1381125" cy="4661230"/>
            <a:chOff x="304800" y="2084388"/>
            <a:chExt cx="1381125" cy="4661230"/>
          </a:xfrm>
          <a:effectLst>
            <a:outerShdw blurRad="63500" sx="102000" sy="102000" algn="ctr" rotWithShape="0">
              <a:prstClr val="black">
                <a:alpha val="40000"/>
              </a:prstClr>
            </a:outerShdw>
          </a:effectLst>
        </p:grpSpPr>
        <p:sp>
          <p:nvSpPr>
            <p:cNvPr id="25" name="Hình chữ nhật 24">
              <a:extLst>
                <a:ext uri="{FF2B5EF4-FFF2-40B4-BE49-F238E27FC236}">
                  <a16:creationId xmlns:a16="http://schemas.microsoft.com/office/drawing/2014/main" id="{968D64B6-0C1F-A55C-77C5-2D0071C72BB2}"/>
                </a:ext>
              </a:extLst>
            </p:cNvPr>
            <p:cNvSpPr/>
            <p:nvPr/>
          </p:nvSpPr>
          <p:spPr>
            <a:xfrm rot="5400000">
              <a:off x="-992209" y="4098443"/>
              <a:ext cx="3980931" cy="131342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iCiel Cadena" panose="02000503000000020004" pitchFamily="2" charset="0"/>
              </a:endParaRPr>
            </a:p>
          </p:txBody>
        </p:sp>
        <p:sp>
          <p:nvSpPr>
            <p:cNvPr id="19" name="Hình thoi 18">
              <a:extLst>
                <a:ext uri="{FF2B5EF4-FFF2-40B4-BE49-F238E27FC236}">
                  <a16:creationId xmlns:a16="http://schemas.microsoft.com/office/drawing/2014/main" id="{EFB15920-7558-D7CC-B44D-EF1F9EE0FF26}"/>
                </a:ext>
              </a:extLst>
            </p:cNvPr>
            <p:cNvSpPr/>
            <p:nvPr/>
          </p:nvSpPr>
          <p:spPr>
            <a:xfrm>
              <a:off x="304800" y="2084388"/>
              <a:ext cx="1381125" cy="1381125"/>
            </a:xfrm>
            <a:prstGeom prst="diamond">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pic>
          <p:nvPicPr>
            <p:cNvPr id="33" name="Hình ảnh 32">
              <a:extLst>
                <a:ext uri="{FF2B5EF4-FFF2-40B4-BE49-F238E27FC236}">
                  <a16:creationId xmlns:a16="http://schemas.microsoft.com/office/drawing/2014/main" id="{518E1710-9318-0C11-14A3-E50C06ADE93E}"/>
                </a:ext>
              </a:extLst>
            </p:cNvPr>
            <p:cNvPicPr>
              <a:picLocks noChangeAspect="1"/>
            </p:cNvPicPr>
            <p:nvPr/>
          </p:nvPicPr>
          <p:blipFill>
            <a:blip r:embed="rId3"/>
            <a:stretch>
              <a:fillRect/>
            </a:stretch>
          </p:blipFill>
          <p:spPr>
            <a:xfrm>
              <a:off x="708024" y="2487612"/>
              <a:ext cx="574675" cy="574675"/>
            </a:xfrm>
            <a:prstGeom prst="rect">
              <a:avLst/>
            </a:prstGeom>
          </p:spPr>
        </p:pic>
        <p:sp>
          <p:nvSpPr>
            <p:cNvPr id="44" name="Hộp Văn bản 43">
              <a:extLst>
                <a:ext uri="{FF2B5EF4-FFF2-40B4-BE49-F238E27FC236}">
                  <a16:creationId xmlns:a16="http://schemas.microsoft.com/office/drawing/2014/main" id="{AD487E7D-1D02-7000-B50E-45954A255E2C}"/>
                </a:ext>
              </a:extLst>
            </p:cNvPr>
            <p:cNvSpPr txBox="1"/>
            <p:nvPr/>
          </p:nvSpPr>
          <p:spPr>
            <a:xfrm>
              <a:off x="521233" y="4337091"/>
              <a:ext cx="948256" cy="1200329"/>
            </a:xfrm>
            <a:prstGeom prst="rect">
              <a:avLst/>
            </a:prstGeom>
            <a:noFill/>
          </p:spPr>
          <p:txBody>
            <a:bodyPr wrap="square" rtlCol="0">
              <a:spAutoFit/>
            </a:bodyPr>
            <a:lstStyle/>
            <a:p>
              <a:pPr algn="ctr"/>
              <a:r>
                <a:rPr lang="vi-VN" dirty="0">
                  <a:solidFill>
                    <a:schemeClr val="accent1">
                      <a:lumMod val="40000"/>
                      <a:lumOff val="60000"/>
                    </a:schemeClr>
                  </a:solidFill>
                  <a:latin typeface="iCiel Cadena" panose="02000503000000020004" pitchFamily="2" charset="0"/>
                </a:rPr>
                <a:t>THƯ ĐIỆN TỬ</a:t>
              </a:r>
            </a:p>
            <a:p>
              <a:pPr algn="ctr"/>
              <a:r>
                <a:rPr lang="vi-VN" dirty="0">
                  <a:solidFill>
                    <a:schemeClr val="accent1">
                      <a:lumMod val="40000"/>
                      <a:lumOff val="60000"/>
                    </a:schemeClr>
                  </a:solidFill>
                  <a:latin typeface="iCiel Cadena" panose="02000503000000020004" pitchFamily="2" charset="0"/>
                </a:rPr>
                <a:t>ONLINE</a:t>
              </a:r>
            </a:p>
          </p:txBody>
        </p:sp>
      </p:grpSp>
      <p:grpSp>
        <p:nvGrpSpPr>
          <p:cNvPr id="13" name="Nhóm 12">
            <a:extLst>
              <a:ext uri="{FF2B5EF4-FFF2-40B4-BE49-F238E27FC236}">
                <a16:creationId xmlns:a16="http://schemas.microsoft.com/office/drawing/2014/main" id="{97493E60-49D1-88D5-6881-D02F2C8715AA}"/>
              </a:ext>
            </a:extLst>
          </p:cNvPr>
          <p:cNvGrpSpPr/>
          <p:nvPr/>
        </p:nvGrpSpPr>
        <p:grpSpPr>
          <a:xfrm>
            <a:off x="2357157" y="1677373"/>
            <a:ext cx="1381125" cy="4033844"/>
            <a:chOff x="2137113" y="2738437"/>
            <a:chExt cx="1381125" cy="4033844"/>
          </a:xfrm>
          <a:effectLst>
            <a:outerShdw blurRad="63500" sx="102000" sy="102000" algn="ctr" rotWithShape="0">
              <a:prstClr val="black">
                <a:alpha val="40000"/>
              </a:prstClr>
            </a:outerShdw>
          </a:effectLst>
        </p:grpSpPr>
        <p:sp>
          <p:nvSpPr>
            <p:cNvPr id="26" name="Hình chữ nhật 25">
              <a:extLst>
                <a:ext uri="{FF2B5EF4-FFF2-40B4-BE49-F238E27FC236}">
                  <a16:creationId xmlns:a16="http://schemas.microsoft.com/office/drawing/2014/main" id="{AE8470ED-BCC6-A4CF-DE58-FE798C60C6B3}"/>
                </a:ext>
              </a:extLst>
            </p:cNvPr>
            <p:cNvSpPr/>
            <p:nvPr/>
          </p:nvSpPr>
          <p:spPr>
            <a:xfrm rot="5400000">
              <a:off x="1156628" y="4444526"/>
              <a:ext cx="3342093" cy="1313418"/>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sp>
          <p:nvSpPr>
            <p:cNvPr id="20" name="Hình thoi 19">
              <a:extLst>
                <a:ext uri="{FF2B5EF4-FFF2-40B4-BE49-F238E27FC236}">
                  <a16:creationId xmlns:a16="http://schemas.microsoft.com/office/drawing/2014/main" id="{7582A62D-3F40-03ED-D3CF-57B1D305F7CB}"/>
                </a:ext>
              </a:extLst>
            </p:cNvPr>
            <p:cNvSpPr/>
            <p:nvPr/>
          </p:nvSpPr>
          <p:spPr>
            <a:xfrm>
              <a:off x="2137113" y="2738437"/>
              <a:ext cx="1381125" cy="1381125"/>
            </a:xfrm>
            <a:prstGeom prst="diamond">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pic>
          <p:nvPicPr>
            <p:cNvPr id="35" name="Hình ảnh 34">
              <a:extLst>
                <a:ext uri="{FF2B5EF4-FFF2-40B4-BE49-F238E27FC236}">
                  <a16:creationId xmlns:a16="http://schemas.microsoft.com/office/drawing/2014/main" id="{E1A5D4A7-F1DD-7203-63BB-15C7D3DC8EEC}"/>
                </a:ext>
              </a:extLst>
            </p:cNvPr>
            <p:cNvPicPr>
              <a:picLocks noChangeAspect="1"/>
            </p:cNvPicPr>
            <p:nvPr/>
          </p:nvPicPr>
          <p:blipFill>
            <a:blip r:embed="rId4"/>
            <a:stretch>
              <a:fillRect/>
            </a:stretch>
          </p:blipFill>
          <p:spPr>
            <a:xfrm>
              <a:off x="2495142" y="3136537"/>
              <a:ext cx="657951" cy="657951"/>
            </a:xfrm>
            <a:prstGeom prst="rect">
              <a:avLst/>
            </a:prstGeom>
          </p:spPr>
        </p:pic>
        <p:sp>
          <p:nvSpPr>
            <p:cNvPr id="45" name="Hộp Văn bản 44">
              <a:extLst>
                <a:ext uri="{FF2B5EF4-FFF2-40B4-BE49-F238E27FC236}">
                  <a16:creationId xmlns:a16="http://schemas.microsoft.com/office/drawing/2014/main" id="{139C7763-7417-27EA-7489-FFA58D511E9D}"/>
                </a:ext>
              </a:extLst>
            </p:cNvPr>
            <p:cNvSpPr txBox="1"/>
            <p:nvPr/>
          </p:nvSpPr>
          <p:spPr>
            <a:xfrm>
              <a:off x="2402148" y="4337091"/>
              <a:ext cx="927388" cy="1477328"/>
            </a:xfrm>
            <a:prstGeom prst="rect">
              <a:avLst/>
            </a:prstGeom>
            <a:noFill/>
          </p:spPr>
          <p:txBody>
            <a:bodyPr wrap="square" rtlCol="0">
              <a:spAutoFit/>
            </a:bodyPr>
            <a:lstStyle/>
            <a:p>
              <a:pPr algn="ctr"/>
              <a:r>
                <a:rPr lang="vi-VN" dirty="0">
                  <a:solidFill>
                    <a:srgbClr val="F6E1C3"/>
                  </a:solidFill>
                  <a:latin typeface="iCiel Cadena" panose="02000503000000020004" pitchFamily="2" charset="0"/>
                </a:rPr>
                <a:t>TRAO ĐỔI DỮ LIỆU ĐIỆN TỬ</a:t>
              </a:r>
            </a:p>
          </p:txBody>
        </p:sp>
      </p:grpSp>
      <p:grpSp>
        <p:nvGrpSpPr>
          <p:cNvPr id="7" name="Nhóm 6">
            <a:extLst>
              <a:ext uri="{FF2B5EF4-FFF2-40B4-BE49-F238E27FC236}">
                <a16:creationId xmlns:a16="http://schemas.microsoft.com/office/drawing/2014/main" id="{BFA89E77-01D7-0315-5E79-D0663436D80E}"/>
              </a:ext>
            </a:extLst>
          </p:cNvPr>
          <p:cNvGrpSpPr/>
          <p:nvPr/>
        </p:nvGrpSpPr>
        <p:grpSpPr>
          <a:xfrm>
            <a:off x="4252303" y="1342198"/>
            <a:ext cx="1381125" cy="5207006"/>
            <a:chOff x="3885169" y="1565275"/>
            <a:chExt cx="1381125" cy="5207006"/>
          </a:xfrm>
          <a:effectLst>
            <a:outerShdw blurRad="63500" sx="102000" sy="102000" algn="ctr" rotWithShape="0">
              <a:prstClr val="black">
                <a:alpha val="40000"/>
              </a:prstClr>
            </a:outerShdw>
          </a:effectLst>
        </p:grpSpPr>
        <p:sp>
          <p:nvSpPr>
            <p:cNvPr id="27" name="Hình chữ nhật 26">
              <a:extLst>
                <a:ext uri="{FF2B5EF4-FFF2-40B4-BE49-F238E27FC236}">
                  <a16:creationId xmlns:a16="http://schemas.microsoft.com/office/drawing/2014/main" id="{5A0727AA-8E0D-CDA8-9766-0614C3BDDFF7}"/>
                </a:ext>
              </a:extLst>
            </p:cNvPr>
            <p:cNvSpPr/>
            <p:nvPr/>
          </p:nvSpPr>
          <p:spPr>
            <a:xfrm rot="5400000">
              <a:off x="2317509" y="3857351"/>
              <a:ext cx="4516443" cy="131341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sp>
          <p:nvSpPr>
            <p:cNvPr id="21" name="Hình thoi 20">
              <a:extLst>
                <a:ext uri="{FF2B5EF4-FFF2-40B4-BE49-F238E27FC236}">
                  <a16:creationId xmlns:a16="http://schemas.microsoft.com/office/drawing/2014/main" id="{1785A808-7918-1A1C-BF2D-68EB1828863A}"/>
                </a:ext>
              </a:extLst>
            </p:cNvPr>
            <p:cNvSpPr/>
            <p:nvPr/>
          </p:nvSpPr>
          <p:spPr>
            <a:xfrm>
              <a:off x="3885169" y="1565275"/>
              <a:ext cx="1381125" cy="1381125"/>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pic>
          <p:nvPicPr>
            <p:cNvPr id="37" name="Hình ảnh 36">
              <a:extLst>
                <a:ext uri="{FF2B5EF4-FFF2-40B4-BE49-F238E27FC236}">
                  <a16:creationId xmlns:a16="http://schemas.microsoft.com/office/drawing/2014/main" id="{4AB80635-E999-8683-4BB9-CDDDB3BD5466}"/>
                </a:ext>
              </a:extLst>
            </p:cNvPr>
            <p:cNvPicPr>
              <a:picLocks noChangeAspect="1"/>
            </p:cNvPicPr>
            <p:nvPr/>
          </p:nvPicPr>
          <p:blipFill>
            <a:blip r:embed="rId5"/>
            <a:stretch>
              <a:fillRect/>
            </a:stretch>
          </p:blipFill>
          <p:spPr>
            <a:xfrm>
              <a:off x="4215302" y="1807325"/>
              <a:ext cx="725589" cy="725589"/>
            </a:xfrm>
            <a:prstGeom prst="rect">
              <a:avLst/>
            </a:prstGeom>
          </p:spPr>
        </p:pic>
        <p:sp>
          <p:nvSpPr>
            <p:cNvPr id="46" name="Hộp Văn bản 45">
              <a:extLst>
                <a:ext uri="{FF2B5EF4-FFF2-40B4-BE49-F238E27FC236}">
                  <a16:creationId xmlns:a16="http://schemas.microsoft.com/office/drawing/2014/main" id="{7EBD6B39-847F-2447-51B6-2F0ED10310E5}"/>
                </a:ext>
              </a:extLst>
            </p:cNvPr>
            <p:cNvSpPr txBox="1"/>
            <p:nvPr/>
          </p:nvSpPr>
          <p:spPr>
            <a:xfrm>
              <a:off x="4106340" y="3825310"/>
              <a:ext cx="937735" cy="1200329"/>
            </a:xfrm>
            <a:prstGeom prst="rect">
              <a:avLst/>
            </a:prstGeom>
            <a:noFill/>
          </p:spPr>
          <p:txBody>
            <a:bodyPr wrap="square" rtlCol="0">
              <a:spAutoFit/>
            </a:bodyPr>
            <a:lstStyle/>
            <a:p>
              <a:pPr algn="ctr"/>
              <a:r>
                <a:rPr lang="vi-VN" dirty="0">
                  <a:solidFill>
                    <a:srgbClr val="FFFF00"/>
                  </a:solidFill>
                  <a:latin typeface="iCiel Cadena" panose="02000503000000020004" pitchFamily="2" charset="0"/>
                </a:rPr>
                <a:t>THANH TOÁN ĐIỆN TỬ</a:t>
              </a:r>
            </a:p>
          </p:txBody>
        </p:sp>
      </p:grpSp>
      <p:grpSp>
        <p:nvGrpSpPr>
          <p:cNvPr id="17" name="Nhóm 16">
            <a:extLst>
              <a:ext uri="{FF2B5EF4-FFF2-40B4-BE49-F238E27FC236}">
                <a16:creationId xmlns:a16="http://schemas.microsoft.com/office/drawing/2014/main" id="{F50CF02F-23CD-2CCA-3FC8-D156984BE863}"/>
              </a:ext>
            </a:extLst>
          </p:cNvPr>
          <p:cNvGrpSpPr/>
          <p:nvPr/>
        </p:nvGrpSpPr>
        <p:grpSpPr>
          <a:xfrm>
            <a:off x="6226190" y="1717230"/>
            <a:ext cx="1381125" cy="4360610"/>
            <a:chOff x="5964515" y="2411669"/>
            <a:chExt cx="1381125" cy="4360610"/>
          </a:xfrm>
          <a:effectLst>
            <a:outerShdw blurRad="63500" sx="102000" sy="102000" algn="ctr" rotWithShape="0">
              <a:prstClr val="black">
                <a:alpha val="40000"/>
              </a:prstClr>
            </a:outerShdw>
          </a:effectLst>
        </p:grpSpPr>
        <p:sp>
          <p:nvSpPr>
            <p:cNvPr id="28" name="Hình chữ nhật 27">
              <a:extLst>
                <a:ext uri="{FF2B5EF4-FFF2-40B4-BE49-F238E27FC236}">
                  <a16:creationId xmlns:a16="http://schemas.microsoft.com/office/drawing/2014/main" id="{732F2248-AAEE-B285-163C-A9C9E3A0998D}"/>
                </a:ext>
              </a:extLst>
            </p:cNvPr>
            <p:cNvSpPr/>
            <p:nvPr/>
          </p:nvSpPr>
          <p:spPr>
            <a:xfrm rot="5400000">
              <a:off x="4820054" y="4280547"/>
              <a:ext cx="3670046" cy="1313418"/>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iCiel Cadena" panose="02000503000000020004" pitchFamily="2" charset="0"/>
              </a:endParaRPr>
            </a:p>
          </p:txBody>
        </p:sp>
        <p:sp>
          <p:nvSpPr>
            <p:cNvPr id="22" name="Hình thoi 21">
              <a:extLst>
                <a:ext uri="{FF2B5EF4-FFF2-40B4-BE49-F238E27FC236}">
                  <a16:creationId xmlns:a16="http://schemas.microsoft.com/office/drawing/2014/main" id="{D694772D-B194-3D50-0C4D-AB65D2AD4C43}"/>
                </a:ext>
              </a:extLst>
            </p:cNvPr>
            <p:cNvSpPr/>
            <p:nvPr/>
          </p:nvSpPr>
          <p:spPr>
            <a:xfrm>
              <a:off x="5964515" y="2411669"/>
              <a:ext cx="1381125" cy="1381125"/>
            </a:xfrm>
            <a:prstGeom prst="diamond">
              <a:avLst/>
            </a:prstGeom>
            <a:solidFill>
              <a:srgbClr val="F6E1C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pic>
          <p:nvPicPr>
            <p:cNvPr id="39" name="Hình ảnh 38">
              <a:extLst>
                <a:ext uri="{FF2B5EF4-FFF2-40B4-BE49-F238E27FC236}">
                  <a16:creationId xmlns:a16="http://schemas.microsoft.com/office/drawing/2014/main" id="{0CBDA50F-3299-4271-76FB-12DBA0D7234A}"/>
                </a:ext>
              </a:extLst>
            </p:cNvPr>
            <p:cNvPicPr>
              <a:picLocks noChangeAspect="1"/>
            </p:cNvPicPr>
            <p:nvPr/>
          </p:nvPicPr>
          <p:blipFill>
            <a:blip r:embed="rId6"/>
            <a:stretch>
              <a:fillRect/>
            </a:stretch>
          </p:blipFill>
          <p:spPr>
            <a:xfrm>
              <a:off x="6288266" y="2714678"/>
              <a:ext cx="695218" cy="695218"/>
            </a:xfrm>
            <a:prstGeom prst="rect">
              <a:avLst/>
            </a:prstGeom>
          </p:spPr>
        </p:pic>
        <p:sp>
          <p:nvSpPr>
            <p:cNvPr id="47" name="Hộp Văn bản 46">
              <a:extLst>
                <a:ext uri="{FF2B5EF4-FFF2-40B4-BE49-F238E27FC236}">
                  <a16:creationId xmlns:a16="http://schemas.microsoft.com/office/drawing/2014/main" id="{42EC2B83-8449-8A22-4DB2-B6AAC955F8E9}"/>
                </a:ext>
              </a:extLst>
            </p:cNvPr>
            <p:cNvSpPr txBox="1"/>
            <p:nvPr/>
          </p:nvSpPr>
          <p:spPr>
            <a:xfrm>
              <a:off x="6202074" y="4337090"/>
              <a:ext cx="936304" cy="1200329"/>
            </a:xfrm>
            <a:prstGeom prst="rect">
              <a:avLst/>
            </a:prstGeom>
            <a:noFill/>
          </p:spPr>
          <p:txBody>
            <a:bodyPr wrap="square" rtlCol="0">
              <a:spAutoFit/>
            </a:bodyPr>
            <a:lstStyle/>
            <a:p>
              <a:pPr algn="ctr"/>
              <a:r>
                <a:rPr lang="vi-VN" dirty="0">
                  <a:solidFill>
                    <a:srgbClr val="F6E1C3"/>
                  </a:solidFill>
                  <a:latin typeface="iCiel Cadena" panose="02000503000000020004" pitchFamily="2" charset="0"/>
                </a:rPr>
                <a:t>BÁN LẺ HÀNG HÓA ONLINE</a:t>
              </a:r>
            </a:p>
          </p:txBody>
        </p:sp>
      </p:grpSp>
      <p:grpSp>
        <p:nvGrpSpPr>
          <p:cNvPr id="11" name="Nhóm 10">
            <a:extLst>
              <a:ext uri="{FF2B5EF4-FFF2-40B4-BE49-F238E27FC236}">
                <a16:creationId xmlns:a16="http://schemas.microsoft.com/office/drawing/2014/main" id="{6F68313F-EE00-0E87-9B60-D121842694E4}"/>
              </a:ext>
            </a:extLst>
          </p:cNvPr>
          <p:cNvGrpSpPr/>
          <p:nvPr/>
        </p:nvGrpSpPr>
        <p:grpSpPr>
          <a:xfrm>
            <a:off x="8260928" y="1472456"/>
            <a:ext cx="1381125" cy="5051176"/>
            <a:chOff x="8210593" y="1721106"/>
            <a:chExt cx="1381125" cy="5051176"/>
          </a:xfrm>
          <a:effectLst>
            <a:outerShdw blurRad="63500" sx="102000" sy="102000" algn="ctr" rotWithShape="0">
              <a:prstClr val="black">
                <a:alpha val="40000"/>
              </a:prstClr>
            </a:outerShdw>
          </a:effectLst>
        </p:grpSpPr>
        <p:sp>
          <p:nvSpPr>
            <p:cNvPr id="29" name="Hình chữ nhật 28">
              <a:extLst>
                <a:ext uri="{FF2B5EF4-FFF2-40B4-BE49-F238E27FC236}">
                  <a16:creationId xmlns:a16="http://schemas.microsoft.com/office/drawing/2014/main" id="{4D2D331F-83CD-B6EF-775E-3AC018BA5F91}"/>
                </a:ext>
              </a:extLst>
            </p:cNvPr>
            <p:cNvSpPr/>
            <p:nvPr/>
          </p:nvSpPr>
          <p:spPr>
            <a:xfrm rot="5400000">
              <a:off x="6700474" y="3914892"/>
              <a:ext cx="4401362" cy="1313418"/>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iCiel Cadena" panose="02000503000000020004" pitchFamily="2" charset="0"/>
              </a:endParaRPr>
            </a:p>
          </p:txBody>
        </p:sp>
        <p:sp>
          <p:nvSpPr>
            <p:cNvPr id="23" name="Hình thoi 22">
              <a:extLst>
                <a:ext uri="{FF2B5EF4-FFF2-40B4-BE49-F238E27FC236}">
                  <a16:creationId xmlns:a16="http://schemas.microsoft.com/office/drawing/2014/main" id="{598AF7BA-B728-27CB-1FBE-4F4B23679D3D}"/>
                </a:ext>
              </a:extLst>
            </p:cNvPr>
            <p:cNvSpPr/>
            <p:nvPr/>
          </p:nvSpPr>
          <p:spPr>
            <a:xfrm>
              <a:off x="8210593" y="1721106"/>
              <a:ext cx="1381125" cy="1381125"/>
            </a:xfrm>
            <a:prstGeom prst="diamond">
              <a:avLst/>
            </a:prstGeom>
            <a:solidFill>
              <a:srgbClr val="E9A1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pic>
          <p:nvPicPr>
            <p:cNvPr id="41" name="Hình ảnh 40">
              <a:extLst>
                <a:ext uri="{FF2B5EF4-FFF2-40B4-BE49-F238E27FC236}">
                  <a16:creationId xmlns:a16="http://schemas.microsoft.com/office/drawing/2014/main" id="{B887F3AD-CA03-CC2B-3C73-34451B4A57DB}"/>
                </a:ext>
              </a:extLst>
            </p:cNvPr>
            <p:cNvPicPr>
              <a:picLocks noChangeAspect="1"/>
            </p:cNvPicPr>
            <p:nvPr/>
          </p:nvPicPr>
          <p:blipFill>
            <a:blip r:embed="rId7"/>
            <a:stretch>
              <a:fillRect/>
            </a:stretch>
          </p:blipFill>
          <p:spPr>
            <a:xfrm>
              <a:off x="8562545" y="2089857"/>
              <a:ext cx="674831" cy="674831"/>
            </a:xfrm>
            <a:prstGeom prst="rect">
              <a:avLst/>
            </a:prstGeom>
          </p:spPr>
        </p:pic>
        <p:sp>
          <p:nvSpPr>
            <p:cNvPr id="48" name="Hộp Văn bản 47">
              <a:extLst>
                <a:ext uri="{FF2B5EF4-FFF2-40B4-BE49-F238E27FC236}">
                  <a16:creationId xmlns:a16="http://schemas.microsoft.com/office/drawing/2014/main" id="{E11FDFE8-46D2-70E8-F4DA-1E16056D62A4}"/>
                </a:ext>
              </a:extLst>
            </p:cNvPr>
            <p:cNvSpPr txBox="1"/>
            <p:nvPr/>
          </p:nvSpPr>
          <p:spPr>
            <a:xfrm>
              <a:off x="8392211" y="3792794"/>
              <a:ext cx="1015497" cy="1477328"/>
            </a:xfrm>
            <a:prstGeom prst="rect">
              <a:avLst/>
            </a:prstGeom>
            <a:noFill/>
          </p:spPr>
          <p:txBody>
            <a:bodyPr wrap="square" rtlCol="0">
              <a:spAutoFit/>
            </a:bodyPr>
            <a:lstStyle/>
            <a:p>
              <a:pPr algn="ctr"/>
              <a:r>
                <a:rPr lang="vi-VN" dirty="0">
                  <a:solidFill>
                    <a:schemeClr val="accent2">
                      <a:lumMod val="60000"/>
                      <a:lumOff val="40000"/>
                    </a:schemeClr>
                  </a:solidFill>
                  <a:latin typeface="iCiel Cadena" panose="02000503000000020004" pitchFamily="2" charset="0"/>
                </a:rPr>
                <a:t>QUẢNG CÁO, GIẢI TRÍ TRỰC TUYẾN</a:t>
              </a:r>
            </a:p>
          </p:txBody>
        </p:sp>
      </p:grpSp>
      <p:grpSp>
        <p:nvGrpSpPr>
          <p:cNvPr id="12" name="Nhóm 11">
            <a:extLst>
              <a:ext uri="{FF2B5EF4-FFF2-40B4-BE49-F238E27FC236}">
                <a16:creationId xmlns:a16="http://schemas.microsoft.com/office/drawing/2014/main" id="{EA6FD233-C98D-3039-FF69-C65A54912459}"/>
              </a:ext>
            </a:extLst>
          </p:cNvPr>
          <p:cNvGrpSpPr/>
          <p:nvPr/>
        </p:nvGrpSpPr>
        <p:grpSpPr>
          <a:xfrm>
            <a:off x="10268669" y="394492"/>
            <a:ext cx="1381125" cy="6069016"/>
            <a:chOff x="10115571" y="703263"/>
            <a:chExt cx="1381125" cy="6069016"/>
          </a:xfrm>
          <a:effectLst>
            <a:outerShdw blurRad="63500" sx="102000" sy="102000" algn="ctr" rotWithShape="0">
              <a:prstClr val="black">
                <a:alpha val="40000"/>
              </a:prstClr>
            </a:outerShdw>
          </a:effectLst>
        </p:grpSpPr>
        <p:sp>
          <p:nvSpPr>
            <p:cNvPr id="30" name="Hình chữ nhật 29">
              <a:extLst>
                <a:ext uri="{FF2B5EF4-FFF2-40B4-BE49-F238E27FC236}">
                  <a16:creationId xmlns:a16="http://schemas.microsoft.com/office/drawing/2014/main" id="{3D9F3018-4A25-8F39-7C2F-ACEAC6C8E196}"/>
                </a:ext>
              </a:extLst>
            </p:cNvPr>
            <p:cNvSpPr/>
            <p:nvPr/>
          </p:nvSpPr>
          <p:spPr>
            <a:xfrm rot="5400000">
              <a:off x="8114832" y="3426344"/>
              <a:ext cx="5378453" cy="13134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iCiel Cadena" panose="02000503000000020004" pitchFamily="2" charset="0"/>
              </a:endParaRPr>
            </a:p>
          </p:txBody>
        </p:sp>
        <p:sp>
          <p:nvSpPr>
            <p:cNvPr id="24" name="Hình thoi 23">
              <a:extLst>
                <a:ext uri="{FF2B5EF4-FFF2-40B4-BE49-F238E27FC236}">
                  <a16:creationId xmlns:a16="http://schemas.microsoft.com/office/drawing/2014/main" id="{8B591ABB-9782-9997-F5BC-5CA5BC95405F}"/>
                </a:ext>
              </a:extLst>
            </p:cNvPr>
            <p:cNvSpPr/>
            <p:nvPr/>
          </p:nvSpPr>
          <p:spPr>
            <a:xfrm>
              <a:off x="10115571" y="703263"/>
              <a:ext cx="1381125" cy="1381125"/>
            </a:xfrm>
            <a:prstGeom prst="diamond">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iCiel Cadena" panose="02000503000000020004" pitchFamily="2" charset="0"/>
              </a:endParaRPr>
            </a:p>
          </p:txBody>
        </p:sp>
        <p:pic>
          <p:nvPicPr>
            <p:cNvPr id="43" name="Hình ảnh 42">
              <a:extLst>
                <a:ext uri="{FF2B5EF4-FFF2-40B4-BE49-F238E27FC236}">
                  <a16:creationId xmlns:a16="http://schemas.microsoft.com/office/drawing/2014/main" id="{F81D8B33-9843-DA51-2258-2826CCFD7845}"/>
                </a:ext>
              </a:extLst>
            </p:cNvPr>
            <p:cNvPicPr>
              <a:picLocks noChangeAspect="1"/>
            </p:cNvPicPr>
            <p:nvPr/>
          </p:nvPicPr>
          <p:blipFill>
            <a:blip r:embed="rId8"/>
            <a:stretch>
              <a:fillRect/>
            </a:stretch>
          </p:blipFill>
          <p:spPr>
            <a:xfrm>
              <a:off x="10479919" y="1066485"/>
              <a:ext cx="648277" cy="648277"/>
            </a:xfrm>
            <a:prstGeom prst="rect">
              <a:avLst/>
            </a:prstGeom>
          </p:spPr>
        </p:pic>
        <p:sp>
          <p:nvSpPr>
            <p:cNvPr id="49" name="Hộp Văn bản 48">
              <a:extLst>
                <a:ext uri="{FF2B5EF4-FFF2-40B4-BE49-F238E27FC236}">
                  <a16:creationId xmlns:a16="http://schemas.microsoft.com/office/drawing/2014/main" id="{C1D38F15-9075-0427-92CD-582D17906774}"/>
                </a:ext>
              </a:extLst>
            </p:cNvPr>
            <p:cNvSpPr txBox="1"/>
            <p:nvPr/>
          </p:nvSpPr>
          <p:spPr>
            <a:xfrm>
              <a:off x="10341441" y="2946400"/>
              <a:ext cx="925232" cy="1754326"/>
            </a:xfrm>
            <a:prstGeom prst="rect">
              <a:avLst/>
            </a:prstGeom>
            <a:noFill/>
          </p:spPr>
          <p:txBody>
            <a:bodyPr wrap="square" rtlCol="0">
              <a:spAutoFit/>
            </a:bodyPr>
            <a:lstStyle/>
            <a:p>
              <a:pPr algn="ctr"/>
              <a:r>
                <a:rPr lang="vi-VN" dirty="0">
                  <a:solidFill>
                    <a:srgbClr val="FFC000"/>
                  </a:solidFill>
                  <a:latin typeface="iCiel Cadena" panose="02000503000000020004" pitchFamily="2" charset="0"/>
                </a:rPr>
                <a:t>ĐÀO TẠO, DẠY HỌC TRƯỢC TUYẾN</a:t>
              </a:r>
            </a:p>
          </p:txBody>
        </p:sp>
      </p:grpSp>
      <p:pic>
        <p:nvPicPr>
          <p:cNvPr id="18" name="Hình ảnh 17">
            <a:extLst>
              <a:ext uri="{FF2B5EF4-FFF2-40B4-BE49-F238E27FC236}">
                <a16:creationId xmlns:a16="http://schemas.microsoft.com/office/drawing/2014/main" id="{08A8F561-6ACF-122F-C0E9-00D471D9798A}"/>
              </a:ext>
            </a:extLst>
          </p:cNvPr>
          <p:cNvPicPr>
            <a:picLocks noChangeAspect="1"/>
          </p:cNvPicPr>
          <p:nvPr/>
        </p:nvPicPr>
        <p:blipFill>
          <a:blip r:embed="rId9"/>
          <a:stretch>
            <a:fillRect/>
          </a:stretch>
        </p:blipFill>
        <p:spPr>
          <a:xfrm>
            <a:off x="11688351" y="6346275"/>
            <a:ext cx="429184" cy="405859"/>
          </a:xfrm>
          <a:prstGeom prst="rect">
            <a:avLst/>
          </a:prstGeom>
        </p:spPr>
      </p:pic>
    </p:spTree>
    <p:extLst>
      <p:ext uri="{BB962C8B-B14F-4D97-AF65-F5344CB8AC3E}">
        <p14:creationId xmlns:p14="http://schemas.microsoft.com/office/powerpoint/2010/main" val="2597147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3A25B93-584C-4E93-3D2D-396AD06707B0}"/>
              </a:ext>
            </a:extLst>
          </p:cNvPr>
          <p:cNvSpPr>
            <a:spLocks noGrp="1"/>
          </p:cNvSpPr>
          <p:nvPr>
            <p:ph type="title"/>
          </p:nvPr>
        </p:nvSpPr>
        <p:spPr/>
        <p:txBody>
          <a:bodyPr/>
          <a:lstStyle/>
          <a:p>
            <a:endParaRPr lang="vi-VN" dirty="0"/>
          </a:p>
        </p:txBody>
      </p:sp>
      <p:sp>
        <p:nvSpPr>
          <p:cNvPr id="3" name="Chỗ dành sẵn cho Nội dung 2">
            <a:extLst>
              <a:ext uri="{FF2B5EF4-FFF2-40B4-BE49-F238E27FC236}">
                <a16:creationId xmlns:a16="http://schemas.microsoft.com/office/drawing/2014/main" id="{5173D13C-5519-E97C-465F-79C549EF61BA}"/>
              </a:ext>
            </a:extLst>
          </p:cNvPr>
          <p:cNvSpPr>
            <a:spLocks noGrp="1"/>
          </p:cNvSpPr>
          <p:nvPr>
            <p:ph idx="1"/>
          </p:nvPr>
        </p:nvSpPr>
        <p:spPr/>
        <p:txBody>
          <a:bodyPr/>
          <a:lstStyle/>
          <a:p>
            <a:endParaRPr lang="vi-VN"/>
          </a:p>
        </p:txBody>
      </p:sp>
      <p:sp>
        <p:nvSpPr>
          <p:cNvPr id="4" name="Hình chữ nhật 3">
            <a:extLst>
              <a:ext uri="{FF2B5EF4-FFF2-40B4-BE49-F238E27FC236}">
                <a16:creationId xmlns:a16="http://schemas.microsoft.com/office/drawing/2014/main" id="{E1A3C9B7-BFCA-5470-5F0A-AB4E520A9BAA}"/>
              </a:ext>
            </a:extLst>
          </p:cNvPr>
          <p:cNvSpPr/>
          <p:nvPr/>
        </p:nvSpPr>
        <p:spPr>
          <a:xfrm>
            <a:off x="4526"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8" name="Hình chữ nhật: Góc Tròn 7">
            <a:extLst>
              <a:ext uri="{FF2B5EF4-FFF2-40B4-BE49-F238E27FC236}">
                <a16:creationId xmlns:a16="http://schemas.microsoft.com/office/drawing/2014/main" id="{9904144B-B103-B58E-3F7A-997391C0CD61}"/>
              </a:ext>
            </a:extLst>
          </p:cNvPr>
          <p:cNvSpPr/>
          <p:nvPr/>
        </p:nvSpPr>
        <p:spPr>
          <a:xfrm>
            <a:off x="461727" y="230863"/>
            <a:ext cx="4237022" cy="516048"/>
          </a:xfrm>
          <a:prstGeom prst="roundRect">
            <a:avLst/>
          </a:prstGeom>
          <a:solidFill>
            <a:srgbClr val="F6BA6F"/>
          </a:solidFill>
          <a:effectLst>
            <a:outerShdw blurRad="63500" sx="102000" sy="102000" algn="ctr"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vi-VN" dirty="0">
                <a:solidFill>
                  <a:srgbClr val="C00000"/>
                </a:solidFill>
                <a:latin typeface="iCiel Cadena" panose="02000503000000020004" pitchFamily="2" charset="0"/>
              </a:rPr>
              <a:t>TÌM HIỂU VỀ THƯƠNG MẠI ĐIỆN TỬ:</a:t>
            </a:r>
          </a:p>
        </p:txBody>
      </p:sp>
      <p:sp>
        <p:nvSpPr>
          <p:cNvPr id="9" name="Hình chữ nhật: Cắt Góc Chéo 8">
            <a:extLst>
              <a:ext uri="{FF2B5EF4-FFF2-40B4-BE49-F238E27FC236}">
                <a16:creationId xmlns:a16="http://schemas.microsoft.com/office/drawing/2014/main" id="{461C2CF9-74D2-71B3-2AD5-9649BD3D74D3}"/>
              </a:ext>
            </a:extLst>
          </p:cNvPr>
          <p:cNvSpPr/>
          <p:nvPr/>
        </p:nvSpPr>
        <p:spPr>
          <a:xfrm>
            <a:off x="296007" y="963997"/>
            <a:ext cx="11455392" cy="5509432"/>
          </a:xfrm>
          <a:prstGeom prst="snip2DiagRect">
            <a:avLst>
              <a:gd name="adj1" fmla="val 0"/>
              <a:gd name="adj2" fmla="val 8174"/>
            </a:avLst>
          </a:prstGeom>
          <a:solidFill>
            <a:srgbClr val="EAFDFC"/>
          </a:solidFill>
          <a:ln w="12700"/>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ình thoi 5">
            <a:extLst>
              <a:ext uri="{FF2B5EF4-FFF2-40B4-BE49-F238E27FC236}">
                <a16:creationId xmlns:a16="http://schemas.microsoft.com/office/drawing/2014/main" id="{D7D94A67-4530-97A7-3CCE-8E6BE17E8471}"/>
              </a:ext>
            </a:extLst>
          </p:cNvPr>
          <p:cNvSpPr/>
          <p:nvPr/>
        </p:nvSpPr>
        <p:spPr>
          <a:xfrm>
            <a:off x="176544" y="108641"/>
            <a:ext cx="760491" cy="760491"/>
          </a:xfrm>
          <a:prstGeom prst="diamond">
            <a:avLst/>
          </a:prstGeom>
          <a:solidFill>
            <a:srgbClr val="1F4E79"/>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2</a:t>
            </a:r>
          </a:p>
        </p:txBody>
      </p:sp>
      <p:grpSp>
        <p:nvGrpSpPr>
          <p:cNvPr id="5" name="Nhóm 4">
            <a:extLst>
              <a:ext uri="{FF2B5EF4-FFF2-40B4-BE49-F238E27FC236}">
                <a16:creationId xmlns:a16="http://schemas.microsoft.com/office/drawing/2014/main" id="{D66392FE-982D-5013-693F-0F7A20A19A1F}"/>
              </a:ext>
            </a:extLst>
          </p:cNvPr>
          <p:cNvGrpSpPr/>
          <p:nvPr/>
        </p:nvGrpSpPr>
        <p:grpSpPr>
          <a:xfrm>
            <a:off x="3304515" y="1119471"/>
            <a:ext cx="7767873" cy="2058492"/>
            <a:chOff x="3304515" y="1119471"/>
            <a:chExt cx="7767873" cy="2058492"/>
          </a:xfrm>
        </p:grpSpPr>
        <p:cxnSp>
          <p:nvCxnSpPr>
            <p:cNvPr id="60" name="Đường kết nối: Cong 59">
              <a:extLst>
                <a:ext uri="{FF2B5EF4-FFF2-40B4-BE49-F238E27FC236}">
                  <a16:creationId xmlns:a16="http://schemas.microsoft.com/office/drawing/2014/main" id="{75105F02-C642-7FB7-A14A-A24537844D63}"/>
                </a:ext>
              </a:extLst>
            </p:cNvPr>
            <p:cNvCxnSpPr>
              <a:cxnSpLocks/>
            </p:cNvCxnSpPr>
            <p:nvPr/>
          </p:nvCxnSpPr>
          <p:spPr>
            <a:xfrm flipV="1">
              <a:off x="3304515" y="1448784"/>
              <a:ext cx="2308634" cy="1729179"/>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Hình chữ nhật: Góc Tròn 14">
              <a:extLst>
                <a:ext uri="{FF2B5EF4-FFF2-40B4-BE49-F238E27FC236}">
                  <a16:creationId xmlns:a16="http://schemas.microsoft.com/office/drawing/2014/main" id="{98A71031-A38F-8406-7FBE-812C50A30E3C}"/>
                </a:ext>
              </a:extLst>
            </p:cNvPr>
            <p:cNvSpPr/>
            <p:nvPr/>
          </p:nvSpPr>
          <p:spPr>
            <a:xfrm>
              <a:off x="5868678" y="1206654"/>
              <a:ext cx="5203710" cy="640248"/>
            </a:xfrm>
            <a:prstGeom prst="roundRect">
              <a:avLst/>
            </a:prstGeom>
            <a:solidFill>
              <a:srgbClr val="0070C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C00000"/>
                </a:solidFill>
              </a:endParaRPr>
            </a:p>
          </p:txBody>
        </p:sp>
        <p:sp>
          <p:nvSpPr>
            <p:cNvPr id="12" name="Hộp Văn bản 11">
              <a:extLst>
                <a:ext uri="{FF2B5EF4-FFF2-40B4-BE49-F238E27FC236}">
                  <a16:creationId xmlns:a16="http://schemas.microsoft.com/office/drawing/2014/main" id="{F0AC6209-C8FC-F4FF-3A91-EC759863FE44}"/>
                </a:ext>
              </a:extLst>
            </p:cNvPr>
            <p:cNvSpPr txBox="1"/>
            <p:nvPr/>
          </p:nvSpPr>
          <p:spPr>
            <a:xfrm>
              <a:off x="6259723" y="1244522"/>
              <a:ext cx="4722130" cy="584775"/>
            </a:xfrm>
            <a:prstGeom prst="rect">
              <a:avLst/>
            </a:prstGeom>
            <a:noFill/>
          </p:spPr>
          <p:txBody>
            <a:bodyPr wrap="square" rtlCol="0">
              <a:spAutoFit/>
            </a:bodyPr>
            <a:lstStyle/>
            <a:p>
              <a:r>
                <a:rPr lang="vi-VN" sz="1600" dirty="0">
                  <a:solidFill>
                    <a:schemeClr val="bg1"/>
                  </a:solidFill>
                  <a:latin typeface="iCiel Cadena" panose="02000503000000020004" pitchFamily="2" charset="0"/>
                </a:rPr>
                <a:t>Biên lợi nhuận cao với chi phí sản xuất giữ nguyên dù bán nhiều hay ít</a:t>
              </a:r>
            </a:p>
          </p:txBody>
        </p:sp>
        <p:sp>
          <p:nvSpPr>
            <p:cNvPr id="52" name="Một phần Hình tròn 51">
              <a:extLst>
                <a:ext uri="{FF2B5EF4-FFF2-40B4-BE49-F238E27FC236}">
                  <a16:creationId xmlns:a16="http://schemas.microsoft.com/office/drawing/2014/main" id="{A62393F0-B923-04B7-74BE-C8C55065D9B1}"/>
                </a:ext>
              </a:extLst>
            </p:cNvPr>
            <p:cNvSpPr/>
            <p:nvPr/>
          </p:nvSpPr>
          <p:spPr>
            <a:xfrm rot="2738780">
              <a:off x="5666718" y="1136851"/>
              <a:ext cx="809537" cy="774778"/>
            </a:xfrm>
            <a:prstGeom prst="pie">
              <a:avLst/>
            </a:prstGeom>
            <a:solidFill>
              <a:srgbClr val="FFFF0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solidFill>
                  <a:srgbClr val="C00000"/>
                </a:solidFill>
              </a:endParaRPr>
            </a:p>
          </p:txBody>
        </p:sp>
      </p:grpSp>
      <p:grpSp>
        <p:nvGrpSpPr>
          <p:cNvPr id="18" name="Nhóm 17">
            <a:extLst>
              <a:ext uri="{FF2B5EF4-FFF2-40B4-BE49-F238E27FC236}">
                <a16:creationId xmlns:a16="http://schemas.microsoft.com/office/drawing/2014/main" id="{0BF0AE36-D25A-FA86-13E2-20CFADC4B061}"/>
              </a:ext>
            </a:extLst>
          </p:cNvPr>
          <p:cNvGrpSpPr/>
          <p:nvPr/>
        </p:nvGrpSpPr>
        <p:grpSpPr>
          <a:xfrm>
            <a:off x="3404103" y="4427145"/>
            <a:ext cx="7665904" cy="1890809"/>
            <a:chOff x="3404103" y="4427145"/>
            <a:chExt cx="7665904" cy="1890809"/>
          </a:xfrm>
        </p:grpSpPr>
        <p:cxnSp>
          <p:nvCxnSpPr>
            <p:cNvPr id="69" name="Đường kết nối: Cong 68">
              <a:extLst>
                <a:ext uri="{FF2B5EF4-FFF2-40B4-BE49-F238E27FC236}">
                  <a16:creationId xmlns:a16="http://schemas.microsoft.com/office/drawing/2014/main" id="{20F9A270-C25D-C881-D84F-8D6F8002F2C1}"/>
                </a:ext>
              </a:extLst>
            </p:cNvPr>
            <p:cNvCxnSpPr>
              <a:cxnSpLocks/>
            </p:cNvCxnSpPr>
            <p:nvPr/>
          </p:nvCxnSpPr>
          <p:spPr>
            <a:xfrm>
              <a:off x="3404103" y="4427145"/>
              <a:ext cx="2209046" cy="1527928"/>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42" name="Nhóm 41">
              <a:extLst>
                <a:ext uri="{FF2B5EF4-FFF2-40B4-BE49-F238E27FC236}">
                  <a16:creationId xmlns:a16="http://schemas.microsoft.com/office/drawing/2014/main" id="{7169FAD7-1F39-E0D0-411B-752FE23B7932}"/>
                </a:ext>
              </a:extLst>
            </p:cNvPr>
            <p:cNvGrpSpPr/>
            <p:nvPr/>
          </p:nvGrpSpPr>
          <p:grpSpPr>
            <a:xfrm>
              <a:off x="5868676" y="5587476"/>
              <a:ext cx="5201331" cy="640248"/>
              <a:chOff x="5632577" y="1292510"/>
              <a:chExt cx="5052491" cy="663229"/>
            </a:xfrm>
            <a:effectLst>
              <a:outerShdw blurRad="63500" sx="102000" sy="102000" algn="ctr" rotWithShape="0">
                <a:prstClr val="black">
                  <a:alpha val="40000"/>
                </a:prstClr>
              </a:outerShdw>
            </a:effectLst>
          </p:grpSpPr>
          <p:sp>
            <p:nvSpPr>
              <p:cNvPr id="43" name="Hình chữ nhật: Góc Tròn 42">
                <a:extLst>
                  <a:ext uri="{FF2B5EF4-FFF2-40B4-BE49-F238E27FC236}">
                    <a16:creationId xmlns:a16="http://schemas.microsoft.com/office/drawing/2014/main" id="{A2BB84E9-D1FA-15CA-C474-E07D42AFCD7E}"/>
                  </a:ext>
                </a:extLst>
              </p:cNvPr>
              <p:cNvSpPr/>
              <p:nvPr/>
            </p:nvSpPr>
            <p:spPr>
              <a:xfrm>
                <a:off x="5632577" y="1292510"/>
                <a:ext cx="5052491" cy="66322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bg1"/>
                  </a:solidFill>
                </a:endParaRPr>
              </a:p>
            </p:txBody>
          </p:sp>
          <p:sp>
            <p:nvSpPr>
              <p:cNvPr id="44" name="Hộp Văn bản 43">
                <a:extLst>
                  <a:ext uri="{FF2B5EF4-FFF2-40B4-BE49-F238E27FC236}">
                    <a16:creationId xmlns:a16="http://schemas.microsoft.com/office/drawing/2014/main" id="{991CAEE0-80D9-DD0C-978D-D8AC1AF0B1EC}"/>
                  </a:ext>
                </a:extLst>
              </p:cNvPr>
              <p:cNvSpPr txBox="1"/>
              <p:nvPr/>
            </p:nvSpPr>
            <p:spPr>
              <a:xfrm>
                <a:off x="5996132" y="1331736"/>
                <a:ext cx="4603303" cy="605765"/>
              </a:xfrm>
              <a:prstGeom prst="rect">
                <a:avLst/>
              </a:prstGeom>
              <a:noFill/>
            </p:spPr>
            <p:txBody>
              <a:bodyPr wrap="square" rtlCol="0">
                <a:spAutoFit/>
              </a:bodyPr>
              <a:lstStyle/>
              <a:p>
                <a:r>
                  <a:rPr lang="vi-VN" sz="1600" dirty="0">
                    <a:solidFill>
                      <a:schemeClr val="bg1"/>
                    </a:solidFill>
                    <a:latin typeface="iCiel Cadena" panose="02000503000000020004" pitchFamily="2" charset="0"/>
                    <a:ea typeface="Arial" panose="020B0604020202020204" pitchFamily="34" charset="0"/>
                    <a:cs typeface="Times New Roman" panose="02020603050405020304" pitchFamily="18" charset="0"/>
                  </a:rPr>
                  <a:t>C</a:t>
                </a:r>
                <a:r>
                  <a:rPr lang="vi-VN" sz="1600" dirty="0">
                    <a:solidFill>
                      <a:schemeClr val="bg1"/>
                    </a:solidFill>
                    <a:effectLst/>
                    <a:latin typeface="iCiel Cadena" panose="02000503000000020004" pitchFamily="2" charset="0"/>
                    <a:ea typeface="Arial" panose="020B0604020202020204" pitchFamily="34" charset="0"/>
                    <a:cs typeface="Times New Roman" panose="02020603050405020304" pitchFamily="18" charset="0"/>
                  </a:rPr>
                  <a:t>ó chi phí hoạt động thấp hơn so với hình thức bán hàng trực tiếp</a:t>
                </a:r>
                <a:endParaRPr lang="vi-VN" sz="1600" dirty="0">
                  <a:solidFill>
                    <a:schemeClr val="bg1"/>
                  </a:solidFill>
                  <a:latin typeface="iCiel Cadena" panose="02000503000000020004" pitchFamily="2" charset="0"/>
                </a:endParaRPr>
              </a:p>
            </p:txBody>
          </p:sp>
        </p:grpSp>
        <p:sp>
          <p:nvSpPr>
            <p:cNvPr id="56" name="Một phần Hình tròn 55">
              <a:extLst>
                <a:ext uri="{FF2B5EF4-FFF2-40B4-BE49-F238E27FC236}">
                  <a16:creationId xmlns:a16="http://schemas.microsoft.com/office/drawing/2014/main" id="{DD9C6780-68D6-2780-D0BE-E26DA7E8C51A}"/>
                </a:ext>
              </a:extLst>
            </p:cNvPr>
            <p:cNvSpPr/>
            <p:nvPr/>
          </p:nvSpPr>
          <p:spPr>
            <a:xfrm rot="2738780">
              <a:off x="5665579" y="5525797"/>
              <a:ext cx="809537" cy="774778"/>
            </a:xfrm>
            <a:prstGeom prst="pie">
              <a:avLst/>
            </a:prstGeom>
            <a:solidFill>
              <a:srgbClr val="FF99FF"/>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grpSp>
      <p:sp>
        <p:nvSpPr>
          <p:cNvPr id="10" name="Hình chữ nhật: Góc Tròn 9">
            <a:extLst>
              <a:ext uri="{FF2B5EF4-FFF2-40B4-BE49-F238E27FC236}">
                <a16:creationId xmlns:a16="http://schemas.microsoft.com/office/drawing/2014/main" id="{217571FD-C8F4-AAEF-D258-BF05A9B835AE}"/>
              </a:ext>
            </a:extLst>
          </p:cNvPr>
          <p:cNvSpPr/>
          <p:nvPr/>
        </p:nvSpPr>
        <p:spPr>
          <a:xfrm>
            <a:off x="2275166" y="3073479"/>
            <a:ext cx="1797113" cy="1424315"/>
          </a:xfrm>
          <a:prstGeom prst="roundRect">
            <a:avLst/>
          </a:prstGeom>
          <a:solidFill>
            <a:srgbClr val="C0000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ƯU ĐIỂM CỦA THƯƠNG MẠI ĐIỆN TỬ</a:t>
            </a:r>
          </a:p>
        </p:txBody>
      </p:sp>
      <p:grpSp>
        <p:nvGrpSpPr>
          <p:cNvPr id="7" name="Nhóm 6">
            <a:extLst>
              <a:ext uri="{FF2B5EF4-FFF2-40B4-BE49-F238E27FC236}">
                <a16:creationId xmlns:a16="http://schemas.microsoft.com/office/drawing/2014/main" id="{059F2B5A-8489-B3EE-D6AA-CBD2DCE01563}"/>
              </a:ext>
            </a:extLst>
          </p:cNvPr>
          <p:cNvGrpSpPr/>
          <p:nvPr/>
        </p:nvGrpSpPr>
        <p:grpSpPr>
          <a:xfrm>
            <a:off x="4072279" y="2212951"/>
            <a:ext cx="6997728" cy="1252562"/>
            <a:chOff x="4072279" y="2212951"/>
            <a:chExt cx="6997728" cy="1252562"/>
          </a:xfrm>
        </p:grpSpPr>
        <p:grpSp>
          <p:nvGrpSpPr>
            <p:cNvPr id="45" name="Nhóm 44">
              <a:extLst>
                <a:ext uri="{FF2B5EF4-FFF2-40B4-BE49-F238E27FC236}">
                  <a16:creationId xmlns:a16="http://schemas.microsoft.com/office/drawing/2014/main" id="{6A9C47DB-4186-44A4-2CC2-63D948478DE6}"/>
                </a:ext>
              </a:extLst>
            </p:cNvPr>
            <p:cNvGrpSpPr/>
            <p:nvPr/>
          </p:nvGrpSpPr>
          <p:grpSpPr>
            <a:xfrm>
              <a:off x="5868675" y="2289378"/>
              <a:ext cx="5201332" cy="640248"/>
              <a:chOff x="5632577" y="1292510"/>
              <a:chExt cx="5052491" cy="663229"/>
            </a:xfrm>
            <a:solidFill>
              <a:srgbClr val="00B050"/>
            </a:solidFill>
            <a:effectLst>
              <a:outerShdw blurRad="63500" sx="102000" sy="102000" algn="ctr" rotWithShape="0">
                <a:prstClr val="black">
                  <a:alpha val="40000"/>
                </a:prstClr>
              </a:outerShdw>
            </a:effectLst>
          </p:grpSpPr>
          <p:sp>
            <p:nvSpPr>
              <p:cNvPr id="46" name="Hình chữ nhật: Góc Tròn 45">
                <a:extLst>
                  <a:ext uri="{FF2B5EF4-FFF2-40B4-BE49-F238E27FC236}">
                    <a16:creationId xmlns:a16="http://schemas.microsoft.com/office/drawing/2014/main" id="{74EED2C3-F84B-C24D-E17C-C45BD9AB9056}"/>
                  </a:ext>
                </a:extLst>
              </p:cNvPr>
              <p:cNvSpPr/>
              <p:nvPr/>
            </p:nvSpPr>
            <p:spPr>
              <a:xfrm>
                <a:off x="5632577" y="1292510"/>
                <a:ext cx="5052491" cy="66322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bg1"/>
                  </a:solidFill>
                </a:endParaRPr>
              </a:p>
            </p:txBody>
          </p:sp>
          <p:sp>
            <p:nvSpPr>
              <p:cNvPr id="47" name="Hộp Văn bản 46">
                <a:extLst>
                  <a:ext uri="{FF2B5EF4-FFF2-40B4-BE49-F238E27FC236}">
                    <a16:creationId xmlns:a16="http://schemas.microsoft.com/office/drawing/2014/main" id="{AB27A3A2-9746-6266-22F6-F6420BDCA1AC}"/>
                  </a:ext>
                </a:extLst>
              </p:cNvPr>
              <p:cNvSpPr txBox="1"/>
              <p:nvPr/>
            </p:nvSpPr>
            <p:spPr>
              <a:xfrm>
                <a:off x="5996133" y="1331736"/>
                <a:ext cx="4603304" cy="605765"/>
              </a:xfrm>
              <a:prstGeom prst="rect">
                <a:avLst/>
              </a:prstGeom>
              <a:grpFill/>
            </p:spPr>
            <p:txBody>
              <a:bodyPr wrap="square" rtlCol="0">
                <a:spAutoFit/>
              </a:bodyPr>
              <a:lstStyle/>
              <a:p>
                <a:r>
                  <a:rPr lang="vi-VN" sz="1600" dirty="0">
                    <a:solidFill>
                      <a:schemeClr val="bg1"/>
                    </a:solidFill>
                    <a:latin typeface="iCiel Cadena" panose="02000503000000020004" pitchFamily="2" charset="0"/>
                  </a:rPr>
                  <a:t>Tìm kiếm được rất nhiều mặt hàng trên sàn thương mại mà các nơi bán trực tiếp không có</a:t>
                </a:r>
              </a:p>
            </p:txBody>
          </p:sp>
        </p:grpSp>
        <p:sp>
          <p:nvSpPr>
            <p:cNvPr id="53" name="Một phần Hình tròn 52">
              <a:extLst>
                <a:ext uri="{FF2B5EF4-FFF2-40B4-BE49-F238E27FC236}">
                  <a16:creationId xmlns:a16="http://schemas.microsoft.com/office/drawing/2014/main" id="{17E274B1-A4F0-EDC4-B4C3-5E6F4822DC9F}"/>
                </a:ext>
              </a:extLst>
            </p:cNvPr>
            <p:cNvSpPr/>
            <p:nvPr/>
          </p:nvSpPr>
          <p:spPr>
            <a:xfrm rot="2738780">
              <a:off x="5651041" y="2230331"/>
              <a:ext cx="809537" cy="774778"/>
            </a:xfrm>
            <a:prstGeom prst="pie">
              <a:avLst/>
            </a:prstGeom>
            <a:solidFill>
              <a:srgbClr val="E6E6E6"/>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solidFill>
                  <a:schemeClr val="tx1"/>
                </a:solidFill>
              </a:endParaRPr>
            </a:p>
          </p:txBody>
        </p:sp>
        <p:cxnSp>
          <p:nvCxnSpPr>
            <p:cNvPr id="62" name="Đường kết nối: Cong 61">
              <a:extLst>
                <a:ext uri="{FF2B5EF4-FFF2-40B4-BE49-F238E27FC236}">
                  <a16:creationId xmlns:a16="http://schemas.microsoft.com/office/drawing/2014/main" id="{8A947485-56D7-2DC4-AD27-88F386828BEB}"/>
                </a:ext>
              </a:extLst>
            </p:cNvPr>
            <p:cNvCxnSpPr>
              <a:cxnSpLocks/>
            </p:cNvCxnSpPr>
            <p:nvPr/>
          </p:nvCxnSpPr>
          <p:spPr>
            <a:xfrm flipV="1">
              <a:off x="4072279" y="2617720"/>
              <a:ext cx="1512603" cy="847793"/>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4" name="Nhóm 13">
            <a:extLst>
              <a:ext uri="{FF2B5EF4-FFF2-40B4-BE49-F238E27FC236}">
                <a16:creationId xmlns:a16="http://schemas.microsoft.com/office/drawing/2014/main" id="{8A2FDBC6-A128-28DD-ECF8-B0CC0B28A80B}"/>
              </a:ext>
            </a:extLst>
          </p:cNvPr>
          <p:cNvGrpSpPr/>
          <p:nvPr/>
        </p:nvGrpSpPr>
        <p:grpSpPr>
          <a:xfrm>
            <a:off x="4072279" y="3380868"/>
            <a:ext cx="6997729" cy="809537"/>
            <a:chOff x="4072279" y="3380868"/>
            <a:chExt cx="6997729" cy="809537"/>
          </a:xfrm>
        </p:grpSpPr>
        <p:grpSp>
          <p:nvGrpSpPr>
            <p:cNvPr id="36" name="Nhóm 35">
              <a:extLst>
                <a:ext uri="{FF2B5EF4-FFF2-40B4-BE49-F238E27FC236}">
                  <a16:creationId xmlns:a16="http://schemas.microsoft.com/office/drawing/2014/main" id="{32C5A86D-2AC4-3B60-AC34-ED52959C7FB4}"/>
                </a:ext>
              </a:extLst>
            </p:cNvPr>
            <p:cNvGrpSpPr/>
            <p:nvPr/>
          </p:nvGrpSpPr>
          <p:grpSpPr>
            <a:xfrm>
              <a:off x="5868676" y="3465513"/>
              <a:ext cx="5201332" cy="640248"/>
              <a:chOff x="5632577" y="1292510"/>
              <a:chExt cx="5052491" cy="663229"/>
            </a:xfrm>
            <a:solidFill>
              <a:srgbClr val="FF0000"/>
            </a:solidFill>
            <a:effectLst>
              <a:outerShdw blurRad="63500" sx="102000" sy="102000" algn="ctr" rotWithShape="0">
                <a:prstClr val="black">
                  <a:alpha val="40000"/>
                </a:prstClr>
              </a:outerShdw>
            </a:effectLst>
          </p:grpSpPr>
          <p:sp>
            <p:nvSpPr>
              <p:cNvPr id="37" name="Hình chữ nhật: Góc Tròn 36">
                <a:extLst>
                  <a:ext uri="{FF2B5EF4-FFF2-40B4-BE49-F238E27FC236}">
                    <a16:creationId xmlns:a16="http://schemas.microsoft.com/office/drawing/2014/main" id="{2576EF18-E27C-C30B-2E06-C0EABCF1DA52}"/>
                  </a:ext>
                </a:extLst>
              </p:cNvPr>
              <p:cNvSpPr/>
              <p:nvPr/>
            </p:nvSpPr>
            <p:spPr>
              <a:xfrm>
                <a:off x="5632577" y="1292510"/>
                <a:ext cx="5052491" cy="66322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solidFill>
                    <a:schemeClr val="bg1"/>
                  </a:solidFill>
                </a:endParaRPr>
              </a:p>
            </p:txBody>
          </p:sp>
          <p:sp>
            <p:nvSpPr>
              <p:cNvPr id="38" name="Hộp Văn bản 37">
                <a:extLst>
                  <a:ext uri="{FF2B5EF4-FFF2-40B4-BE49-F238E27FC236}">
                    <a16:creationId xmlns:a16="http://schemas.microsoft.com/office/drawing/2014/main" id="{8A507625-41A8-0E82-9C21-61491CC87A6B}"/>
                  </a:ext>
                </a:extLst>
              </p:cNvPr>
              <p:cNvSpPr txBox="1"/>
              <p:nvPr/>
            </p:nvSpPr>
            <p:spPr>
              <a:xfrm>
                <a:off x="5996133" y="1331736"/>
                <a:ext cx="4603303" cy="605765"/>
              </a:xfrm>
              <a:prstGeom prst="rect">
                <a:avLst/>
              </a:prstGeom>
              <a:grpFill/>
            </p:spPr>
            <p:txBody>
              <a:bodyPr wrap="square" rtlCol="0">
                <a:spAutoFit/>
              </a:bodyPr>
              <a:lstStyle/>
              <a:p>
                <a:r>
                  <a:rPr lang="vi-VN" sz="1600" dirty="0">
                    <a:solidFill>
                      <a:schemeClr val="bg1"/>
                    </a:solidFill>
                    <a:latin typeface="iCiel Cadena" panose="02000503000000020004" pitchFamily="2" charset="0"/>
                  </a:rPr>
                  <a:t>Việc  đặt mua các sản phẩm trực tuyến ngày càng đơn giản và giao diện dễ tiếp cận người dùng</a:t>
                </a:r>
              </a:p>
            </p:txBody>
          </p:sp>
        </p:grpSp>
        <p:sp>
          <p:nvSpPr>
            <p:cNvPr id="54" name="Một phần Hình tròn 53">
              <a:extLst>
                <a:ext uri="{FF2B5EF4-FFF2-40B4-BE49-F238E27FC236}">
                  <a16:creationId xmlns:a16="http://schemas.microsoft.com/office/drawing/2014/main" id="{BC965845-C3F1-53FF-190A-6814AAE501B4}"/>
                </a:ext>
              </a:extLst>
            </p:cNvPr>
            <p:cNvSpPr/>
            <p:nvPr/>
          </p:nvSpPr>
          <p:spPr>
            <a:xfrm rot="2738780">
              <a:off x="5665580" y="3398248"/>
              <a:ext cx="809537" cy="774778"/>
            </a:xfrm>
            <a:prstGeom prst="pie">
              <a:avLst/>
            </a:prstGeom>
            <a:solidFill>
              <a:srgbClr val="00B0F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solidFill>
                  <a:schemeClr val="tx1"/>
                </a:solidFill>
              </a:endParaRPr>
            </a:p>
          </p:txBody>
        </p:sp>
        <p:cxnSp>
          <p:nvCxnSpPr>
            <p:cNvPr id="64" name="Đường kết nối Mũi tên Thẳng 63">
              <a:extLst>
                <a:ext uri="{FF2B5EF4-FFF2-40B4-BE49-F238E27FC236}">
                  <a16:creationId xmlns:a16="http://schemas.microsoft.com/office/drawing/2014/main" id="{24195B9B-2F68-D238-859A-E5174E28A12D}"/>
                </a:ext>
              </a:extLst>
            </p:cNvPr>
            <p:cNvCxnSpPr>
              <a:cxnSpLocks/>
            </p:cNvCxnSpPr>
            <p:nvPr/>
          </p:nvCxnSpPr>
          <p:spPr>
            <a:xfrm>
              <a:off x="4072279" y="3785636"/>
              <a:ext cx="151260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9" name="Nhóm 18">
            <a:extLst>
              <a:ext uri="{FF2B5EF4-FFF2-40B4-BE49-F238E27FC236}">
                <a16:creationId xmlns:a16="http://schemas.microsoft.com/office/drawing/2014/main" id="{AE340FFD-56A2-9113-E819-312427A9D4EB}"/>
              </a:ext>
            </a:extLst>
          </p:cNvPr>
          <p:cNvGrpSpPr/>
          <p:nvPr/>
        </p:nvGrpSpPr>
        <p:grpSpPr>
          <a:xfrm>
            <a:off x="4072279" y="4105761"/>
            <a:ext cx="6997728" cy="1147980"/>
            <a:chOff x="4072279" y="4105761"/>
            <a:chExt cx="6997728" cy="1147980"/>
          </a:xfrm>
        </p:grpSpPr>
        <p:sp>
          <p:nvSpPr>
            <p:cNvPr id="40" name="Hình chữ nhật: Góc Tròn 39">
              <a:extLst>
                <a:ext uri="{FF2B5EF4-FFF2-40B4-BE49-F238E27FC236}">
                  <a16:creationId xmlns:a16="http://schemas.microsoft.com/office/drawing/2014/main" id="{4DC601C3-A86E-9A66-179C-4DF949620699}"/>
                </a:ext>
              </a:extLst>
            </p:cNvPr>
            <p:cNvSpPr/>
            <p:nvPr/>
          </p:nvSpPr>
          <p:spPr>
            <a:xfrm>
              <a:off x="5868676" y="4537437"/>
              <a:ext cx="5201331" cy="640248"/>
            </a:xfrm>
            <a:prstGeom prst="roundRect">
              <a:avLst/>
            </a:prstGeom>
            <a:solidFill>
              <a:srgbClr val="00206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51" name="Hộp Văn bản 50">
              <a:extLst>
                <a:ext uri="{FF2B5EF4-FFF2-40B4-BE49-F238E27FC236}">
                  <a16:creationId xmlns:a16="http://schemas.microsoft.com/office/drawing/2014/main" id="{FEB17E1D-855E-6459-6593-5848CC650EA1}"/>
                </a:ext>
              </a:extLst>
            </p:cNvPr>
            <p:cNvSpPr txBox="1"/>
            <p:nvPr/>
          </p:nvSpPr>
          <p:spPr>
            <a:xfrm>
              <a:off x="6259723" y="4556586"/>
              <a:ext cx="4622542" cy="584775"/>
            </a:xfrm>
            <a:prstGeom prst="rect">
              <a:avLst/>
            </a:prstGeom>
            <a:noFill/>
          </p:spPr>
          <p:txBody>
            <a:bodyPr wrap="square">
              <a:spAutoFit/>
            </a:bodyPr>
            <a:lstStyle/>
            <a:p>
              <a:r>
                <a:rPr lang="vi-VN" sz="1600" dirty="0">
                  <a:solidFill>
                    <a:schemeClr val="bg1"/>
                  </a:solidFill>
                  <a:effectLst/>
                  <a:latin typeface="iCiel Cadena" panose="02000503000000020004" pitchFamily="2" charset="0"/>
                  <a:ea typeface="Arial" panose="020B0604020202020204" pitchFamily="34" charset="0"/>
                  <a:cs typeface="Times New Roman" panose="02020603050405020304" pitchFamily="18" charset="0"/>
                </a:rPr>
                <a:t>Sàn thương mại điện tử có thể hoạt động 24/7 và người mua có thể truy cập bất cứ lúc nào họ muốn</a:t>
              </a:r>
              <a:endParaRPr lang="vi-VN" sz="1600" dirty="0">
                <a:solidFill>
                  <a:schemeClr val="bg1"/>
                </a:solidFill>
                <a:latin typeface="iCiel Cadena" panose="02000503000000020004" pitchFamily="2" charset="0"/>
              </a:endParaRPr>
            </a:p>
          </p:txBody>
        </p:sp>
        <p:sp>
          <p:nvSpPr>
            <p:cNvPr id="55" name="Một phần Hình tròn 54">
              <a:extLst>
                <a:ext uri="{FF2B5EF4-FFF2-40B4-BE49-F238E27FC236}">
                  <a16:creationId xmlns:a16="http://schemas.microsoft.com/office/drawing/2014/main" id="{67C1A7BD-48AD-6B63-DEAA-28C1AC1C9A68}"/>
                </a:ext>
              </a:extLst>
            </p:cNvPr>
            <p:cNvSpPr/>
            <p:nvPr/>
          </p:nvSpPr>
          <p:spPr>
            <a:xfrm rot="2738780">
              <a:off x="5666718" y="4461584"/>
              <a:ext cx="809537" cy="774778"/>
            </a:xfrm>
            <a:prstGeom prst="pie">
              <a:avLst/>
            </a:prstGeom>
            <a:solidFill>
              <a:srgbClr val="00FFCA"/>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cxnSp>
          <p:nvCxnSpPr>
            <p:cNvPr id="66" name="Đường kết nối: Cong 65">
              <a:extLst>
                <a:ext uri="{FF2B5EF4-FFF2-40B4-BE49-F238E27FC236}">
                  <a16:creationId xmlns:a16="http://schemas.microsoft.com/office/drawing/2014/main" id="{F615ADEA-6DC0-C242-1617-4EFCE403FD7A}"/>
                </a:ext>
              </a:extLst>
            </p:cNvPr>
            <p:cNvCxnSpPr>
              <a:cxnSpLocks/>
            </p:cNvCxnSpPr>
            <p:nvPr/>
          </p:nvCxnSpPr>
          <p:spPr>
            <a:xfrm>
              <a:off x="4072279" y="4105761"/>
              <a:ext cx="1512603" cy="751800"/>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grpSp>
      <p:pic>
        <p:nvPicPr>
          <p:cNvPr id="20" name="Hình ảnh 19">
            <a:extLst>
              <a:ext uri="{FF2B5EF4-FFF2-40B4-BE49-F238E27FC236}">
                <a16:creationId xmlns:a16="http://schemas.microsoft.com/office/drawing/2014/main" id="{1A31439D-DCF4-A622-636A-9E238B84A60D}"/>
              </a:ext>
            </a:extLst>
          </p:cNvPr>
          <p:cNvPicPr>
            <a:picLocks noChangeAspect="1"/>
          </p:cNvPicPr>
          <p:nvPr/>
        </p:nvPicPr>
        <p:blipFill>
          <a:blip r:embed="rId2"/>
          <a:stretch>
            <a:fillRect/>
          </a:stretch>
        </p:blipFill>
        <p:spPr>
          <a:xfrm>
            <a:off x="11287865" y="37377"/>
            <a:ext cx="793534" cy="750408"/>
          </a:xfrm>
          <a:prstGeom prst="rect">
            <a:avLst/>
          </a:prstGeom>
        </p:spPr>
      </p:pic>
    </p:spTree>
    <p:extLst>
      <p:ext uri="{BB962C8B-B14F-4D97-AF65-F5344CB8AC3E}">
        <p14:creationId xmlns:p14="http://schemas.microsoft.com/office/powerpoint/2010/main" val="1855133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inVertic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arn(inVertical)">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nh chữ nhật 4">
            <a:extLst>
              <a:ext uri="{FF2B5EF4-FFF2-40B4-BE49-F238E27FC236}">
                <a16:creationId xmlns:a16="http://schemas.microsoft.com/office/drawing/2014/main" id="{1BEE9223-454C-1D7F-9D39-BD1952BAAD7C}"/>
              </a:ext>
            </a:extLst>
          </p:cNvPr>
          <p:cNvSpPr/>
          <p:nvPr/>
        </p:nvSpPr>
        <p:spPr>
          <a:xfrm>
            <a:off x="4526"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0" name="Hình chữ nhật: Góc Tròn 9">
            <a:extLst>
              <a:ext uri="{FF2B5EF4-FFF2-40B4-BE49-F238E27FC236}">
                <a16:creationId xmlns:a16="http://schemas.microsoft.com/office/drawing/2014/main" id="{58978783-55CE-9166-8579-65D83565CD42}"/>
              </a:ext>
            </a:extLst>
          </p:cNvPr>
          <p:cNvSpPr/>
          <p:nvPr/>
        </p:nvSpPr>
        <p:spPr>
          <a:xfrm>
            <a:off x="461727" y="230863"/>
            <a:ext cx="4237022" cy="516048"/>
          </a:xfrm>
          <a:prstGeom prst="roundRect">
            <a:avLst/>
          </a:prstGeom>
          <a:solidFill>
            <a:srgbClr val="F6BA6F"/>
          </a:solidFill>
          <a:effectLst>
            <a:outerShdw blurRad="63500" sx="102000" sy="102000" algn="ctr"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vi-VN" dirty="0">
                <a:solidFill>
                  <a:srgbClr val="C00000"/>
                </a:solidFill>
                <a:latin typeface="iCiel Cadena" panose="02000503000000020004" pitchFamily="2" charset="0"/>
              </a:rPr>
              <a:t>TÌM HIỂU VỀ THƯƠNG MẠI ĐIỆN TỬ:</a:t>
            </a:r>
          </a:p>
        </p:txBody>
      </p:sp>
      <p:sp>
        <p:nvSpPr>
          <p:cNvPr id="9" name="Hình thoi 8">
            <a:extLst>
              <a:ext uri="{FF2B5EF4-FFF2-40B4-BE49-F238E27FC236}">
                <a16:creationId xmlns:a16="http://schemas.microsoft.com/office/drawing/2014/main" id="{91843790-E086-A16D-FE6B-213127CCE4A9}"/>
              </a:ext>
            </a:extLst>
          </p:cNvPr>
          <p:cNvSpPr/>
          <p:nvPr/>
        </p:nvSpPr>
        <p:spPr>
          <a:xfrm>
            <a:off x="176544" y="108641"/>
            <a:ext cx="760491" cy="760491"/>
          </a:xfrm>
          <a:prstGeom prst="diamond">
            <a:avLst/>
          </a:prstGeom>
          <a:solidFill>
            <a:srgbClr val="1F4E79"/>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2</a:t>
            </a:r>
          </a:p>
        </p:txBody>
      </p:sp>
      <p:sp>
        <p:nvSpPr>
          <p:cNvPr id="11" name="Hình chữ nhật: Cắt Góc Chéo 10">
            <a:extLst>
              <a:ext uri="{FF2B5EF4-FFF2-40B4-BE49-F238E27FC236}">
                <a16:creationId xmlns:a16="http://schemas.microsoft.com/office/drawing/2014/main" id="{8464C58B-4B9E-D961-3D48-6FA1CD4A0572}"/>
              </a:ext>
            </a:extLst>
          </p:cNvPr>
          <p:cNvSpPr/>
          <p:nvPr/>
        </p:nvSpPr>
        <p:spPr>
          <a:xfrm>
            <a:off x="605570" y="1008191"/>
            <a:ext cx="11129230" cy="5509432"/>
          </a:xfrm>
          <a:prstGeom prst="snip2DiagRect">
            <a:avLst>
              <a:gd name="adj1" fmla="val 0"/>
              <a:gd name="adj2" fmla="val 8174"/>
            </a:avLst>
          </a:prstGeom>
          <a:solidFill>
            <a:srgbClr val="E6E6E6"/>
          </a:solidFill>
          <a:ln w="12700"/>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3" name="Hình chữ nhật: Góc Tròn 12">
            <a:extLst>
              <a:ext uri="{FF2B5EF4-FFF2-40B4-BE49-F238E27FC236}">
                <a16:creationId xmlns:a16="http://schemas.microsoft.com/office/drawing/2014/main" id="{9E6F9DE8-42F1-5F9E-DD08-130FB13E02AD}"/>
              </a:ext>
            </a:extLst>
          </p:cNvPr>
          <p:cNvSpPr/>
          <p:nvPr/>
        </p:nvSpPr>
        <p:spPr>
          <a:xfrm>
            <a:off x="1696971" y="3073477"/>
            <a:ext cx="2613434" cy="1424315"/>
          </a:xfrm>
          <a:prstGeom prst="roundRect">
            <a:avLst/>
          </a:prstGeom>
          <a:solidFill>
            <a:schemeClr val="tx2">
              <a:lumMod val="75000"/>
            </a:schemeClr>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a:latin typeface="iCiel Cadena" panose="02000503000000020004" pitchFamily="2" charset="0"/>
              </a:rPr>
              <a:t>NHƯỢC ĐIỂM CỦA THƯƠNG MẠI ĐIỆN TỬ</a:t>
            </a:r>
          </a:p>
        </p:txBody>
      </p:sp>
      <p:grpSp>
        <p:nvGrpSpPr>
          <p:cNvPr id="12" name="Nhóm 11">
            <a:extLst>
              <a:ext uri="{FF2B5EF4-FFF2-40B4-BE49-F238E27FC236}">
                <a16:creationId xmlns:a16="http://schemas.microsoft.com/office/drawing/2014/main" id="{02E94664-5A97-8B98-1DA1-40CF63262A97}"/>
              </a:ext>
            </a:extLst>
          </p:cNvPr>
          <p:cNvGrpSpPr/>
          <p:nvPr/>
        </p:nvGrpSpPr>
        <p:grpSpPr>
          <a:xfrm>
            <a:off x="5441364" y="2089374"/>
            <a:ext cx="4946005" cy="706547"/>
            <a:chOff x="5441364" y="2089374"/>
            <a:chExt cx="4946005" cy="706547"/>
          </a:xfrm>
        </p:grpSpPr>
        <p:grpSp>
          <p:nvGrpSpPr>
            <p:cNvPr id="6" name="Nhóm 5">
              <a:extLst>
                <a:ext uri="{FF2B5EF4-FFF2-40B4-BE49-F238E27FC236}">
                  <a16:creationId xmlns:a16="http://schemas.microsoft.com/office/drawing/2014/main" id="{3C2B921E-F039-C158-9F15-FEEB2753B80F}"/>
                </a:ext>
              </a:extLst>
            </p:cNvPr>
            <p:cNvGrpSpPr/>
            <p:nvPr/>
          </p:nvGrpSpPr>
          <p:grpSpPr>
            <a:xfrm>
              <a:off x="6091594" y="2089374"/>
              <a:ext cx="4295775" cy="688069"/>
              <a:chOff x="6096000" y="1298126"/>
              <a:chExt cx="4295775" cy="688069"/>
            </a:xfrm>
            <a:effectLst>
              <a:outerShdw blurRad="63500" sx="102000" sy="102000" algn="ctr" rotWithShape="0">
                <a:prstClr val="black">
                  <a:alpha val="40000"/>
                </a:prstClr>
              </a:outerShdw>
            </a:effectLst>
          </p:grpSpPr>
          <p:sp>
            <p:nvSpPr>
              <p:cNvPr id="17" name="Hộp chú thích: Đường Cong Đôi 16">
                <a:extLst>
                  <a:ext uri="{FF2B5EF4-FFF2-40B4-BE49-F238E27FC236}">
                    <a16:creationId xmlns:a16="http://schemas.microsoft.com/office/drawing/2014/main" id="{F2D1A2A8-B9CF-0DA0-637B-FB9648A7F8CA}"/>
                  </a:ext>
                </a:extLst>
              </p:cNvPr>
              <p:cNvSpPr/>
              <p:nvPr/>
            </p:nvSpPr>
            <p:spPr>
              <a:xfrm>
                <a:off x="6096000" y="1298126"/>
                <a:ext cx="4086225" cy="688069"/>
              </a:xfrm>
              <a:prstGeom prst="borderCallout3">
                <a:avLst>
                  <a:gd name="adj1" fmla="val 19442"/>
                  <a:gd name="adj2" fmla="val -163"/>
                  <a:gd name="adj3" fmla="val 18750"/>
                  <a:gd name="adj4" fmla="val -16667"/>
                  <a:gd name="adj5" fmla="val 48685"/>
                  <a:gd name="adj6" fmla="val -17332"/>
                  <a:gd name="adj7" fmla="val 194302"/>
                  <a:gd name="adj8" fmla="val -43438"/>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4" name="Hộp Văn bản 23">
                <a:extLst>
                  <a:ext uri="{FF2B5EF4-FFF2-40B4-BE49-F238E27FC236}">
                    <a16:creationId xmlns:a16="http://schemas.microsoft.com/office/drawing/2014/main" id="{BFA89949-F670-354C-5EDB-25B742E93341}"/>
                  </a:ext>
                </a:extLst>
              </p:cNvPr>
              <p:cNvSpPr txBox="1"/>
              <p:nvPr/>
            </p:nvSpPr>
            <p:spPr>
              <a:xfrm>
                <a:off x="6373492" y="1318994"/>
                <a:ext cx="4018283" cy="646331"/>
              </a:xfrm>
              <a:prstGeom prst="rect">
                <a:avLst/>
              </a:prstGeom>
              <a:noFill/>
            </p:spPr>
            <p:txBody>
              <a:bodyPr wrap="square" rtlCol="0">
                <a:spAutoFit/>
              </a:bodyPr>
              <a:lstStyle/>
              <a:p>
                <a:r>
                  <a:rPr lang="vi-VN" sz="1800" dirty="0">
                    <a:solidFill>
                      <a:srgbClr val="FF0000"/>
                    </a:solidFill>
                    <a:effectLst/>
                    <a:latin typeface="iCiel Cadena" panose="02000503000000020004" pitchFamily="2" charset="0"/>
                    <a:ea typeface="Arial" panose="020B0604020202020204" pitchFamily="34" charset="0"/>
                    <a:cs typeface="Times New Roman" panose="02020603050405020304" pitchFamily="18" charset="0"/>
                  </a:rPr>
                  <a:t>Vận chuyển và hoàn thiện đơn hàng trên quy mô lớn rất khó khăn</a:t>
                </a:r>
                <a:endParaRPr lang="vi-VN" dirty="0">
                  <a:solidFill>
                    <a:srgbClr val="FF0000"/>
                  </a:solidFill>
                  <a:latin typeface="iCiel Cadena" panose="02000503000000020004" pitchFamily="2" charset="0"/>
                </a:endParaRPr>
              </a:p>
            </p:txBody>
          </p:sp>
        </p:grpSp>
        <p:pic>
          <p:nvPicPr>
            <p:cNvPr id="16" name="Hình ảnh 15">
              <a:extLst>
                <a:ext uri="{FF2B5EF4-FFF2-40B4-BE49-F238E27FC236}">
                  <a16:creationId xmlns:a16="http://schemas.microsoft.com/office/drawing/2014/main" id="{79DA27B1-D1A3-5C55-6D43-488E37F9655B}"/>
                </a:ext>
              </a:extLst>
            </p:cNvPr>
            <p:cNvPicPr>
              <a:picLocks noChangeAspect="1"/>
            </p:cNvPicPr>
            <p:nvPr/>
          </p:nvPicPr>
          <p:blipFill>
            <a:blip r:embed="rId2"/>
            <a:stretch>
              <a:fillRect/>
            </a:stretch>
          </p:blipFill>
          <p:spPr>
            <a:xfrm>
              <a:off x="5441364" y="2168721"/>
              <a:ext cx="627200" cy="627200"/>
            </a:xfrm>
            <a:prstGeom prst="rect">
              <a:avLst/>
            </a:prstGeom>
          </p:spPr>
        </p:pic>
      </p:grpSp>
      <p:grpSp>
        <p:nvGrpSpPr>
          <p:cNvPr id="8" name="Nhóm 7">
            <a:extLst>
              <a:ext uri="{FF2B5EF4-FFF2-40B4-BE49-F238E27FC236}">
                <a16:creationId xmlns:a16="http://schemas.microsoft.com/office/drawing/2014/main" id="{8D51D9E8-A593-A8DE-B5C6-66D7C3E9484C}"/>
              </a:ext>
            </a:extLst>
          </p:cNvPr>
          <p:cNvGrpSpPr/>
          <p:nvPr/>
        </p:nvGrpSpPr>
        <p:grpSpPr>
          <a:xfrm>
            <a:off x="5535013" y="3441599"/>
            <a:ext cx="4647212" cy="972130"/>
            <a:chOff x="5535013" y="3441599"/>
            <a:chExt cx="4647212" cy="972130"/>
          </a:xfrm>
        </p:grpSpPr>
        <p:sp>
          <p:nvSpPr>
            <p:cNvPr id="18" name="Hộp chú thích: Đường Cong Đôi 17">
              <a:extLst>
                <a:ext uri="{FF2B5EF4-FFF2-40B4-BE49-F238E27FC236}">
                  <a16:creationId xmlns:a16="http://schemas.microsoft.com/office/drawing/2014/main" id="{BC4354E2-F20E-A43D-7901-F58269790D43}"/>
                </a:ext>
              </a:extLst>
            </p:cNvPr>
            <p:cNvSpPr/>
            <p:nvPr/>
          </p:nvSpPr>
          <p:spPr>
            <a:xfrm>
              <a:off x="6096000" y="3441599"/>
              <a:ext cx="4086225" cy="688069"/>
            </a:xfrm>
            <a:prstGeom prst="borderCallout3">
              <a:avLst>
                <a:gd name="adj1" fmla="val 18750"/>
                <a:gd name="adj2" fmla="val -117"/>
                <a:gd name="adj3" fmla="val 18750"/>
                <a:gd name="adj4" fmla="val -16667"/>
                <a:gd name="adj5" fmla="val 51316"/>
                <a:gd name="adj6" fmla="val -18218"/>
                <a:gd name="adj7" fmla="val 49635"/>
                <a:gd name="adj8" fmla="val -43712"/>
              </a:avLst>
            </a:prstGeom>
            <a:solidFill>
              <a:srgbClr val="CDFCF6"/>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3" name="Hộp Văn bản 2">
              <a:extLst>
                <a:ext uri="{FF2B5EF4-FFF2-40B4-BE49-F238E27FC236}">
                  <a16:creationId xmlns:a16="http://schemas.microsoft.com/office/drawing/2014/main" id="{B2BE82B7-DF5E-CA7D-0FD4-3591C0C3AE0E}"/>
                </a:ext>
              </a:extLst>
            </p:cNvPr>
            <p:cNvSpPr txBox="1"/>
            <p:nvPr/>
          </p:nvSpPr>
          <p:spPr>
            <a:xfrm>
              <a:off x="6378139" y="3490399"/>
              <a:ext cx="3725528" cy="923330"/>
            </a:xfrm>
            <a:prstGeom prst="rect">
              <a:avLst/>
            </a:prstGeom>
            <a:noFill/>
          </p:spPr>
          <p:txBody>
            <a:bodyPr wrap="square" rtlCol="0">
              <a:spAutoFit/>
            </a:bodyPr>
            <a:lstStyle/>
            <a:p>
              <a:r>
                <a:rPr lang="vi-VN" kern="100" dirty="0">
                  <a:solidFill>
                    <a:srgbClr val="FF0000"/>
                  </a:solidFill>
                  <a:latin typeface="iCiel Cadena" panose="02000503000000020004" pitchFamily="2" charset="0"/>
                  <a:ea typeface="Arial" panose="020B0604020202020204" pitchFamily="34" charset="0"/>
                  <a:cs typeface="Times New Roman" panose="02020603050405020304" pitchFamily="18" charset="0"/>
                </a:rPr>
                <a:t>V</a:t>
              </a:r>
              <a:r>
                <a:rPr lang="vi-VN" sz="1800" kern="100" dirty="0">
                  <a:solidFill>
                    <a:srgbClr val="FF0000"/>
                  </a:solidFill>
                  <a:effectLst/>
                  <a:latin typeface="iCiel Cadena" panose="02000503000000020004" pitchFamily="2" charset="0"/>
                  <a:ea typeface="Arial" panose="020B0604020202020204" pitchFamily="34" charset="0"/>
                  <a:cs typeface="Times New Roman" panose="02020603050405020304" pitchFamily="18" charset="0"/>
                </a:rPr>
                <a:t>iệc kinh doanh </a:t>
              </a:r>
              <a:r>
                <a:rPr lang="vi-VN" sz="1800" kern="100" dirty="0" err="1">
                  <a:solidFill>
                    <a:srgbClr val="FF0000"/>
                  </a:solidFill>
                  <a:effectLst/>
                  <a:latin typeface="iCiel Cadena" panose="02000503000000020004" pitchFamily="2" charset="0"/>
                  <a:ea typeface="Arial" panose="020B0604020202020204" pitchFamily="34" charset="0"/>
                  <a:cs typeface="Times New Roman" panose="02020603050405020304" pitchFamily="18" charset="0"/>
                </a:rPr>
                <a:t>online</a:t>
              </a:r>
              <a:r>
                <a:rPr lang="vi-VN" sz="1800" kern="100" dirty="0">
                  <a:solidFill>
                    <a:srgbClr val="FF0000"/>
                  </a:solidFill>
                  <a:effectLst/>
                  <a:latin typeface="iCiel Cadena" panose="02000503000000020004" pitchFamily="2" charset="0"/>
                  <a:ea typeface="Arial" panose="020B0604020202020204" pitchFamily="34" charset="0"/>
                  <a:cs typeface="Times New Roman" panose="02020603050405020304" pitchFamily="18" charset="0"/>
                </a:rPr>
                <a:t> luôn có tính cạnh tranh cao</a:t>
              </a:r>
            </a:p>
            <a:p>
              <a:endParaRPr lang="vi-VN" dirty="0">
                <a:solidFill>
                  <a:srgbClr val="FF0000"/>
                </a:solidFill>
                <a:latin typeface="iCiel Cadena" panose="02000503000000020004" pitchFamily="2" charset="0"/>
              </a:endParaRPr>
            </a:p>
          </p:txBody>
        </p:sp>
        <p:pic>
          <p:nvPicPr>
            <p:cNvPr id="23" name="Hình ảnh 22">
              <a:extLst>
                <a:ext uri="{FF2B5EF4-FFF2-40B4-BE49-F238E27FC236}">
                  <a16:creationId xmlns:a16="http://schemas.microsoft.com/office/drawing/2014/main" id="{B209A432-6D17-BA9B-DABE-3911466DB06C}"/>
                </a:ext>
              </a:extLst>
            </p:cNvPr>
            <p:cNvPicPr>
              <a:picLocks noChangeAspect="1"/>
            </p:cNvPicPr>
            <p:nvPr/>
          </p:nvPicPr>
          <p:blipFill>
            <a:blip r:embed="rId3"/>
            <a:stretch>
              <a:fillRect/>
            </a:stretch>
          </p:blipFill>
          <p:spPr>
            <a:xfrm>
              <a:off x="5535013" y="3594450"/>
              <a:ext cx="468038" cy="468038"/>
            </a:xfrm>
            <a:prstGeom prst="rect">
              <a:avLst/>
            </a:prstGeom>
          </p:spPr>
        </p:pic>
      </p:grpSp>
      <p:grpSp>
        <p:nvGrpSpPr>
          <p:cNvPr id="14" name="Nhóm 13">
            <a:extLst>
              <a:ext uri="{FF2B5EF4-FFF2-40B4-BE49-F238E27FC236}">
                <a16:creationId xmlns:a16="http://schemas.microsoft.com/office/drawing/2014/main" id="{997736F7-1429-875D-36B3-D80F3D5492D1}"/>
              </a:ext>
            </a:extLst>
          </p:cNvPr>
          <p:cNvGrpSpPr/>
          <p:nvPr/>
        </p:nvGrpSpPr>
        <p:grpSpPr>
          <a:xfrm>
            <a:off x="5535013" y="4793824"/>
            <a:ext cx="4642806" cy="688069"/>
            <a:chOff x="5535013" y="4793824"/>
            <a:chExt cx="4642806" cy="688069"/>
          </a:xfrm>
        </p:grpSpPr>
        <p:grpSp>
          <p:nvGrpSpPr>
            <p:cNvPr id="4" name="Nhóm 3">
              <a:extLst>
                <a:ext uri="{FF2B5EF4-FFF2-40B4-BE49-F238E27FC236}">
                  <a16:creationId xmlns:a16="http://schemas.microsoft.com/office/drawing/2014/main" id="{59A09656-6644-F05D-5F9B-07FA814E5AFE}"/>
                </a:ext>
              </a:extLst>
            </p:cNvPr>
            <p:cNvGrpSpPr/>
            <p:nvPr/>
          </p:nvGrpSpPr>
          <p:grpSpPr>
            <a:xfrm>
              <a:off x="6091594" y="4793824"/>
              <a:ext cx="4086225" cy="688069"/>
              <a:chOff x="6096000" y="2320323"/>
              <a:chExt cx="4086225" cy="688069"/>
            </a:xfrm>
          </p:grpSpPr>
          <p:sp>
            <p:nvSpPr>
              <p:cNvPr id="20" name="Hộp chú thích: Đường Cong Đôi 19">
                <a:extLst>
                  <a:ext uri="{FF2B5EF4-FFF2-40B4-BE49-F238E27FC236}">
                    <a16:creationId xmlns:a16="http://schemas.microsoft.com/office/drawing/2014/main" id="{D877C736-2A1B-F043-E66D-299640D98D9F}"/>
                  </a:ext>
                </a:extLst>
              </p:cNvPr>
              <p:cNvSpPr/>
              <p:nvPr/>
            </p:nvSpPr>
            <p:spPr>
              <a:xfrm>
                <a:off x="6096000" y="2320323"/>
                <a:ext cx="4086225" cy="688069"/>
              </a:xfrm>
              <a:prstGeom prst="borderCallout3">
                <a:avLst>
                  <a:gd name="adj1" fmla="val 18750"/>
                  <a:gd name="adj2" fmla="val -71"/>
                  <a:gd name="adj3" fmla="val 18750"/>
                  <a:gd name="adj4" fmla="val -16667"/>
                  <a:gd name="adj5" fmla="val 52631"/>
                  <a:gd name="adj6" fmla="val -17997"/>
                  <a:gd name="adj7" fmla="val -93853"/>
                  <a:gd name="adj8" fmla="val -43919"/>
                </a:avLst>
              </a:prstGeom>
              <a:solidFill>
                <a:srgbClr val="00FFCA"/>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 name="Hộp Văn bản 1">
                <a:extLst>
                  <a:ext uri="{FF2B5EF4-FFF2-40B4-BE49-F238E27FC236}">
                    <a16:creationId xmlns:a16="http://schemas.microsoft.com/office/drawing/2014/main" id="{74C03B1B-A2DD-161E-366E-A2BC60322EC9}"/>
                  </a:ext>
                </a:extLst>
              </p:cNvPr>
              <p:cNvSpPr txBox="1"/>
              <p:nvPr/>
            </p:nvSpPr>
            <p:spPr>
              <a:xfrm>
                <a:off x="6373492" y="2339766"/>
                <a:ext cx="3808733" cy="646331"/>
              </a:xfrm>
              <a:prstGeom prst="rect">
                <a:avLst/>
              </a:prstGeom>
              <a:noFill/>
            </p:spPr>
            <p:txBody>
              <a:bodyPr wrap="square" rtlCol="0">
                <a:spAutoFit/>
              </a:bodyPr>
              <a:lstStyle/>
              <a:p>
                <a:r>
                  <a:rPr lang="vi-VN" sz="1800" b="1" dirty="0">
                    <a:solidFill>
                      <a:srgbClr val="FF0000"/>
                    </a:solidFill>
                    <a:effectLst/>
                    <a:latin typeface="iCiel Cadena" panose="02000503000000020004" pitchFamily="2" charset="0"/>
                    <a:ea typeface="Arial" panose="020B0604020202020204" pitchFamily="34" charset="0"/>
                    <a:cs typeface="Times New Roman" panose="02020603050405020304" pitchFamily="18" charset="0"/>
                  </a:rPr>
                  <a:t>Bảo mật và bảo vệ chống gian lận của cửa hàng thương mại điện tử</a:t>
                </a:r>
                <a:endParaRPr lang="vi-VN" b="1" dirty="0">
                  <a:solidFill>
                    <a:srgbClr val="FF0000"/>
                  </a:solidFill>
                  <a:latin typeface="iCiel Cadena" panose="02000503000000020004" pitchFamily="2" charset="0"/>
                </a:endParaRPr>
              </a:p>
            </p:txBody>
          </p:sp>
        </p:grpSp>
        <p:pic>
          <p:nvPicPr>
            <p:cNvPr id="26" name="Hình ảnh 25">
              <a:extLst>
                <a:ext uri="{FF2B5EF4-FFF2-40B4-BE49-F238E27FC236}">
                  <a16:creationId xmlns:a16="http://schemas.microsoft.com/office/drawing/2014/main" id="{1D6076FB-85D5-ABAD-C6B8-999F4C586E4C}"/>
                </a:ext>
              </a:extLst>
            </p:cNvPr>
            <p:cNvPicPr>
              <a:picLocks noChangeAspect="1"/>
            </p:cNvPicPr>
            <p:nvPr/>
          </p:nvPicPr>
          <p:blipFill>
            <a:blip r:embed="rId4"/>
            <a:stretch>
              <a:fillRect/>
            </a:stretch>
          </p:blipFill>
          <p:spPr>
            <a:xfrm rot="10800000" flipV="1">
              <a:off x="5535013" y="4956722"/>
              <a:ext cx="502876" cy="502876"/>
            </a:xfrm>
            <a:prstGeom prst="rect">
              <a:avLst/>
            </a:prstGeom>
          </p:spPr>
        </p:pic>
      </p:grpSp>
      <p:pic>
        <p:nvPicPr>
          <p:cNvPr id="15" name="Hình ảnh 14">
            <a:extLst>
              <a:ext uri="{FF2B5EF4-FFF2-40B4-BE49-F238E27FC236}">
                <a16:creationId xmlns:a16="http://schemas.microsoft.com/office/drawing/2014/main" id="{F4C2A46E-ABD1-2E5D-A39D-212B908A943C}"/>
              </a:ext>
            </a:extLst>
          </p:cNvPr>
          <p:cNvPicPr>
            <a:picLocks noChangeAspect="1"/>
          </p:cNvPicPr>
          <p:nvPr/>
        </p:nvPicPr>
        <p:blipFill>
          <a:blip r:embed="rId5"/>
          <a:stretch>
            <a:fillRect/>
          </a:stretch>
        </p:blipFill>
        <p:spPr>
          <a:xfrm>
            <a:off x="11333506" y="92114"/>
            <a:ext cx="793534" cy="750408"/>
          </a:xfrm>
          <a:prstGeom prst="rect">
            <a:avLst/>
          </a:prstGeom>
        </p:spPr>
      </p:pic>
    </p:spTree>
    <p:extLst>
      <p:ext uri="{BB962C8B-B14F-4D97-AF65-F5344CB8AC3E}">
        <p14:creationId xmlns:p14="http://schemas.microsoft.com/office/powerpoint/2010/main" val="3965757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arn(inVertical)">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nh chữ nhật 3">
            <a:extLst>
              <a:ext uri="{FF2B5EF4-FFF2-40B4-BE49-F238E27FC236}">
                <a16:creationId xmlns:a16="http://schemas.microsoft.com/office/drawing/2014/main" id="{56A18351-201D-7875-C515-43EE9713F9EB}"/>
              </a:ext>
            </a:extLst>
          </p:cNvPr>
          <p:cNvSpPr/>
          <p:nvPr/>
        </p:nvSpPr>
        <p:spPr>
          <a:xfrm>
            <a:off x="-6566"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6" name="Hình chữ nhật: Góc Tròn 5">
            <a:extLst>
              <a:ext uri="{FF2B5EF4-FFF2-40B4-BE49-F238E27FC236}">
                <a16:creationId xmlns:a16="http://schemas.microsoft.com/office/drawing/2014/main" id="{6332E080-6215-6C90-5555-A6EE825FF2B0}"/>
              </a:ext>
            </a:extLst>
          </p:cNvPr>
          <p:cNvSpPr/>
          <p:nvPr/>
        </p:nvSpPr>
        <p:spPr>
          <a:xfrm>
            <a:off x="1694396" y="264271"/>
            <a:ext cx="8803207" cy="720694"/>
          </a:xfrm>
          <a:prstGeom prst="roundRect">
            <a:avLst/>
          </a:prstGeom>
          <a:solidFill>
            <a:schemeClr val="accent3">
              <a:lumMod val="20000"/>
              <a:lumOff val="80000"/>
            </a:schemeClr>
          </a:solidFill>
          <a:effectLst>
            <a:outerShdw blurRad="63500" sx="102000" sy="102000" algn="ctr"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vi-VN" sz="2400" dirty="0">
                <a:solidFill>
                  <a:srgbClr val="C00000"/>
                </a:solidFill>
                <a:latin typeface="iCiel Cadena" panose="02000503000000020004" pitchFamily="2" charset="0"/>
              </a:rPr>
              <a:t>CÁCH XÂY DỰNG MỘT SÀN THƯƠNG MẠI ĐIỆN TỬ CHUẨN SEO</a:t>
            </a:r>
          </a:p>
        </p:txBody>
      </p:sp>
      <p:grpSp>
        <p:nvGrpSpPr>
          <p:cNvPr id="3" name="Nhóm 2">
            <a:extLst>
              <a:ext uri="{FF2B5EF4-FFF2-40B4-BE49-F238E27FC236}">
                <a16:creationId xmlns:a16="http://schemas.microsoft.com/office/drawing/2014/main" id="{C91EB05B-999B-E563-32A3-19483DDF0F77}"/>
              </a:ext>
            </a:extLst>
          </p:cNvPr>
          <p:cNvGrpSpPr/>
          <p:nvPr/>
        </p:nvGrpSpPr>
        <p:grpSpPr>
          <a:xfrm>
            <a:off x="1253810" y="1401283"/>
            <a:ext cx="7166290" cy="1486578"/>
            <a:chOff x="1253810" y="1401283"/>
            <a:chExt cx="7166290" cy="1486578"/>
          </a:xfrm>
        </p:grpSpPr>
        <p:grpSp>
          <p:nvGrpSpPr>
            <p:cNvPr id="2" name="Nhóm 1">
              <a:extLst>
                <a:ext uri="{FF2B5EF4-FFF2-40B4-BE49-F238E27FC236}">
                  <a16:creationId xmlns:a16="http://schemas.microsoft.com/office/drawing/2014/main" id="{EEDE02C1-FABD-E511-9781-FA8485E3EA70}"/>
                </a:ext>
              </a:extLst>
            </p:cNvPr>
            <p:cNvGrpSpPr/>
            <p:nvPr/>
          </p:nvGrpSpPr>
          <p:grpSpPr>
            <a:xfrm>
              <a:off x="1253810" y="1401283"/>
              <a:ext cx="7166290" cy="1486578"/>
              <a:chOff x="1253810" y="1401283"/>
              <a:chExt cx="7166290" cy="1486578"/>
            </a:xfrm>
          </p:grpSpPr>
          <p:sp>
            <p:nvSpPr>
              <p:cNvPr id="24" name="Hình chữ nhật: Góc Tròn 23">
                <a:extLst>
                  <a:ext uri="{FF2B5EF4-FFF2-40B4-BE49-F238E27FC236}">
                    <a16:creationId xmlns:a16="http://schemas.microsoft.com/office/drawing/2014/main" id="{D7C8E251-7A7E-1FA7-70E4-DD699778B5D1}"/>
                  </a:ext>
                </a:extLst>
              </p:cNvPr>
              <p:cNvSpPr/>
              <p:nvPr/>
            </p:nvSpPr>
            <p:spPr>
              <a:xfrm>
                <a:off x="1253810" y="1401283"/>
                <a:ext cx="7166290" cy="1486578"/>
              </a:xfrm>
              <a:prstGeom prst="roundRect">
                <a:avLst>
                  <a:gd name="adj" fmla="val 50000"/>
                </a:avLst>
              </a:prstGeom>
              <a:solidFill>
                <a:srgbClr val="00206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6" name="Hình Bầu dục 15">
                <a:extLst>
                  <a:ext uri="{FF2B5EF4-FFF2-40B4-BE49-F238E27FC236}">
                    <a16:creationId xmlns:a16="http://schemas.microsoft.com/office/drawing/2014/main" id="{B5823515-F57C-234F-A01D-E4EB5478646C}"/>
                  </a:ext>
                </a:extLst>
              </p:cNvPr>
              <p:cNvSpPr/>
              <p:nvPr/>
            </p:nvSpPr>
            <p:spPr>
              <a:xfrm>
                <a:off x="1378821" y="1472831"/>
                <a:ext cx="1288159" cy="128815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8" name="Hộp Văn bản 27">
                <a:extLst>
                  <a:ext uri="{FF2B5EF4-FFF2-40B4-BE49-F238E27FC236}">
                    <a16:creationId xmlns:a16="http://schemas.microsoft.com/office/drawing/2014/main" id="{904A19F9-7D18-CE43-50C4-3CC4B4CBF632}"/>
                  </a:ext>
                </a:extLst>
              </p:cNvPr>
              <p:cNvSpPr txBox="1"/>
              <p:nvPr/>
            </p:nvSpPr>
            <p:spPr>
              <a:xfrm>
                <a:off x="2794000" y="1740031"/>
                <a:ext cx="5549900" cy="707886"/>
              </a:xfrm>
              <a:prstGeom prst="rect">
                <a:avLst/>
              </a:prstGeom>
              <a:noFill/>
            </p:spPr>
            <p:txBody>
              <a:bodyPr wrap="square" rtlCol="0">
                <a:spAutoFit/>
              </a:bodyPr>
              <a:lstStyle/>
              <a:p>
                <a:r>
                  <a:rPr lang="vi-VN" sz="2000" dirty="0">
                    <a:solidFill>
                      <a:srgbClr val="FFC000"/>
                    </a:solidFill>
                    <a:effectLst/>
                    <a:latin typeface="iCiel Cadena" panose="02000503000000020004" pitchFamily="2" charset="0"/>
                    <a:ea typeface="Arial" panose="020B0604020202020204" pitchFamily="34" charset="0"/>
                    <a:cs typeface="Times New Roman" panose="02020603050405020304" pitchFamily="18" charset="0"/>
                  </a:rPr>
                  <a:t>Tập trung vào việc cung cấp các sản phẩm chất lượng cao và dịch vụ xuất sắc ngay từ đầu</a:t>
                </a:r>
                <a:endParaRPr lang="vi-VN" sz="2000" dirty="0">
                  <a:solidFill>
                    <a:srgbClr val="FFC000"/>
                  </a:solidFill>
                  <a:latin typeface="iCiel Cadena" panose="02000503000000020004" pitchFamily="2" charset="0"/>
                </a:endParaRPr>
              </a:p>
            </p:txBody>
          </p:sp>
        </p:grpSp>
        <p:pic>
          <p:nvPicPr>
            <p:cNvPr id="8" name="Hình ảnh 7">
              <a:extLst>
                <a:ext uri="{FF2B5EF4-FFF2-40B4-BE49-F238E27FC236}">
                  <a16:creationId xmlns:a16="http://schemas.microsoft.com/office/drawing/2014/main" id="{D0C24C0D-6FB2-1D94-36E9-7A5DCF9937AF}"/>
                </a:ext>
              </a:extLst>
            </p:cNvPr>
            <p:cNvPicPr>
              <a:picLocks noChangeAspect="1"/>
            </p:cNvPicPr>
            <p:nvPr/>
          </p:nvPicPr>
          <p:blipFill>
            <a:blip r:embed="rId2"/>
            <a:stretch>
              <a:fillRect/>
            </a:stretch>
          </p:blipFill>
          <p:spPr>
            <a:xfrm>
              <a:off x="1601568" y="1740031"/>
              <a:ext cx="842663" cy="842663"/>
            </a:xfrm>
            <a:prstGeom prst="rect">
              <a:avLst/>
            </a:prstGeom>
          </p:spPr>
        </p:pic>
      </p:grpSp>
      <p:grpSp>
        <p:nvGrpSpPr>
          <p:cNvPr id="5" name="Nhóm 4">
            <a:extLst>
              <a:ext uri="{FF2B5EF4-FFF2-40B4-BE49-F238E27FC236}">
                <a16:creationId xmlns:a16="http://schemas.microsoft.com/office/drawing/2014/main" id="{22E3FE9E-0F02-460F-FC00-E6DBEE6D5E6F}"/>
              </a:ext>
            </a:extLst>
          </p:cNvPr>
          <p:cNvGrpSpPr/>
          <p:nvPr/>
        </p:nvGrpSpPr>
        <p:grpSpPr>
          <a:xfrm>
            <a:off x="4879534" y="3267385"/>
            <a:ext cx="6928731" cy="1486578"/>
            <a:chOff x="4879534" y="3267385"/>
            <a:chExt cx="6928731" cy="1486578"/>
          </a:xfrm>
        </p:grpSpPr>
        <p:sp>
          <p:nvSpPr>
            <p:cNvPr id="29" name="Hình chữ nhật: Góc Tròn 28">
              <a:extLst>
                <a:ext uri="{FF2B5EF4-FFF2-40B4-BE49-F238E27FC236}">
                  <a16:creationId xmlns:a16="http://schemas.microsoft.com/office/drawing/2014/main" id="{666134DF-F1B5-007D-320B-8051132417E1}"/>
                </a:ext>
              </a:extLst>
            </p:cNvPr>
            <p:cNvSpPr/>
            <p:nvPr/>
          </p:nvSpPr>
          <p:spPr>
            <a:xfrm>
              <a:off x="4879534" y="3267385"/>
              <a:ext cx="6928731" cy="1486578"/>
            </a:xfrm>
            <a:prstGeom prst="roundRect">
              <a:avLst>
                <a:gd name="adj" fmla="val 50000"/>
              </a:avLst>
            </a:prstGeom>
            <a:solidFill>
              <a:srgbClr val="CDFCF6"/>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5" name="Hình Bầu dục 24">
              <a:extLst>
                <a:ext uri="{FF2B5EF4-FFF2-40B4-BE49-F238E27FC236}">
                  <a16:creationId xmlns:a16="http://schemas.microsoft.com/office/drawing/2014/main" id="{4F27F917-6510-CC33-3C57-889BE9884D92}"/>
                </a:ext>
              </a:extLst>
            </p:cNvPr>
            <p:cNvSpPr/>
            <p:nvPr/>
          </p:nvSpPr>
          <p:spPr>
            <a:xfrm>
              <a:off x="10350547" y="3318547"/>
              <a:ext cx="1384253" cy="1384253"/>
            </a:xfrm>
            <a:prstGeom prst="ellipse">
              <a:avLst/>
            </a:prstGeom>
            <a:solidFill>
              <a:srgbClr val="00FF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33" name="Hình ảnh 32">
              <a:extLst>
                <a:ext uri="{FF2B5EF4-FFF2-40B4-BE49-F238E27FC236}">
                  <a16:creationId xmlns:a16="http://schemas.microsoft.com/office/drawing/2014/main" id="{16FEE708-1973-A145-853C-9A28B2211918}"/>
                </a:ext>
              </a:extLst>
            </p:cNvPr>
            <p:cNvPicPr>
              <a:picLocks noChangeAspect="1"/>
            </p:cNvPicPr>
            <p:nvPr/>
          </p:nvPicPr>
          <p:blipFill>
            <a:blip r:embed="rId3"/>
            <a:stretch>
              <a:fillRect/>
            </a:stretch>
          </p:blipFill>
          <p:spPr>
            <a:xfrm>
              <a:off x="10575709" y="3465513"/>
              <a:ext cx="1149611" cy="1149611"/>
            </a:xfrm>
            <a:prstGeom prst="rect">
              <a:avLst/>
            </a:prstGeom>
          </p:spPr>
        </p:pic>
        <p:sp>
          <p:nvSpPr>
            <p:cNvPr id="34" name="Hộp Văn bản 33">
              <a:extLst>
                <a:ext uri="{FF2B5EF4-FFF2-40B4-BE49-F238E27FC236}">
                  <a16:creationId xmlns:a16="http://schemas.microsoft.com/office/drawing/2014/main" id="{D9F25761-E296-EBE9-C051-F9A5918A3989}"/>
                </a:ext>
              </a:extLst>
            </p:cNvPr>
            <p:cNvSpPr txBox="1"/>
            <p:nvPr/>
          </p:nvSpPr>
          <p:spPr>
            <a:xfrm>
              <a:off x="5158803" y="3656730"/>
              <a:ext cx="5812681" cy="707886"/>
            </a:xfrm>
            <a:prstGeom prst="rect">
              <a:avLst/>
            </a:prstGeom>
            <a:noFill/>
          </p:spPr>
          <p:txBody>
            <a:bodyPr wrap="square" rtlCol="0">
              <a:spAutoFit/>
            </a:bodyPr>
            <a:lstStyle/>
            <a:p>
              <a:r>
                <a:rPr lang="vi-VN" sz="2000" dirty="0">
                  <a:solidFill>
                    <a:srgbClr val="FF0000"/>
                  </a:solidFill>
                  <a:latin typeface="iCiel Cadena" panose="02000503000000020004" pitchFamily="2" charset="0"/>
                </a:rPr>
                <a:t>Truyền bá các thông tin và sử dụng kế hoạch </a:t>
              </a:r>
              <a:r>
                <a:rPr lang="vi-VN" sz="2000" dirty="0" err="1">
                  <a:solidFill>
                    <a:srgbClr val="FF0000"/>
                  </a:solidFill>
                  <a:latin typeface="iCiel Cadena" panose="02000503000000020004" pitchFamily="2" charset="0"/>
                </a:rPr>
                <a:t>maketting</a:t>
              </a:r>
              <a:r>
                <a:rPr lang="vi-VN" sz="2000" dirty="0">
                  <a:solidFill>
                    <a:srgbClr val="FF0000"/>
                  </a:solidFill>
                  <a:latin typeface="iCiel Cadena" panose="02000503000000020004" pitchFamily="2" charset="0"/>
                </a:rPr>
                <a:t> phù với </a:t>
              </a:r>
              <a:r>
                <a:rPr lang="vi-VN" sz="2000" dirty="0" err="1">
                  <a:solidFill>
                    <a:srgbClr val="FF0000"/>
                  </a:solidFill>
                  <a:latin typeface="iCiel Cadena" panose="02000503000000020004" pitchFamily="2" charset="0"/>
                </a:rPr>
                <a:t>với</a:t>
              </a:r>
              <a:r>
                <a:rPr lang="vi-VN" sz="2000" dirty="0">
                  <a:solidFill>
                    <a:srgbClr val="FF0000"/>
                  </a:solidFill>
                  <a:latin typeface="iCiel Cadena" panose="02000503000000020004" pitchFamily="2" charset="0"/>
                </a:rPr>
                <a:t> các hướng đối tượng</a:t>
              </a:r>
            </a:p>
          </p:txBody>
        </p:sp>
      </p:grpSp>
      <p:grpSp>
        <p:nvGrpSpPr>
          <p:cNvPr id="7" name="Nhóm 6">
            <a:extLst>
              <a:ext uri="{FF2B5EF4-FFF2-40B4-BE49-F238E27FC236}">
                <a16:creationId xmlns:a16="http://schemas.microsoft.com/office/drawing/2014/main" id="{129CA0D1-9BD3-3D79-E32C-045CB7885161}"/>
              </a:ext>
            </a:extLst>
          </p:cNvPr>
          <p:cNvGrpSpPr/>
          <p:nvPr/>
        </p:nvGrpSpPr>
        <p:grpSpPr>
          <a:xfrm>
            <a:off x="434094" y="5114306"/>
            <a:ext cx="6928731" cy="1553098"/>
            <a:chOff x="434094" y="5114306"/>
            <a:chExt cx="6928731" cy="1553098"/>
          </a:xfrm>
        </p:grpSpPr>
        <p:sp>
          <p:nvSpPr>
            <p:cNvPr id="39" name="Hình chữ nhật: Góc Tròn 38">
              <a:extLst>
                <a:ext uri="{FF2B5EF4-FFF2-40B4-BE49-F238E27FC236}">
                  <a16:creationId xmlns:a16="http://schemas.microsoft.com/office/drawing/2014/main" id="{004306AB-80E7-B446-7A8D-950AFB693D1D}"/>
                </a:ext>
              </a:extLst>
            </p:cNvPr>
            <p:cNvSpPr/>
            <p:nvPr/>
          </p:nvSpPr>
          <p:spPr>
            <a:xfrm>
              <a:off x="434094" y="5114306"/>
              <a:ext cx="6928731" cy="1553098"/>
            </a:xfrm>
            <a:prstGeom prst="roundRect">
              <a:avLst>
                <a:gd name="adj" fmla="val 50000"/>
              </a:avLst>
            </a:prstGeom>
            <a:solidFill>
              <a:srgbClr val="FFFF00"/>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1" name="Hình Bầu dục 20">
              <a:extLst>
                <a:ext uri="{FF2B5EF4-FFF2-40B4-BE49-F238E27FC236}">
                  <a16:creationId xmlns:a16="http://schemas.microsoft.com/office/drawing/2014/main" id="{A797944E-2EC5-2B24-5DE2-B9E5B81A7E36}"/>
                </a:ext>
              </a:extLst>
            </p:cNvPr>
            <p:cNvSpPr/>
            <p:nvPr/>
          </p:nvSpPr>
          <p:spPr>
            <a:xfrm>
              <a:off x="532201" y="5195529"/>
              <a:ext cx="1398200" cy="13982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38" name="Hình ảnh 37">
              <a:extLst>
                <a:ext uri="{FF2B5EF4-FFF2-40B4-BE49-F238E27FC236}">
                  <a16:creationId xmlns:a16="http://schemas.microsoft.com/office/drawing/2014/main" id="{A6F921CE-ABE4-7339-3115-0BB5EDA499FF}"/>
                </a:ext>
              </a:extLst>
            </p:cNvPr>
            <p:cNvPicPr>
              <a:picLocks noChangeAspect="1"/>
            </p:cNvPicPr>
            <p:nvPr/>
          </p:nvPicPr>
          <p:blipFill>
            <a:blip r:embed="rId4"/>
            <a:stretch>
              <a:fillRect/>
            </a:stretch>
          </p:blipFill>
          <p:spPr>
            <a:xfrm>
              <a:off x="680280" y="5344393"/>
              <a:ext cx="1102041" cy="1102041"/>
            </a:xfrm>
            <a:prstGeom prst="rect">
              <a:avLst/>
            </a:prstGeom>
          </p:spPr>
        </p:pic>
        <p:sp>
          <p:nvSpPr>
            <p:cNvPr id="40" name="Hộp Văn bản 39">
              <a:extLst>
                <a:ext uri="{FF2B5EF4-FFF2-40B4-BE49-F238E27FC236}">
                  <a16:creationId xmlns:a16="http://schemas.microsoft.com/office/drawing/2014/main" id="{21D093C1-E8E7-8971-83A6-2A9854B030DF}"/>
                </a:ext>
              </a:extLst>
            </p:cNvPr>
            <p:cNvSpPr txBox="1"/>
            <p:nvPr/>
          </p:nvSpPr>
          <p:spPr>
            <a:xfrm>
              <a:off x="2078480" y="5423654"/>
              <a:ext cx="5208145" cy="1015663"/>
            </a:xfrm>
            <a:prstGeom prst="rect">
              <a:avLst/>
            </a:prstGeom>
            <a:noFill/>
          </p:spPr>
          <p:txBody>
            <a:bodyPr wrap="square" rtlCol="0">
              <a:spAutoFit/>
            </a:bodyPr>
            <a:lstStyle/>
            <a:p>
              <a:r>
                <a:rPr lang="vi-VN" sz="2000" dirty="0">
                  <a:solidFill>
                    <a:srgbClr val="CC0066"/>
                  </a:solidFill>
                  <a:latin typeface="iCiel Cadena" panose="02000503000000020004" pitchFamily="2" charset="0"/>
                </a:rPr>
                <a:t>Xây dựng thương hiệu trên </a:t>
              </a:r>
              <a:r>
                <a:rPr lang="vi-VN" sz="2000" dirty="0" err="1">
                  <a:solidFill>
                    <a:srgbClr val="CC0066"/>
                  </a:solidFill>
                  <a:latin typeface="iCiel Cadena" panose="02000503000000020004" pitchFamily="2" charset="0"/>
                </a:rPr>
                <a:t>Internet</a:t>
              </a:r>
              <a:r>
                <a:rPr lang="vi-VN" sz="2000" dirty="0">
                  <a:solidFill>
                    <a:srgbClr val="CC0066"/>
                  </a:solidFill>
                  <a:latin typeface="iCiel Cadena" panose="02000503000000020004" pitchFamily="2" charset="0"/>
                </a:rPr>
                <a:t> một cách chỉnh chu và làm việc với khẩu hiểu “ Hài lòng khách đến – Vừa lòng khách đi “</a:t>
              </a:r>
            </a:p>
          </p:txBody>
        </p:sp>
      </p:grpSp>
      <p:pic>
        <p:nvPicPr>
          <p:cNvPr id="10" name="Hình ảnh 9">
            <a:extLst>
              <a:ext uri="{FF2B5EF4-FFF2-40B4-BE49-F238E27FC236}">
                <a16:creationId xmlns:a16="http://schemas.microsoft.com/office/drawing/2014/main" id="{5220EEF5-4010-ACF8-9DE9-42238EC654EF}"/>
              </a:ext>
            </a:extLst>
          </p:cNvPr>
          <p:cNvPicPr>
            <a:picLocks noChangeAspect="1"/>
          </p:cNvPicPr>
          <p:nvPr/>
        </p:nvPicPr>
        <p:blipFill>
          <a:blip r:embed="rId5"/>
          <a:stretch>
            <a:fillRect/>
          </a:stretch>
        </p:blipFill>
        <p:spPr>
          <a:xfrm>
            <a:off x="11338033" y="6086551"/>
            <a:ext cx="793534" cy="750408"/>
          </a:xfrm>
          <a:prstGeom prst="rect">
            <a:avLst/>
          </a:prstGeom>
        </p:spPr>
      </p:pic>
    </p:spTree>
    <p:extLst>
      <p:ext uri="{BB962C8B-B14F-4D97-AF65-F5344CB8AC3E}">
        <p14:creationId xmlns:p14="http://schemas.microsoft.com/office/powerpoint/2010/main" val="3585363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nh chữ nhật 3">
            <a:extLst>
              <a:ext uri="{FF2B5EF4-FFF2-40B4-BE49-F238E27FC236}">
                <a16:creationId xmlns:a16="http://schemas.microsoft.com/office/drawing/2014/main" id="{FCFB35DA-1E2C-D971-A520-976365568A5D}"/>
              </a:ext>
            </a:extLst>
          </p:cNvPr>
          <p:cNvSpPr/>
          <p:nvPr/>
        </p:nvSpPr>
        <p:spPr>
          <a:xfrm>
            <a:off x="-13055" y="0"/>
            <a:ext cx="12192000" cy="6875220"/>
          </a:xfrm>
          <a:prstGeom prst="rect">
            <a:avLst/>
          </a:prstGeom>
          <a:solidFill>
            <a:srgbClr val="F9F5E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grpSp>
        <p:nvGrpSpPr>
          <p:cNvPr id="32" name="Nhóm 31">
            <a:extLst>
              <a:ext uri="{FF2B5EF4-FFF2-40B4-BE49-F238E27FC236}">
                <a16:creationId xmlns:a16="http://schemas.microsoft.com/office/drawing/2014/main" id="{20ADDD77-6D86-6B84-AFEE-1733CE801BDE}"/>
              </a:ext>
            </a:extLst>
          </p:cNvPr>
          <p:cNvGrpSpPr/>
          <p:nvPr/>
        </p:nvGrpSpPr>
        <p:grpSpPr>
          <a:xfrm>
            <a:off x="6175024" y="605929"/>
            <a:ext cx="4603753" cy="5435636"/>
            <a:chOff x="6829873" y="402729"/>
            <a:chExt cx="4603753" cy="5435636"/>
          </a:xfrm>
        </p:grpSpPr>
        <p:sp>
          <p:nvSpPr>
            <p:cNvPr id="16" name="Hộp Văn bản 15">
              <a:extLst>
                <a:ext uri="{FF2B5EF4-FFF2-40B4-BE49-F238E27FC236}">
                  <a16:creationId xmlns:a16="http://schemas.microsoft.com/office/drawing/2014/main" id="{9743BB97-5CEA-42F5-DC1A-BCBAF9F792E7}"/>
                </a:ext>
              </a:extLst>
            </p:cNvPr>
            <p:cNvSpPr txBox="1"/>
            <p:nvPr/>
          </p:nvSpPr>
          <p:spPr>
            <a:xfrm>
              <a:off x="6829873" y="4761147"/>
              <a:ext cx="4603753" cy="1077218"/>
            </a:xfrm>
            <a:prstGeom prst="rect">
              <a:avLst/>
            </a:prstGeom>
            <a:noFill/>
            <a:ln>
              <a:noFill/>
            </a:ln>
          </p:spPr>
          <p:txBody>
            <a:bodyPr wrap="square" rtlCol="0">
              <a:spAutoFit/>
            </a:bodyPr>
            <a:lstStyle/>
            <a:p>
              <a:pPr algn="ctr"/>
              <a:r>
                <a:rPr lang="vi-VN" sz="3200" dirty="0">
                  <a:solidFill>
                    <a:srgbClr val="002060"/>
                  </a:solidFill>
                  <a:latin typeface="iCiel Cadena" panose="02000503000000020004" pitchFamily="2" charset="0"/>
                </a:rPr>
                <a:t>KIẾN </a:t>
              </a:r>
              <a:r>
                <a:rPr lang="vi-VN" sz="3200">
                  <a:solidFill>
                    <a:srgbClr val="002060"/>
                  </a:solidFill>
                  <a:latin typeface="iCiel Cadena" panose="02000503000000020004" pitchFamily="2" charset="0"/>
                </a:rPr>
                <a:t>THỨC CƠ </a:t>
              </a:r>
              <a:r>
                <a:rPr lang="vi-VN" sz="3200" dirty="0">
                  <a:solidFill>
                    <a:srgbClr val="002060"/>
                  </a:solidFill>
                  <a:latin typeface="iCiel Cadena" panose="02000503000000020004" pitchFamily="2" charset="0"/>
                </a:rPr>
                <a:t>BẢN</a:t>
              </a:r>
            </a:p>
            <a:p>
              <a:pPr algn="ctr"/>
              <a:r>
                <a:rPr lang="vi-VN" sz="3200" dirty="0">
                  <a:solidFill>
                    <a:srgbClr val="002060"/>
                  </a:solidFill>
                  <a:latin typeface="iCiel Cadena" panose="02000503000000020004" pitchFamily="2" charset="0"/>
                </a:rPr>
                <a:t> VỀ LẬP TRÌNH WEBSITE</a:t>
              </a:r>
            </a:p>
          </p:txBody>
        </p:sp>
        <p:sp>
          <p:nvSpPr>
            <p:cNvPr id="15" name="Hộp Văn bản 14">
              <a:extLst>
                <a:ext uri="{FF2B5EF4-FFF2-40B4-BE49-F238E27FC236}">
                  <a16:creationId xmlns:a16="http://schemas.microsoft.com/office/drawing/2014/main" id="{D92E2F23-AF7D-3ECA-E290-3E59EB17ACB2}"/>
                </a:ext>
              </a:extLst>
            </p:cNvPr>
            <p:cNvSpPr txBox="1"/>
            <p:nvPr/>
          </p:nvSpPr>
          <p:spPr>
            <a:xfrm>
              <a:off x="7746545" y="402729"/>
              <a:ext cx="2853313" cy="1015663"/>
            </a:xfrm>
            <a:prstGeom prst="rect">
              <a:avLst/>
            </a:prstGeom>
            <a:noFill/>
            <a:ln>
              <a:noFill/>
            </a:ln>
          </p:spPr>
          <p:txBody>
            <a:bodyPr wrap="square" rtlCol="0">
              <a:spAutoFit/>
            </a:bodyPr>
            <a:lstStyle/>
            <a:p>
              <a:pPr algn="ctr"/>
              <a:r>
                <a:rPr lang="vi-VN" sz="6000" dirty="0">
                  <a:latin typeface="iCiel Cadena" panose="02000503000000020004" pitchFamily="2" charset="0"/>
                </a:rPr>
                <a:t>PHẦN 3</a:t>
              </a:r>
            </a:p>
          </p:txBody>
        </p:sp>
        <p:pic>
          <p:nvPicPr>
            <p:cNvPr id="14" name="Hình ảnh 13">
              <a:extLst>
                <a:ext uri="{FF2B5EF4-FFF2-40B4-BE49-F238E27FC236}">
                  <a16:creationId xmlns:a16="http://schemas.microsoft.com/office/drawing/2014/main" id="{06101096-F1E1-3266-7E38-5771343F54F5}"/>
                </a:ext>
              </a:extLst>
            </p:cNvPr>
            <p:cNvPicPr>
              <a:picLocks noChangeAspect="1"/>
            </p:cNvPicPr>
            <p:nvPr/>
          </p:nvPicPr>
          <p:blipFill>
            <a:blip r:embed="rId3"/>
            <a:stretch>
              <a:fillRect/>
            </a:stretch>
          </p:blipFill>
          <p:spPr>
            <a:xfrm>
              <a:off x="7622715" y="1677081"/>
              <a:ext cx="2691950" cy="2691950"/>
            </a:xfrm>
            <a:prstGeom prst="rect">
              <a:avLst/>
            </a:prstGeom>
            <a:ln>
              <a:noFill/>
            </a:ln>
          </p:spPr>
        </p:pic>
      </p:grpSp>
      <p:grpSp>
        <p:nvGrpSpPr>
          <p:cNvPr id="56" name="Nhóm 55">
            <a:extLst>
              <a:ext uri="{FF2B5EF4-FFF2-40B4-BE49-F238E27FC236}">
                <a16:creationId xmlns:a16="http://schemas.microsoft.com/office/drawing/2014/main" id="{56ABC45A-6CB1-85BE-D770-5A1B65CD132B}"/>
              </a:ext>
            </a:extLst>
          </p:cNvPr>
          <p:cNvGrpSpPr/>
          <p:nvPr/>
        </p:nvGrpSpPr>
        <p:grpSpPr>
          <a:xfrm>
            <a:off x="-9095996" y="-16269"/>
            <a:ext cx="13017780" cy="6890538"/>
            <a:chOff x="-1128584" y="-32538"/>
            <a:chExt cx="13017780" cy="6890538"/>
          </a:xfrm>
          <a:solidFill>
            <a:srgbClr val="FFEBEB"/>
          </a:solidFill>
        </p:grpSpPr>
        <p:grpSp>
          <p:nvGrpSpPr>
            <p:cNvPr id="27" name="Nhóm 26">
              <a:extLst>
                <a:ext uri="{FF2B5EF4-FFF2-40B4-BE49-F238E27FC236}">
                  <a16:creationId xmlns:a16="http://schemas.microsoft.com/office/drawing/2014/main" id="{3556898A-6EE1-B5F7-1DD7-2D0006CDDF18}"/>
                </a:ext>
              </a:extLst>
            </p:cNvPr>
            <p:cNvGrpSpPr/>
            <p:nvPr/>
          </p:nvGrpSpPr>
          <p:grpSpPr>
            <a:xfrm>
              <a:off x="-1128584" y="-32538"/>
              <a:ext cx="13017780" cy="6890538"/>
              <a:chOff x="-10154556" y="0"/>
              <a:chExt cx="12925873" cy="6858000"/>
            </a:xfrm>
            <a:grpFill/>
            <a:effectLst>
              <a:outerShdw blurRad="63500" sx="101000" sy="101000" algn="ctr" rotWithShape="0">
                <a:prstClr val="black">
                  <a:alpha val="25000"/>
                </a:prstClr>
              </a:outerShdw>
            </a:effectLst>
          </p:grpSpPr>
          <p:sp>
            <p:nvSpPr>
              <p:cNvPr id="19" name="Hình chữ nhật 18">
                <a:extLst>
                  <a:ext uri="{FF2B5EF4-FFF2-40B4-BE49-F238E27FC236}">
                    <a16:creationId xmlns:a16="http://schemas.microsoft.com/office/drawing/2014/main" id="{ED4FCAE4-B112-4589-4963-8406E290ADAD}"/>
                  </a:ext>
                </a:extLst>
              </p:cNvPr>
              <p:cNvSpPr/>
              <p:nvPr/>
            </p:nvSpPr>
            <p:spPr>
              <a:xfrm>
                <a:off x="-10154556" y="0"/>
                <a:ext cx="12192000" cy="6858000"/>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3" name="Hình tự do: Hình 22">
                <a:extLst>
                  <a:ext uri="{FF2B5EF4-FFF2-40B4-BE49-F238E27FC236}">
                    <a16:creationId xmlns:a16="http://schemas.microsoft.com/office/drawing/2014/main" id="{D3ABCA41-D4A3-050E-1B78-C2B8C905D40B}"/>
                  </a:ext>
                </a:extLst>
              </p:cNvPr>
              <p:cNvSpPr/>
              <p:nvPr/>
            </p:nvSpPr>
            <p:spPr>
              <a:xfrm>
                <a:off x="2023831" y="2126573"/>
                <a:ext cx="747486" cy="1494972"/>
              </a:xfrm>
              <a:custGeom>
                <a:avLst/>
                <a:gdLst>
                  <a:gd name="connsiteX0" fmla="*/ 0 w 747486"/>
                  <a:gd name="connsiteY0" fmla="*/ 0 h 1494972"/>
                  <a:gd name="connsiteX1" fmla="*/ 747486 w 747486"/>
                  <a:gd name="connsiteY1" fmla="*/ 747486 h 1494972"/>
                  <a:gd name="connsiteX2" fmla="*/ 0 w 747486"/>
                  <a:gd name="connsiteY2" fmla="*/ 1494972 h 1494972"/>
                </a:gdLst>
                <a:ahLst/>
                <a:cxnLst>
                  <a:cxn ang="0">
                    <a:pos x="connsiteX0" y="connsiteY0"/>
                  </a:cxn>
                  <a:cxn ang="0">
                    <a:pos x="connsiteX1" y="connsiteY1"/>
                  </a:cxn>
                  <a:cxn ang="0">
                    <a:pos x="connsiteX2" y="connsiteY2"/>
                  </a:cxn>
                </a:cxnLst>
                <a:rect l="l" t="t" r="r" b="b"/>
                <a:pathLst>
                  <a:path w="747486" h="1494972">
                    <a:moveTo>
                      <a:pt x="0" y="0"/>
                    </a:moveTo>
                    <a:cubicBezTo>
                      <a:pt x="412825" y="0"/>
                      <a:pt x="747486" y="334661"/>
                      <a:pt x="747486" y="747486"/>
                    </a:cubicBezTo>
                    <a:cubicBezTo>
                      <a:pt x="747486" y="1160311"/>
                      <a:pt x="412825" y="1494972"/>
                      <a:pt x="0" y="14949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vi-VN" sz="4000" b="1" dirty="0">
                    <a:solidFill>
                      <a:schemeClr val="tx1">
                        <a:lumMod val="65000"/>
                        <a:lumOff val="35000"/>
                      </a:schemeClr>
                    </a:solidFill>
                    <a:latin typeface="Bahnschrift Light SemiCondensed" panose="020B0502040204020203" pitchFamily="34" charset="0"/>
                    <a:cs typeface="Forte Forward" pitchFamily="2" charset="0"/>
                  </a:rPr>
                  <a:t>01</a:t>
                </a:r>
              </a:p>
            </p:txBody>
          </p:sp>
        </p:grpSp>
        <p:sp>
          <p:nvSpPr>
            <p:cNvPr id="34" name="Hộp Văn bản 33">
              <a:extLst>
                <a:ext uri="{FF2B5EF4-FFF2-40B4-BE49-F238E27FC236}">
                  <a16:creationId xmlns:a16="http://schemas.microsoft.com/office/drawing/2014/main" id="{6678D10C-81C6-9673-9565-1FB93A52D775}"/>
                </a:ext>
              </a:extLst>
            </p:cNvPr>
            <p:cNvSpPr txBox="1"/>
            <p:nvPr/>
          </p:nvSpPr>
          <p:spPr>
            <a:xfrm>
              <a:off x="4429747" y="652379"/>
              <a:ext cx="6263943" cy="646331"/>
            </a:xfrm>
            <a:prstGeom prst="rect">
              <a:avLst/>
            </a:prstGeom>
            <a:grpFill/>
          </p:spPr>
          <p:txBody>
            <a:bodyPr wrap="square" rtlCol="0">
              <a:spAutoFit/>
            </a:bodyPr>
            <a:lstStyle/>
            <a:p>
              <a:r>
                <a:rPr lang="vi-VN" sz="3600" dirty="0">
                  <a:solidFill>
                    <a:srgbClr val="C00000"/>
                  </a:solidFill>
                  <a:latin typeface="iCiel Cadena" panose="02000503000000020004" pitchFamily="2" charset="0"/>
                </a:rPr>
                <a:t>TỔNG QUAN NGÔN NGỮ HTML </a:t>
              </a:r>
            </a:p>
          </p:txBody>
        </p:sp>
        <p:pic>
          <p:nvPicPr>
            <p:cNvPr id="38" name="Hình ảnh 37">
              <a:extLst>
                <a:ext uri="{FF2B5EF4-FFF2-40B4-BE49-F238E27FC236}">
                  <a16:creationId xmlns:a16="http://schemas.microsoft.com/office/drawing/2014/main" id="{755E6755-3570-4B94-FA36-AF3BDE8B9851}"/>
                </a:ext>
              </a:extLst>
            </p:cNvPr>
            <p:cNvPicPr>
              <a:picLocks noChangeAspect="1"/>
            </p:cNvPicPr>
            <p:nvPr/>
          </p:nvPicPr>
          <p:blipFill>
            <a:blip r:embed="rId4"/>
            <a:stretch>
              <a:fillRect/>
            </a:stretch>
          </p:blipFill>
          <p:spPr>
            <a:xfrm>
              <a:off x="3890621" y="2038292"/>
              <a:ext cx="1709680" cy="1709680"/>
            </a:xfrm>
            <a:prstGeom prst="rect">
              <a:avLst/>
            </a:prstGeom>
            <a:grpFill/>
          </p:spPr>
        </p:pic>
        <p:sp>
          <p:nvSpPr>
            <p:cNvPr id="39" name="Hộp Văn bản 38">
              <a:extLst>
                <a:ext uri="{FF2B5EF4-FFF2-40B4-BE49-F238E27FC236}">
                  <a16:creationId xmlns:a16="http://schemas.microsoft.com/office/drawing/2014/main" id="{1C13C179-A514-3043-2D5A-7E21CE1A9AA9}"/>
                </a:ext>
              </a:extLst>
            </p:cNvPr>
            <p:cNvSpPr txBox="1"/>
            <p:nvPr/>
          </p:nvSpPr>
          <p:spPr>
            <a:xfrm>
              <a:off x="5643449" y="2707692"/>
              <a:ext cx="5018894" cy="1015663"/>
            </a:xfrm>
            <a:prstGeom prst="rect">
              <a:avLst/>
            </a:prstGeom>
            <a:grpFill/>
          </p:spPr>
          <p:txBody>
            <a:bodyPr wrap="square" rtlCol="0">
              <a:spAutoFit/>
            </a:bodyPr>
            <a:lstStyle/>
            <a:p>
              <a:r>
                <a:rPr lang="vi-VN" sz="20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HTML là: Ngôn ngữ đánh dấu siêu văn bản, được sử dụng để tạo cấu trúc và các thành phần trong trang </a:t>
              </a:r>
              <a:r>
                <a:rPr lang="vi-VN" sz="20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web</a:t>
              </a:r>
              <a:r>
                <a:rPr lang="vi-VN" sz="20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hoặc ứng dụng</a:t>
              </a:r>
              <a:endParaRPr lang="vi-VN" sz="2000" dirty="0">
                <a:solidFill>
                  <a:srgbClr val="0070C0"/>
                </a:solidFill>
                <a:latin typeface="iCiel Cadena" panose="02000503000000020004" pitchFamily="2" charset="0"/>
              </a:endParaRPr>
            </a:p>
          </p:txBody>
        </p:sp>
        <p:pic>
          <p:nvPicPr>
            <p:cNvPr id="45" name="Hình ảnh 44">
              <a:extLst>
                <a:ext uri="{FF2B5EF4-FFF2-40B4-BE49-F238E27FC236}">
                  <a16:creationId xmlns:a16="http://schemas.microsoft.com/office/drawing/2014/main" id="{D72CF1F7-AF7C-29E7-E56B-FCACB67880EB}"/>
                </a:ext>
              </a:extLst>
            </p:cNvPr>
            <p:cNvPicPr>
              <a:picLocks noChangeAspect="1"/>
            </p:cNvPicPr>
            <p:nvPr/>
          </p:nvPicPr>
          <p:blipFill>
            <a:blip r:embed="rId5"/>
            <a:stretch>
              <a:fillRect/>
            </a:stretch>
          </p:blipFill>
          <p:spPr>
            <a:xfrm>
              <a:off x="4216695" y="4600704"/>
              <a:ext cx="1426579" cy="1426579"/>
            </a:xfrm>
            <a:prstGeom prst="rect">
              <a:avLst/>
            </a:prstGeom>
            <a:grpFill/>
          </p:spPr>
        </p:pic>
        <p:sp>
          <p:nvSpPr>
            <p:cNvPr id="48" name="Hộp Văn bản 47">
              <a:extLst>
                <a:ext uri="{FF2B5EF4-FFF2-40B4-BE49-F238E27FC236}">
                  <a16:creationId xmlns:a16="http://schemas.microsoft.com/office/drawing/2014/main" id="{D4B1E255-81DF-2538-6023-CB98F73D469C}"/>
                </a:ext>
              </a:extLst>
            </p:cNvPr>
            <p:cNvSpPr txBox="1"/>
            <p:nvPr/>
          </p:nvSpPr>
          <p:spPr>
            <a:xfrm>
              <a:off x="5625774" y="2079445"/>
              <a:ext cx="3803490" cy="646331"/>
            </a:xfrm>
            <a:prstGeom prst="rect">
              <a:avLst/>
            </a:prstGeom>
            <a:grpFill/>
          </p:spPr>
          <p:txBody>
            <a:bodyPr wrap="square" rtlCol="0">
              <a:spAutoFit/>
            </a:bodyPr>
            <a:lstStyle/>
            <a:p>
              <a:r>
                <a:rPr lang="vi-VN" sz="3600" dirty="0">
                  <a:latin typeface="iCiel Cadena" panose="02000503000000020004" pitchFamily="2" charset="0"/>
                </a:rPr>
                <a:t>HTML LÀ GÌ?</a:t>
              </a:r>
            </a:p>
          </p:txBody>
        </p:sp>
        <p:sp>
          <p:nvSpPr>
            <p:cNvPr id="51" name="Hộp Văn bản 50">
              <a:extLst>
                <a:ext uri="{FF2B5EF4-FFF2-40B4-BE49-F238E27FC236}">
                  <a16:creationId xmlns:a16="http://schemas.microsoft.com/office/drawing/2014/main" id="{8BA9E417-453F-82C7-E6F9-24B28DD3B527}"/>
                </a:ext>
              </a:extLst>
            </p:cNvPr>
            <p:cNvSpPr txBox="1"/>
            <p:nvPr/>
          </p:nvSpPr>
          <p:spPr>
            <a:xfrm>
              <a:off x="5693391" y="4486006"/>
              <a:ext cx="3803490" cy="646331"/>
            </a:xfrm>
            <a:prstGeom prst="rect">
              <a:avLst/>
            </a:prstGeom>
            <a:grpFill/>
          </p:spPr>
          <p:txBody>
            <a:bodyPr wrap="square" rtlCol="0">
              <a:spAutoFit/>
            </a:bodyPr>
            <a:lstStyle/>
            <a:p>
              <a:r>
                <a:rPr lang="vi-VN" sz="3600" dirty="0">
                  <a:solidFill>
                    <a:schemeClr val="tx1">
                      <a:lumMod val="95000"/>
                      <a:lumOff val="5000"/>
                    </a:schemeClr>
                  </a:solidFill>
                  <a:latin typeface="iCiel Cadena" panose="02000503000000020004" pitchFamily="2" charset="0"/>
                </a:rPr>
                <a:t>HTML?</a:t>
              </a:r>
            </a:p>
          </p:txBody>
        </p:sp>
        <p:sp>
          <p:nvSpPr>
            <p:cNvPr id="55" name="Hộp Văn bản 54">
              <a:extLst>
                <a:ext uri="{FF2B5EF4-FFF2-40B4-BE49-F238E27FC236}">
                  <a16:creationId xmlns:a16="http://schemas.microsoft.com/office/drawing/2014/main" id="{255E4226-B586-EF11-CD6C-7AFE4BC98E46}"/>
                </a:ext>
              </a:extLst>
            </p:cNvPr>
            <p:cNvSpPr txBox="1"/>
            <p:nvPr/>
          </p:nvSpPr>
          <p:spPr>
            <a:xfrm>
              <a:off x="5625774" y="5098343"/>
              <a:ext cx="4659670" cy="923330"/>
            </a:xfrm>
            <a:prstGeom prst="rect">
              <a:avLst/>
            </a:prstGeom>
            <a:grpFill/>
          </p:spPr>
          <p:txBody>
            <a:bodyPr wrap="square">
              <a:spAutoFit/>
            </a:bodyPr>
            <a:lstStyle/>
            <a:p>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HTML còn được dùng để phân chia các đoạn văn, </a:t>
              </a:r>
              <a:r>
                <a:rPr lang="vi-VN" sz="18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heading</a:t>
              </a:r>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a:t>
              </a:r>
              <a:r>
                <a:rPr lang="vi-VN" sz="18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titles</a:t>
              </a:r>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và nó không phải là ngôn ngữ lập trình</a:t>
              </a:r>
              <a:endParaRPr lang="vi-VN" sz="1800" dirty="0">
                <a:solidFill>
                  <a:srgbClr val="0070C0"/>
                </a:solidFill>
                <a:latin typeface="iCiel Cadena" panose="02000503000000020004" pitchFamily="2" charset="0"/>
              </a:endParaRPr>
            </a:p>
          </p:txBody>
        </p:sp>
      </p:grpSp>
      <p:grpSp>
        <p:nvGrpSpPr>
          <p:cNvPr id="69" name="Nhóm 68">
            <a:extLst>
              <a:ext uri="{FF2B5EF4-FFF2-40B4-BE49-F238E27FC236}">
                <a16:creationId xmlns:a16="http://schemas.microsoft.com/office/drawing/2014/main" id="{04EEFFA6-AF91-7D63-26FC-C07785C26FD9}"/>
              </a:ext>
            </a:extLst>
          </p:cNvPr>
          <p:cNvGrpSpPr/>
          <p:nvPr/>
        </p:nvGrpSpPr>
        <p:grpSpPr>
          <a:xfrm>
            <a:off x="-9765368" y="-7599"/>
            <a:ext cx="12920893" cy="6890539"/>
            <a:chOff x="-1534506" y="11282"/>
            <a:chExt cx="12920893" cy="6890539"/>
          </a:xfrm>
          <a:solidFill>
            <a:srgbClr val="ADE4DB"/>
          </a:solidFill>
        </p:grpSpPr>
        <p:grpSp>
          <p:nvGrpSpPr>
            <p:cNvPr id="28" name="Nhóm 27">
              <a:extLst>
                <a:ext uri="{FF2B5EF4-FFF2-40B4-BE49-F238E27FC236}">
                  <a16:creationId xmlns:a16="http://schemas.microsoft.com/office/drawing/2014/main" id="{C148CFDE-DA2F-DC8F-1252-4538CC110216}"/>
                </a:ext>
              </a:extLst>
            </p:cNvPr>
            <p:cNvGrpSpPr/>
            <p:nvPr/>
          </p:nvGrpSpPr>
          <p:grpSpPr>
            <a:xfrm>
              <a:off x="-1534506" y="11282"/>
              <a:ext cx="12920893" cy="6890539"/>
              <a:chOff x="-9196162" y="-36513"/>
              <a:chExt cx="12920893" cy="6890539"/>
            </a:xfrm>
            <a:grpFill/>
            <a:effectLst>
              <a:outerShdw blurRad="63500" sx="101000" sy="101000" algn="ctr" rotWithShape="0">
                <a:prstClr val="black">
                  <a:alpha val="25000"/>
                </a:prstClr>
              </a:outerShdw>
            </a:effectLst>
          </p:grpSpPr>
          <p:sp>
            <p:nvSpPr>
              <p:cNvPr id="18" name="Hình chữ nhật 17">
                <a:extLst>
                  <a:ext uri="{FF2B5EF4-FFF2-40B4-BE49-F238E27FC236}">
                    <a16:creationId xmlns:a16="http://schemas.microsoft.com/office/drawing/2014/main" id="{986B6D75-EA8C-64B8-BEBA-F20DED2B4CCF}"/>
                  </a:ext>
                </a:extLst>
              </p:cNvPr>
              <p:cNvSpPr/>
              <p:nvPr/>
            </p:nvSpPr>
            <p:spPr>
              <a:xfrm>
                <a:off x="-9196162" y="-36513"/>
                <a:ext cx="12226754" cy="6890539"/>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4" name="Hình tự do: Hình 23">
                <a:extLst>
                  <a:ext uri="{FF2B5EF4-FFF2-40B4-BE49-F238E27FC236}">
                    <a16:creationId xmlns:a16="http://schemas.microsoft.com/office/drawing/2014/main" id="{C2FCBF93-CC2F-D253-B507-ADDD822200FF}"/>
                  </a:ext>
                </a:extLst>
              </p:cNvPr>
              <p:cNvSpPr/>
              <p:nvPr/>
            </p:nvSpPr>
            <p:spPr>
              <a:xfrm>
                <a:off x="2977245" y="2874059"/>
                <a:ext cx="747486" cy="1494972"/>
              </a:xfrm>
              <a:custGeom>
                <a:avLst/>
                <a:gdLst>
                  <a:gd name="connsiteX0" fmla="*/ 0 w 747486"/>
                  <a:gd name="connsiteY0" fmla="*/ 0 h 1494972"/>
                  <a:gd name="connsiteX1" fmla="*/ 747486 w 747486"/>
                  <a:gd name="connsiteY1" fmla="*/ 747486 h 1494972"/>
                  <a:gd name="connsiteX2" fmla="*/ 0 w 747486"/>
                  <a:gd name="connsiteY2" fmla="*/ 1494972 h 1494972"/>
                </a:gdLst>
                <a:ahLst/>
                <a:cxnLst>
                  <a:cxn ang="0">
                    <a:pos x="connsiteX0" y="connsiteY0"/>
                  </a:cxn>
                  <a:cxn ang="0">
                    <a:pos x="connsiteX1" y="connsiteY1"/>
                  </a:cxn>
                  <a:cxn ang="0">
                    <a:pos x="connsiteX2" y="connsiteY2"/>
                  </a:cxn>
                </a:cxnLst>
                <a:rect l="l" t="t" r="r" b="b"/>
                <a:pathLst>
                  <a:path w="747486" h="1494972">
                    <a:moveTo>
                      <a:pt x="0" y="0"/>
                    </a:moveTo>
                    <a:cubicBezTo>
                      <a:pt x="412825" y="0"/>
                      <a:pt x="747486" y="334661"/>
                      <a:pt x="747486" y="747486"/>
                    </a:cubicBezTo>
                    <a:cubicBezTo>
                      <a:pt x="747486" y="1160311"/>
                      <a:pt x="412825" y="1494972"/>
                      <a:pt x="0" y="14949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vi-VN" sz="3600" b="1" dirty="0">
                    <a:solidFill>
                      <a:schemeClr val="tx1">
                        <a:lumMod val="65000"/>
                        <a:lumOff val="35000"/>
                      </a:schemeClr>
                    </a:solidFill>
                    <a:latin typeface="Bahnschrift Light SemiCondensed" panose="020B0502040204020203" pitchFamily="34" charset="0"/>
                  </a:rPr>
                  <a:t>02</a:t>
                </a:r>
              </a:p>
            </p:txBody>
          </p:sp>
        </p:grpSp>
        <p:sp>
          <p:nvSpPr>
            <p:cNvPr id="57" name="Hộp Văn bản 56">
              <a:extLst>
                <a:ext uri="{FF2B5EF4-FFF2-40B4-BE49-F238E27FC236}">
                  <a16:creationId xmlns:a16="http://schemas.microsoft.com/office/drawing/2014/main" id="{899026E2-1D0A-0BE3-E799-910996EAD33D}"/>
                </a:ext>
              </a:extLst>
            </p:cNvPr>
            <p:cNvSpPr txBox="1"/>
            <p:nvPr/>
          </p:nvSpPr>
          <p:spPr>
            <a:xfrm>
              <a:off x="5827371" y="804556"/>
              <a:ext cx="3265559" cy="646331"/>
            </a:xfrm>
            <a:prstGeom prst="rect">
              <a:avLst/>
            </a:prstGeom>
            <a:grpFill/>
          </p:spPr>
          <p:txBody>
            <a:bodyPr wrap="square" rtlCol="0">
              <a:spAutoFit/>
            </a:bodyPr>
            <a:lstStyle/>
            <a:p>
              <a:r>
                <a:rPr lang="vi-VN" sz="3600" dirty="0">
                  <a:solidFill>
                    <a:srgbClr val="0070C0"/>
                  </a:solidFill>
                  <a:latin typeface="iCiel Cadena" panose="02000503000000020004" pitchFamily="2" charset="0"/>
                </a:rPr>
                <a:t>NGÔN NGỮ CSS</a:t>
              </a:r>
            </a:p>
          </p:txBody>
        </p:sp>
        <p:pic>
          <p:nvPicPr>
            <p:cNvPr id="59" name="Hình ảnh 58">
              <a:extLst>
                <a:ext uri="{FF2B5EF4-FFF2-40B4-BE49-F238E27FC236}">
                  <a16:creationId xmlns:a16="http://schemas.microsoft.com/office/drawing/2014/main" id="{9E7B0EB9-8A73-499F-7DBC-8A4E592E2871}"/>
                </a:ext>
              </a:extLst>
            </p:cNvPr>
            <p:cNvPicPr>
              <a:picLocks noChangeAspect="1"/>
            </p:cNvPicPr>
            <p:nvPr/>
          </p:nvPicPr>
          <p:blipFill>
            <a:blip r:embed="rId6"/>
            <a:stretch>
              <a:fillRect/>
            </a:stretch>
          </p:blipFill>
          <p:spPr>
            <a:xfrm>
              <a:off x="4788818" y="1975015"/>
              <a:ext cx="1275170" cy="1275170"/>
            </a:xfrm>
            <a:prstGeom prst="rect">
              <a:avLst/>
            </a:prstGeom>
            <a:grpFill/>
          </p:spPr>
        </p:pic>
        <p:pic>
          <p:nvPicPr>
            <p:cNvPr id="63" name="Hình ảnh 62">
              <a:extLst>
                <a:ext uri="{FF2B5EF4-FFF2-40B4-BE49-F238E27FC236}">
                  <a16:creationId xmlns:a16="http://schemas.microsoft.com/office/drawing/2014/main" id="{A09BDD58-9014-328A-324D-0F505BC5822C}"/>
                </a:ext>
              </a:extLst>
            </p:cNvPr>
            <p:cNvPicPr>
              <a:picLocks noChangeAspect="1"/>
            </p:cNvPicPr>
            <p:nvPr/>
          </p:nvPicPr>
          <p:blipFill>
            <a:blip r:embed="rId7"/>
            <a:stretch>
              <a:fillRect/>
            </a:stretch>
          </p:blipFill>
          <p:spPr>
            <a:xfrm>
              <a:off x="4917527" y="4550606"/>
              <a:ext cx="1123806" cy="1123806"/>
            </a:xfrm>
            <a:prstGeom prst="rect">
              <a:avLst/>
            </a:prstGeom>
            <a:grpFill/>
          </p:spPr>
        </p:pic>
        <p:sp>
          <p:nvSpPr>
            <p:cNvPr id="64" name="Hộp Văn bản 63">
              <a:extLst>
                <a:ext uri="{FF2B5EF4-FFF2-40B4-BE49-F238E27FC236}">
                  <a16:creationId xmlns:a16="http://schemas.microsoft.com/office/drawing/2014/main" id="{D2D91EA7-F342-0717-46E7-16FFD81048D5}"/>
                </a:ext>
              </a:extLst>
            </p:cNvPr>
            <p:cNvSpPr txBox="1"/>
            <p:nvPr/>
          </p:nvSpPr>
          <p:spPr>
            <a:xfrm>
              <a:off x="6012653" y="1847270"/>
              <a:ext cx="2095499" cy="523220"/>
            </a:xfrm>
            <a:prstGeom prst="rect">
              <a:avLst/>
            </a:prstGeom>
            <a:grpFill/>
          </p:spPr>
          <p:txBody>
            <a:bodyPr wrap="square" rtlCol="0">
              <a:spAutoFit/>
            </a:bodyPr>
            <a:lstStyle/>
            <a:p>
              <a:r>
                <a:rPr lang="vi-VN" sz="2800" dirty="0">
                  <a:latin typeface="iCiel Cadena" panose="02000503000000020004" pitchFamily="2" charset="0"/>
                </a:rPr>
                <a:t>CSS LÀ GÌ?</a:t>
              </a:r>
            </a:p>
          </p:txBody>
        </p:sp>
        <p:sp>
          <p:nvSpPr>
            <p:cNvPr id="66" name="Hộp Văn bản 65">
              <a:extLst>
                <a:ext uri="{FF2B5EF4-FFF2-40B4-BE49-F238E27FC236}">
                  <a16:creationId xmlns:a16="http://schemas.microsoft.com/office/drawing/2014/main" id="{44089D60-5994-9F2E-7366-2D307221CC3A}"/>
                </a:ext>
              </a:extLst>
            </p:cNvPr>
            <p:cNvSpPr txBox="1"/>
            <p:nvPr/>
          </p:nvSpPr>
          <p:spPr>
            <a:xfrm>
              <a:off x="6004258" y="4269135"/>
              <a:ext cx="3769143" cy="523220"/>
            </a:xfrm>
            <a:prstGeom prst="rect">
              <a:avLst/>
            </a:prstGeom>
            <a:grpFill/>
          </p:spPr>
          <p:txBody>
            <a:bodyPr wrap="square" rtlCol="0">
              <a:spAutoFit/>
            </a:bodyPr>
            <a:lstStyle/>
            <a:p>
              <a:r>
                <a:rPr lang="vi-VN" sz="2800" dirty="0">
                  <a:latin typeface="iCiel Cadena" panose="02000503000000020004" pitchFamily="2" charset="0"/>
                </a:rPr>
                <a:t>TÁC DỤNG CỦA CSS?</a:t>
              </a:r>
            </a:p>
          </p:txBody>
        </p:sp>
        <p:sp>
          <p:nvSpPr>
            <p:cNvPr id="67" name="Hộp Văn bản 66">
              <a:extLst>
                <a:ext uri="{FF2B5EF4-FFF2-40B4-BE49-F238E27FC236}">
                  <a16:creationId xmlns:a16="http://schemas.microsoft.com/office/drawing/2014/main" id="{709DA64B-30A8-70CE-122E-FA1E9555BBF4}"/>
                </a:ext>
              </a:extLst>
            </p:cNvPr>
            <p:cNvSpPr txBox="1"/>
            <p:nvPr/>
          </p:nvSpPr>
          <p:spPr>
            <a:xfrm>
              <a:off x="6028611" y="2291827"/>
              <a:ext cx="3538777" cy="923330"/>
            </a:xfrm>
            <a:prstGeom prst="rect">
              <a:avLst/>
            </a:prstGeom>
            <a:grpFill/>
          </p:spPr>
          <p:txBody>
            <a:bodyPr wrap="square" rtlCol="0">
              <a:spAutoFit/>
            </a:bodyPr>
            <a:lstStyle/>
            <a:p>
              <a:r>
                <a:rPr lang="vi-VN" dirty="0">
                  <a:solidFill>
                    <a:srgbClr val="002060"/>
                  </a:solidFill>
                  <a:latin typeface="iCiel Cadena" panose="02000503000000020004" pitchFamily="2" charset="0"/>
                </a:rPr>
                <a:t>Là ngôn ngữ sử dụng để định dạng lại các phần tử được tạo ra bởi (HTML)</a:t>
              </a:r>
            </a:p>
          </p:txBody>
        </p:sp>
        <p:sp>
          <p:nvSpPr>
            <p:cNvPr id="68" name="Hộp Văn bản 67">
              <a:extLst>
                <a:ext uri="{FF2B5EF4-FFF2-40B4-BE49-F238E27FC236}">
                  <a16:creationId xmlns:a16="http://schemas.microsoft.com/office/drawing/2014/main" id="{DFCA0B3D-2C17-C96C-3EF0-651CAA03A890}"/>
                </a:ext>
              </a:extLst>
            </p:cNvPr>
            <p:cNvSpPr txBox="1"/>
            <p:nvPr/>
          </p:nvSpPr>
          <p:spPr>
            <a:xfrm>
              <a:off x="6027530" y="4743120"/>
              <a:ext cx="3719437" cy="1200329"/>
            </a:xfrm>
            <a:prstGeom prst="rect">
              <a:avLst/>
            </a:prstGeom>
            <a:grpFill/>
          </p:spPr>
          <p:txBody>
            <a:bodyPr wrap="square" rtlCol="0">
              <a:spAutoFit/>
            </a:bodyPr>
            <a:lstStyle/>
            <a:p>
              <a:r>
                <a:rPr lang="vi-VN" sz="1800" dirty="0">
                  <a:solidFill>
                    <a:srgbClr val="002060"/>
                  </a:solidFill>
                  <a:effectLst/>
                  <a:latin typeface="iCiel Cadena" panose="02000503000000020004" pitchFamily="2" charset="0"/>
                  <a:ea typeface="Arial" panose="020B0604020202020204" pitchFamily="34" charset="0"/>
                  <a:cs typeface="Times New Roman" panose="02020603050405020304" pitchFamily="18" charset="0"/>
                </a:rPr>
                <a:t>CSS sẽ giúp chúng ta có thể thêm </a:t>
              </a:r>
              <a:r>
                <a:rPr lang="vi-VN" sz="1800" dirty="0" err="1">
                  <a:solidFill>
                    <a:srgbClr val="002060"/>
                  </a:solidFill>
                  <a:effectLst/>
                  <a:latin typeface="iCiel Cadena" panose="02000503000000020004" pitchFamily="2" charset="0"/>
                  <a:ea typeface="Arial" panose="020B0604020202020204" pitchFamily="34" charset="0"/>
                  <a:cs typeface="Times New Roman" panose="02020603050405020304" pitchFamily="18" charset="0"/>
                </a:rPr>
                <a:t>style</a:t>
              </a:r>
              <a:r>
                <a:rPr lang="vi-VN" sz="1800" dirty="0">
                  <a:solidFill>
                    <a:srgbClr val="002060"/>
                  </a:solidFill>
                  <a:effectLst/>
                  <a:latin typeface="iCiel Cadena" panose="02000503000000020004" pitchFamily="2" charset="0"/>
                  <a:ea typeface="Arial" panose="020B0604020202020204" pitchFamily="34" charset="0"/>
                  <a:cs typeface="Times New Roman" panose="02020603050405020304" pitchFamily="18" charset="0"/>
                </a:rPr>
                <a:t> vào các phần tử HTML đó như đổi bố cục, màu sắc trang, đổi màu chữ, </a:t>
              </a:r>
              <a:r>
                <a:rPr lang="vi-VN" sz="1800" dirty="0" err="1">
                  <a:solidFill>
                    <a:srgbClr val="002060"/>
                  </a:solidFill>
                  <a:effectLst/>
                  <a:latin typeface="iCiel Cadena" panose="02000503000000020004" pitchFamily="2" charset="0"/>
                  <a:ea typeface="Arial" panose="020B0604020202020204" pitchFamily="34" charset="0"/>
                  <a:cs typeface="Times New Roman" panose="02020603050405020304" pitchFamily="18" charset="0"/>
                </a:rPr>
                <a:t>font</a:t>
              </a:r>
              <a:r>
                <a:rPr lang="vi-VN" sz="1800" dirty="0">
                  <a:solidFill>
                    <a:srgbClr val="002060"/>
                  </a:solidFill>
                  <a:effectLst/>
                  <a:latin typeface="iCiel Cadena" panose="02000503000000020004" pitchFamily="2" charset="0"/>
                  <a:ea typeface="Arial" panose="020B0604020202020204" pitchFamily="34" charset="0"/>
                  <a:cs typeface="Times New Roman" panose="02020603050405020304" pitchFamily="18" charset="0"/>
                </a:rPr>
                <a:t> chữ, thay đổi cấu trúc</a:t>
              </a:r>
              <a:endParaRPr lang="vi-VN" dirty="0">
                <a:solidFill>
                  <a:srgbClr val="002060"/>
                </a:solidFill>
                <a:latin typeface="iCiel Cadena" panose="02000503000000020004" pitchFamily="2" charset="0"/>
              </a:endParaRPr>
            </a:p>
          </p:txBody>
        </p:sp>
      </p:grpSp>
      <p:grpSp>
        <p:nvGrpSpPr>
          <p:cNvPr id="79" name="Nhóm 78">
            <a:extLst>
              <a:ext uri="{FF2B5EF4-FFF2-40B4-BE49-F238E27FC236}">
                <a16:creationId xmlns:a16="http://schemas.microsoft.com/office/drawing/2014/main" id="{5CB21566-D857-2F7D-E0DA-549D71FF64AD}"/>
              </a:ext>
            </a:extLst>
          </p:cNvPr>
          <p:cNvGrpSpPr/>
          <p:nvPr/>
        </p:nvGrpSpPr>
        <p:grpSpPr>
          <a:xfrm>
            <a:off x="-10622403" y="-9183"/>
            <a:ext cx="13015424" cy="6904823"/>
            <a:chOff x="-2420863" y="6307"/>
            <a:chExt cx="13015424" cy="6904823"/>
          </a:xfrm>
          <a:solidFill>
            <a:srgbClr val="6DA9E4"/>
          </a:solidFill>
        </p:grpSpPr>
        <p:grpSp>
          <p:nvGrpSpPr>
            <p:cNvPr id="31" name="Nhóm 30">
              <a:extLst>
                <a:ext uri="{FF2B5EF4-FFF2-40B4-BE49-F238E27FC236}">
                  <a16:creationId xmlns:a16="http://schemas.microsoft.com/office/drawing/2014/main" id="{C25C66EC-71E4-4FDF-8EB5-4323D6428B04}"/>
                </a:ext>
              </a:extLst>
            </p:cNvPr>
            <p:cNvGrpSpPr/>
            <p:nvPr/>
          </p:nvGrpSpPr>
          <p:grpSpPr>
            <a:xfrm>
              <a:off x="-2420863" y="6307"/>
              <a:ext cx="13015424" cy="6904823"/>
              <a:chOff x="-7922535" y="-36512"/>
              <a:chExt cx="12936875" cy="6858000"/>
            </a:xfrm>
            <a:grpFill/>
            <a:effectLst>
              <a:outerShdw blurRad="63500" sx="101000" sy="101000" algn="ctr" rotWithShape="0">
                <a:prstClr val="black">
                  <a:alpha val="25000"/>
                </a:prstClr>
              </a:outerShdw>
            </a:effectLst>
          </p:grpSpPr>
          <p:sp>
            <p:nvSpPr>
              <p:cNvPr id="17" name="Hình chữ nhật 16">
                <a:extLst>
                  <a:ext uri="{FF2B5EF4-FFF2-40B4-BE49-F238E27FC236}">
                    <a16:creationId xmlns:a16="http://schemas.microsoft.com/office/drawing/2014/main" id="{F58C4950-332A-240F-8387-317413B7EA18}"/>
                  </a:ext>
                </a:extLst>
              </p:cNvPr>
              <p:cNvSpPr/>
              <p:nvPr/>
            </p:nvSpPr>
            <p:spPr>
              <a:xfrm>
                <a:off x="-7922535" y="-36512"/>
                <a:ext cx="12192000" cy="6858000"/>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5" name="Hình tự do: Hình 24">
                <a:extLst>
                  <a:ext uri="{FF2B5EF4-FFF2-40B4-BE49-F238E27FC236}">
                    <a16:creationId xmlns:a16="http://schemas.microsoft.com/office/drawing/2014/main" id="{9FF29656-3015-8989-DFFD-0928F53357B1}"/>
                  </a:ext>
                </a:extLst>
              </p:cNvPr>
              <p:cNvSpPr/>
              <p:nvPr/>
            </p:nvSpPr>
            <p:spPr>
              <a:xfrm>
                <a:off x="4266854" y="3621545"/>
                <a:ext cx="747486" cy="1494972"/>
              </a:xfrm>
              <a:custGeom>
                <a:avLst/>
                <a:gdLst>
                  <a:gd name="connsiteX0" fmla="*/ 0 w 747486"/>
                  <a:gd name="connsiteY0" fmla="*/ 0 h 1494972"/>
                  <a:gd name="connsiteX1" fmla="*/ 747486 w 747486"/>
                  <a:gd name="connsiteY1" fmla="*/ 747486 h 1494972"/>
                  <a:gd name="connsiteX2" fmla="*/ 0 w 747486"/>
                  <a:gd name="connsiteY2" fmla="*/ 1494972 h 1494972"/>
                </a:gdLst>
                <a:ahLst/>
                <a:cxnLst>
                  <a:cxn ang="0">
                    <a:pos x="connsiteX0" y="connsiteY0"/>
                  </a:cxn>
                  <a:cxn ang="0">
                    <a:pos x="connsiteX1" y="connsiteY1"/>
                  </a:cxn>
                  <a:cxn ang="0">
                    <a:pos x="connsiteX2" y="connsiteY2"/>
                  </a:cxn>
                </a:cxnLst>
                <a:rect l="l" t="t" r="r" b="b"/>
                <a:pathLst>
                  <a:path w="747486" h="1494972">
                    <a:moveTo>
                      <a:pt x="0" y="0"/>
                    </a:moveTo>
                    <a:cubicBezTo>
                      <a:pt x="412825" y="0"/>
                      <a:pt x="747486" y="334661"/>
                      <a:pt x="747486" y="747486"/>
                    </a:cubicBezTo>
                    <a:cubicBezTo>
                      <a:pt x="747486" y="1160311"/>
                      <a:pt x="412825" y="1494972"/>
                      <a:pt x="0" y="14949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vi-VN" sz="3600" b="1" dirty="0">
                    <a:solidFill>
                      <a:schemeClr val="tx1">
                        <a:lumMod val="65000"/>
                        <a:lumOff val="35000"/>
                      </a:schemeClr>
                    </a:solidFill>
                    <a:latin typeface="Bahnschrift Light SemiCondensed" panose="020B0502040204020203" pitchFamily="34" charset="0"/>
                  </a:rPr>
                  <a:t>03</a:t>
                </a:r>
              </a:p>
            </p:txBody>
          </p:sp>
        </p:grpSp>
        <p:sp>
          <p:nvSpPr>
            <p:cNvPr id="70" name="Hộp Văn bản 69">
              <a:extLst>
                <a:ext uri="{FF2B5EF4-FFF2-40B4-BE49-F238E27FC236}">
                  <a16:creationId xmlns:a16="http://schemas.microsoft.com/office/drawing/2014/main" id="{18C109F3-0369-52B1-06DB-D8D5DC212D08}"/>
                </a:ext>
              </a:extLst>
            </p:cNvPr>
            <p:cNvSpPr txBox="1"/>
            <p:nvPr/>
          </p:nvSpPr>
          <p:spPr>
            <a:xfrm>
              <a:off x="4000997" y="559864"/>
              <a:ext cx="4210500" cy="1077218"/>
            </a:xfrm>
            <a:prstGeom prst="rect">
              <a:avLst/>
            </a:prstGeom>
            <a:grpFill/>
          </p:spPr>
          <p:txBody>
            <a:bodyPr wrap="square" rtlCol="0">
              <a:spAutoFit/>
            </a:bodyPr>
            <a:lstStyle/>
            <a:p>
              <a:pPr algn="ctr"/>
              <a:r>
                <a:rPr lang="vi-VN" sz="3200" dirty="0">
                  <a:solidFill>
                    <a:srgbClr val="C00000"/>
                  </a:solidFill>
                  <a:latin typeface="iCiel Cadena" panose="02000503000000020004" pitchFamily="2" charset="0"/>
                </a:rPr>
                <a:t>PHP FRAMEWORD CODEIGNITER</a:t>
              </a:r>
            </a:p>
          </p:txBody>
        </p:sp>
        <p:sp>
          <p:nvSpPr>
            <p:cNvPr id="71" name="Hộp Văn bản 70">
              <a:extLst>
                <a:ext uri="{FF2B5EF4-FFF2-40B4-BE49-F238E27FC236}">
                  <a16:creationId xmlns:a16="http://schemas.microsoft.com/office/drawing/2014/main" id="{619A2795-509F-35FC-F7FD-0E9052425DB8}"/>
                </a:ext>
              </a:extLst>
            </p:cNvPr>
            <p:cNvSpPr txBox="1"/>
            <p:nvPr/>
          </p:nvSpPr>
          <p:spPr>
            <a:xfrm>
              <a:off x="4937133" y="1863362"/>
              <a:ext cx="3538777" cy="523220"/>
            </a:xfrm>
            <a:prstGeom prst="rect">
              <a:avLst/>
            </a:prstGeom>
            <a:grpFill/>
          </p:spPr>
          <p:txBody>
            <a:bodyPr wrap="square" rtlCol="0">
              <a:spAutoFit/>
            </a:bodyPr>
            <a:lstStyle/>
            <a:p>
              <a:r>
                <a:rPr lang="vi-VN" sz="2800" dirty="0">
                  <a:latin typeface="iCiel Cadena" panose="02000503000000020004" pitchFamily="2" charset="0"/>
                </a:rPr>
                <a:t>CODEIGNITER LÀ GÌ?</a:t>
              </a:r>
            </a:p>
          </p:txBody>
        </p:sp>
        <p:sp>
          <p:nvSpPr>
            <p:cNvPr id="72" name="Hộp Văn bản 71">
              <a:extLst>
                <a:ext uri="{FF2B5EF4-FFF2-40B4-BE49-F238E27FC236}">
                  <a16:creationId xmlns:a16="http://schemas.microsoft.com/office/drawing/2014/main" id="{0FFE12FB-0FFE-3477-BF6A-2852D96FA98E}"/>
                </a:ext>
              </a:extLst>
            </p:cNvPr>
            <p:cNvSpPr txBox="1"/>
            <p:nvPr/>
          </p:nvSpPr>
          <p:spPr>
            <a:xfrm>
              <a:off x="4896619" y="2336206"/>
              <a:ext cx="4000638" cy="1477328"/>
            </a:xfrm>
            <a:prstGeom prst="rect">
              <a:avLst/>
            </a:prstGeom>
            <a:grpFill/>
          </p:spPr>
          <p:txBody>
            <a:bodyPr wrap="square" rtlCol="0">
              <a:spAutoFit/>
            </a:bodyPr>
            <a:lstStyle/>
            <a:p>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Là </a:t>
              </a:r>
              <a:r>
                <a:rPr lang="vi-VN" sz="18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framework</a:t>
              </a:r>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PHP mạnh mẽ với </a:t>
              </a:r>
              <a:r>
                <a:rPr lang="vi-VN" sz="18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footprint</a:t>
              </a:r>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rất nhỏ, dành cho các lập trình viên cần một bộ công cụ đơn giản và thông minh để tạo ra các ứng dụng </a:t>
              </a:r>
              <a:r>
                <a:rPr lang="vi-VN" sz="18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web</a:t>
              </a:r>
              <a:r>
                <a:rPr lang="vi-VN" sz="18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với đầy đủ các tính năng</a:t>
              </a:r>
              <a:endParaRPr lang="vi-VN" dirty="0">
                <a:solidFill>
                  <a:srgbClr val="0070C0"/>
                </a:solidFill>
                <a:latin typeface="iCiel Cadena" panose="02000503000000020004" pitchFamily="2" charset="0"/>
              </a:endParaRPr>
            </a:p>
          </p:txBody>
        </p:sp>
        <p:sp>
          <p:nvSpPr>
            <p:cNvPr id="73" name="Hộp Văn bản 72">
              <a:extLst>
                <a:ext uri="{FF2B5EF4-FFF2-40B4-BE49-F238E27FC236}">
                  <a16:creationId xmlns:a16="http://schemas.microsoft.com/office/drawing/2014/main" id="{06C1372D-BE08-6FA7-741B-E53DC3827E29}"/>
                </a:ext>
              </a:extLst>
            </p:cNvPr>
            <p:cNvSpPr txBox="1"/>
            <p:nvPr/>
          </p:nvSpPr>
          <p:spPr>
            <a:xfrm>
              <a:off x="4998000" y="4341868"/>
              <a:ext cx="4612325" cy="954107"/>
            </a:xfrm>
            <a:prstGeom prst="rect">
              <a:avLst/>
            </a:prstGeom>
            <a:grpFill/>
          </p:spPr>
          <p:txBody>
            <a:bodyPr wrap="square" rtlCol="0">
              <a:spAutoFit/>
            </a:bodyPr>
            <a:lstStyle/>
            <a:p>
              <a:r>
                <a:rPr lang="vi-VN" sz="2800" dirty="0">
                  <a:solidFill>
                    <a:schemeClr val="tx1">
                      <a:lumMod val="95000"/>
                      <a:lumOff val="5000"/>
                    </a:schemeClr>
                  </a:solidFill>
                  <a:latin typeface="iCiel Cadena" panose="02000503000000020004" pitchFamily="2" charset="0"/>
                  <a:ea typeface="Arial" panose="020B0604020202020204" pitchFamily="34" charset="0"/>
                  <a:cs typeface="Times New Roman" panose="02020603050405020304" pitchFamily="18" charset="0"/>
                </a:rPr>
                <a:t>CODEIGNITER </a:t>
              </a:r>
              <a:r>
                <a:rPr lang="vi-VN" sz="2800" dirty="0">
                  <a:solidFill>
                    <a:schemeClr val="tx1">
                      <a:lumMod val="95000"/>
                      <a:lumOff val="5000"/>
                    </a:schemeClr>
                  </a:solidFill>
                  <a:effectLst/>
                  <a:latin typeface="iCiel Cadena" panose="02000503000000020004" pitchFamily="2" charset="0"/>
                  <a:ea typeface="Arial" panose="020B0604020202020204" pitchFamily="34" charset="0"/>
                  <a:cs typeface="Times New Roman" panose="02020603050405020304" pitchFamily="18" charset="0"/>
                </a:rPr>
                <a:t> !</a:t>
              </a:r>
            </a:p>
            <a:p>
              <a:endParaRPr lang="vi-VN" sz="2800" dirty="0">
                <a:latin typeface="iCiel Cadena" panose="02000503000000020004" pitchFamily="2" charset="0"/>
              </a:endParaRPr>
            </a:p>
          </p:txBody>
        </p:sp>
        <p:sp>
          <p:nvSpPr>
            <p:cNvPr id="74" name="Hộp Văn bản 73">
              <a:extLst>
                <a:ext uri="{FF2B5EF4-FFF2-40B4-BE49-F238E27FC236}">
                  <a16:creationId xmlns:a16="http://schemas.microsoft.com/office/drawing/2014/main" id="{060913D2-8CF1-D4B4-8533-C7510D66D4BF}"/>
                </a:ext>
              </a:extLst>
            </p:cNvPr>
            <p:cNvSpPr txBox="1"/>
            <p:nvPr/>
          </p:nvSpPr>
          <p:spPr>
            <a:xfrm>
              <a:off x="4955626" y="4863441"/>
              <a:ext cx="3501154" cy="1477328"/>
            </a:xfrm>
            <a:prstGeom prst="rect">
              <a:avLst/>
            </a:prstGeom>
            <a:grpFill/>
          </p:spPr>
          <p:txBody>
            <a:bodyPr wrap="square" rtlCol="0">
              <a:spAutoFit/>
            </a:bodyPr>
            <a:lstStyle/>
            <a:p>
              <a:r>
                <a:rPr lang="vi-VN" sz="1800" kern="1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Được đánh giá là </a:t>
              </a:r>
              <a:r>
                <a:rPr lang="vi-VN" sz="1800" kern="1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Framework</a:t>
              </a:r>
              <a:r>
                <a:rPr lang="vi-VN" sz="1800" kern="1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có tốc độ hoạt động nhanh, hiệu quả. Đây cũng là ưu điểm rất lớn của </a:t>
              </a:r>
              <a:r>
                <a:rPr lang="vi-VN" sz="1800" kern="100" dirty="0" err="1">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Framework</a:t>
              </a:r>
              <a:r>
                <a:rPr lang="vi-VN" sz="1800" kern="100" dirty="0">
                  <a:solidFill>
                    <a:srgbClr val="0070C0"/>
                  </a:solidFill>
                  <a:effectLst/>
                  <a:latin typeface="iCiel Cadena" panose="02000503000000020004" pitchFamily="2" charset="0"/>
                  <a:ea typeface="Arial" panose="020B0604020202020204" pitchFamily="34" charset="0"/>
                  <a:cs typeface="Times New Roman" panose="02020603050405020304" pitchFamily="18" charset="0"/>
                </a:rPr>
                <a:t> này. </a:t>
              </a:r>
            </a:p>
            <a:p>
              <a:endParaRPr lang="vi-VN" dirty="0">
                <a:solidFill>
                  <a:srgbClr val="0070C0"/>
                </a:solidFill>
                <a:latin typeface="iCiel Cadena" panose="02000503000000020004" pitchFamily="2" charset="0"/>
              </a:endParaRPr>
            </a:p>
          </p:txBody>
        </p:sp>
        <p:pic>
          <p:nvPicPr>
            <p:cNvPr id="76" name="Hình ảnh 75">
              <a:extLst>
                <a:ext uri="{FF2B5EF4-FFF2-40B4-BE49-F238E27FC236}">
                  <a16:creationId xmlns:a16="http://schemas.microsoft.com/office/drawing/2014/main" id="{26495AF0-E319-B778-DA7F-1BEB4DB46A45}"/>
                </a:ext>
              </a:extLst>
            </p:cNvPr>
            <p:cNvPicPr>
              <a:picLocks noChangeAspect="1"/>
            </p:cNvPicPr>
            <p:nvPr/>
          </p:nvPicPr>
          <p:blipFill>
            <a:blip r:embed="rId8"/>
            <a:stretch>
              <a:fillRect/>
            </a:stretch>
          </p:blipFill>
          <p:spPr>
            <a:xfrm>
              <a:off x="3696711" y="2195552"/>
              <a:ext cx="1168680" cy="1168680"/>
            </a:xfrm>
            <a:prstGeom prst="rect">
              <a:avLst/>
            </a:prstGeom>
            <a:grpFill/>
          </p:spPr>
        </p:pic>
        <p:pic>
          <p:nvPicPr>
            <p:cNvPr id="78" name="Hình ảnh 77">
              <a:extLst>
                <a:ext uri="{FF2B5EF4-FFF2-40B4-BE49-F238E27FC236}">
                  <a16:creationId xmlns:a16="http://schemas.microsoft.com/office/drawing/2014/main" id="{022A8710-9676-AC51-7FC0-8D2B861AF3B1}"/>
                </a:ext>
              </a:extLst>
            </p:cNvPr>
            <p:cNvPicPr>
              <a:picLocks noChangeAspect="1"/>
            </p:cNvPicPr>
            <p:nvPr/>
          </p:nvPicPr>
          <p:blipFill>
            <a:blip r:embed="rId9"/>
            <a:stretch>
              <a:fillRect/>
            </a:stretch>
          </p:blipFill>
          <p:spPr>
            <a:xfrm>
              <a:off x="3518147" y="4441928"/>
              <a:ext cx="1435723" cy="1435723"/>
            </a:xfrm>
            <a:prstGeom prst="rect">
              <a:avLst/>
            </a:prstGeom>
            <a:grpFill/>
          </p:spPr>
        </p:pic>
      </p:grpSp>
      <p:grpSp>
        <p:nvGrpSpPr>
          <p:cNvPr id="91" name="Nhóm 90">
            <a:extLst>
              <a:ext uri="{FF2B5EF4-FFF2-40B4-BE49-F238E27FC236}">
                <a16:creationId xmlns:a16="http://schemas.microsoft.com/office/drawing/2014/main" id="{A076CC23-799A-F240-CC26-F7B002FFEC87}"/>
              </a:ext>
            </a:extLst>
          </p:cNvPr>
          <p:cNvGrpSpPr/>
          <p:nvPr/>
        </p:nvGrpSpPr>
        <p:grpSpPr>
          <a:xfrm>
            <a:off x="-11312979" y="7138"/>
            <a:ext cx="12843936" cy="6858000"/>
            <a:chOff x="-3165173" y="32895"/>
            <a:chExt cx="12923505" cy="6858000"/>
          </a:xfrm>
        </p:grpSpPr>
        <p:grpSp>
          <p:nvGrpSpPr>
            <p:cNvPr id="30" name="Nhóm 29">
              <a:extLst>
                <a:ext uri="{FF2B5EF4-FFF2-40B4-BE49-F238E27FC236}">
                  <a16:creationId xmlns:a16="http://schemas.microsoft.com/office/drawing/2014/main" id="{99941141-156F-BE10-A586-08CF71EA7AC1}"/>
                </a:ext>
              </a:extLst>
            </p:cNvPr>
            <p:cNvGrpSpPr/>
            <p:nvPr/>
          </p:nvGrpSpPr>
          <p:grpSpPr>
            <a:xfrm>
              <a:off x="-3165173" y="32895"/>
              <a:ext cx="12923505" cy="6858000"/>
              <a:chOff x="-6806525" y="-56600"/>
              <a:chExt cx="12923505" cy="6858000"/>
            </a:xfrm>
            <a:effectLst>
              <a:outerShdw blurRad="63500" sx="101000" sy="101000" algn="ctr" rotWithShape="0">
                <a:prstClr val="black">
                  <a:alpha val="25000"/>
                </a:prstClr>
              </a:outerShdw>
            </a:effectLst>
          </p:grpSpPr>
          <p:sp>
            <p:nvSpPr>
              <p:cNvPr id="9" name="Hình chữ nhật 8">
                <a:extLst>
                  <a:ext uri="{FF2B5EF4-FFF2-40B4-BE49-F238E27FC236}">
                    <a16:creationId xmlns:a16="http://schemas.microsoft.com/office/drawing/2014/main" id="{8B08EFF1-1BBD-0D74-A676-B8FFC047938D}"/>
                  </a:ext>
                </a:extLst>
              </p:cNvPr>
              <p:cNvSpPr/>
              <p:nvPr/>
            </p:nvSpPr>
            <p:spPr>
              <a:xfrm>
                <a:off x="-6806525" y="-56600"/>
                <a:ext cx="12192000" cy="6858000"/>
              </a:xfrm>
              <a:prstGeom prst="rect">
                <a:avLst/>
              </a:prstGeom>
              <a:solidFill>
                <a:srgbClr val="F6BA6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6" name="Hình tự do: Hình 25">
                <a:extLst>
                  <a:ext uri="{FF2B5EF4-FFF2-40B4-BE49-F238E27FC236}">
                    <a16:creationId xmlns:a16="http://schemas.microsoft.com/office/drawing/2014/main" id="{4A407D52-FAE8-29F4-4BD0-210C6D666300}"/>
                  </a:ext>
                </a:extLst>
              </p:cNvPr>
              <p:cNvSpPr/>
              <p:nvPr/>
            </p:nvSpPr>
            <p:spPr>
              <a:xfrm>
                <a:off x="5369494" y="4367804"/>
                <a:ext cx="747486" cy="1494972"/>
              </a:xfrm>
              <a:custGeom>
                <a:avLst/>
                <a:gdLst>
                  <a:gd name="connsiteX0" fmla="*/ 0 w 747486"/>
                  <a:gd name="connsiteY0" fmla="*/ 0 h 1494972"/>
                  <a:gd name="connsiteX1" fmla="*/ 747486 w 747486"/>
                  <a:gd name="connsiteY1" fmla="*/ 747486 h 1494972"/>
                  <a:gd name="connsiteX2" fmla="*/ 0 w 747486"/>
                  <a:gd name="connsiteY2" fmla="*/ 1494972 h 1494972"/>
                </a:gdLst>
                <a:ahLst/>
                <a:cxnLst>
                  <a:cxn ang="0">
                    <a:pos x="connsiteX0" y="connsiteY0"/>
                  </a:cxn>
                  <a:cxn ang="0">
                    <a:pos x="connsiteX1" y="connsiteY1"/>
                  </a:cxn>
                  <a:cxn ang="0">
                    <a:pos x="connsiteX2" y="connsiteY2"/>
                  </a:cxn>
                </a:cxnLst>
                <a:rect l="l" t="t" r="r" b="b"/>
                <a:pathLst>
                  <a:path w="747486" h="1494972">
                    <a:moveTo>
                      <a:pt x="0" y="0"/>
                    </a:moveTo>
                    <a:cubicBezTo>
                      <a:pt x="412825" y="0"/>
                      <a:pt x="747486" y="334661"/>
                      <a:pt x="747486" y="747486"/>
                    </a:cubicBezTo>
                    <a:cubicBezTo>
                      <a:pt x="747486" y="1160311"/>
                      <a:pt x="412825" y="1494972"/>
                      <a:pt x="0" y="1494972"/>
                    </a:cubicBezTo>
                    <a:close/>
                  </a:path>
                </a:pathLst>
              </a:custGeom>
              <a:solidFill>
                <a:srgbClr val="F6BA6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vi-VN" sz="3200" b="1" dirty="0">
                    <a:solidFill>
                      <a:schemeClr val="tx1">
                        <a:lumMod val="65000"/>
                        <a:lumOff val="35000"/>
                      </a:schemeClr>
                    </a:solidFill>
                    <a:latin typeface="Bahnschrift Light SemiCondensed" panose="020B0502040204020203" pitchFamily="34" charset="0"/>
                  </a:rPr>
                  <a:t>04</a:t>
                </a:r>
              </a:p>
            </p:txBody>
          </p:sp>
        </p:grpSp>
        <p:sp>
          <p:nvSpPr>
            <p:cNvPr id="80" name="Hộp Văn bản 79">
              <a:extLst>
                <a:ext uri="{FF2B5EF4-FFF2-40B4-BE49-F238E27FC236}">
                  <a16:creationId xmlns:a16="http://schemas.microsoft.com/office/drawing/2014/main" id="{2F8F9B65-A9FB-A021-C380-5BCF7A53E07C}"/>
                </a:ext>
              </a:extLst>
            </p:cNvPr>
            <p:cNvSpPr txBox="1"/>
            <p:nvPr/>
          </p:nvSpPr>
          <p:spPr>
            <a:xfrm>
              <a:off x="3308523" y="971468"/>
              <a:ext cx="4210500" cy="584775"/>
            </a:xfrm>
            <a:prstGeom prst="rect">
              <a:avLst/>
            </a:prstGeom>
            <a:noFill/>
          </p:spPr>
          <p:txBody>
            <a:bodyPr wrap="square" rtlCol="0">
              <a:spAutoFit/>
            </a:bodyPr>
            <a:lstStyle/>
            <a:p>
              <a:r>
                <a:rPr lang="vi-VN" sz="3200" dirty="0">
                  <a:solidFill>
                    <a:srgbClr val="002060"/>
                  </a:solidFill>
                  <a:latin typeface="iCiel Cadena" panose="02000503000000020004" pitchFamily="2" charset="0"/>
                </a:rPr>
                <a:t>CƠ SỞ DỮ LIỆU MYSQL</a:t>
              </a:r>
            </a:p>
          </p:txBody>
        </p:sp>
        <p:sp>
          <p:nvSpPr>
            <p:cNvPr id="81" name="Hộp Văn bản 80">
              <a:extLst>
                <a:ext uri="{FF2B5EF4-FFF2-40B4-BE49-F238E27FC236}">
                  <a16:creationId xmlns:a16="http://schemas.microsoft.com/office/drawing/2014/main" id="{F9136701-D1AB-02BC-A118-74EB723E2454}"/>
                </a:ext>
              </a:extLst>
            </p:cNvPr>
            <p:cNvSpPr txBox="1"/>
            <p:nvPr/>
          </p:nvSpPr>
          <p:spPr>
            <a:xfrm>
              <a:off x="3899628" y="2010440"/>
              <a:ext cx="2908227" cy="523220"/>
            </a:xfrm>
            <a:prstGeom prst="rect">
              <a:avLst/>
            </a:prstGeom>
            <a:noFill/>
          </p:spPr>
          <p:txBody>
            <a:bodyPr wrap="square" rtlCol="0">
              <a:spAutoFit/>
            </a:bodyPr>
            <a:lstStyle/>
            <a:p>
              <a:r>
                <a:rPr lang="vi-VN" sz="2800" dirty="0">
                  <a:latin typeface="iCiel Cadena" panose="02000503000000020004" pitchFamily="2" charset="0"/>
                </a:rPr>
                <a:t>MYSQL LÀ GÌ?</a:t>
              </a:r>
            </a:p>
          </p:txBody>
        </p:sp>
        <p:sp>
          <p:nvSpPr>
            <p:cNvPr id="82" name="Hộp Văn bản 81">
              <a:extLst>
                <a:ext uri="{FF2B5EF4-FFF2-40B4-BE49-F238E27FC236}">
                  <a16:creationId xmlns:a16="http://schemas.microsoft.com/office/drawing/2014/main" id="{4371C429-2797-6D57-D45E-A313E012B6D7}"/>
                </a:ext>
              </a:extLst>
            </p:cNvPr>
            <p:cNvSpPr txBox="1"/>
            <p:nvPr/>
          </p:nvSpPr>
          <p:spPr>
            <a:xfrm>
              <a:off x="3924152" y="2523926"/>
              <a:ext cx="3803490" cy="1477328"/>
            </a:xfrm>
            <a:prstGeom prst="rect">
              <a:avLst/>
            </a:prstGeom>
            <a:noFill/>
          </p:spPr>
          <p:txBody>
            <a:bodyPr wrap="square" rtlCol="0">
              <a:spAutoFit/>
            </a:bodyPr>
            <a:lstStyle/>
            <a:p>
              <a:r>
                <a:rPr lang="vi-VN" sz="1800" dirty="0">
                  <a:solidFill>
                    <a:srgbClr val="C00000"/>
                  </a:solidFill>
                  <a:effectLst/>
                  <a:latin typeface="iCiel Cadena" panose="02000503000000020004" pitchFamily="2" charset="0"/>
                  <a:ea typeface="Arial" panose="020B0604020202020204" pitchFamily="34" charset="0"/>
                  <a:cs typeface="Times New Roman" panose="02020603050405020304" pitchFamily="18" charset="0"/>
                </a:rPr>
                <a:t>Là hệ quản trị cơ sở dữ liệu tự do nguồn mở phổ biến nhất thế giới và được các nhà phát triển rất ưa chuộng trong quá trình phát triển ứng dụng.</a:t>
              </a:r>
              <a:endParaRPr lang="vi-VN" dirty="0">
                <a:solidFill>
                  <a:srgbClr val="C00000"/>
                </a:solidFill>
                <a:latin typeface="iCiel Cadena" panose="02000503000000020004" pitchFamily="2" charset="0"/>
              </a:endParaRPr>
            </a:p>
          </p:txBody>
        </p:sp>
        <p:sp>
          <p:nvSpPr>
            <p:cNvPr id="83" name="Hộp Văn bản 82">
              <a:extLst>
                <a:ext uri="{FF2B5EF4-FFF2-40B4-BE49-F238E27FC236}">
                  <a16:creationId xmlns:a16="http://schemas.microsoft.com/office/drawing/2014/main" id="{6D20BAB4-F687-1256-129E-31B2CDD8D060}"/>
                </a:ext>
              </a:extLst>
            </p:cNvPr>
            <p:cNvSpPr txBox="1"/>
            <p:nvPr/>
          </p:nvSpPr>
          <p:spPr>
            <a:xfrm>
              <a:off x="4000997" y="4562696"/>
              <a:ext cx="3341747" cy="523220"/>
            </a:xfrm>
            <a:prstGeom prst="rect">
              <a:avLst/>
            </a:prstGeom>
            <a:noFill/>
          </p:spPr>
          <p:txBody>
            <a:bodyPr wrap="square" rtlCol="0">
              <a:spAutoFit/>
            </a:bodyPr>
            <a:lstStyle/>
            <a:p>
              <a:r>
                <a:rPr lang="vi-VN" sz="2800" dirty="0">
                  <a:latin typeface="iCiel Cadena" panose="02000503000000020004" pitchFamily="2" charset="0"/>
                </a:rPr>
                <a:t>MYSQL !</a:t>
              </a:r>
            </a:p>
          </p:txBody>
        </p:sp>
        <p:sp>
          <p:nvSpPr>
            <p:cNvPr id="84" name="Hộp Văn bản 83">
              <a:extLst>
                <a:ext uri="{FF2B5EF4-FFF2-40B4-BE49-F238E27FC236}">
                  <a16:creationId xmlns:a16="http://schemas.microsoft.com/office/drawing/2014/main" id="{19609ED4-6868-793C-7913-74D0564B5703}"/>
                </a:ext>
              </a:extLst>
            </p:cNvPr>
            <p:cNvSpPr txBox="1"/>
            <p:nvPr/>
          </p:nvSpPr>
          <p:spPr>
            <a:xfrm>
              <a:off x="3951157" y="5091203"/>
              <a:ext cx="4352264" cy="1200329"/>
            </a:xfrm>
            <a:prstGeom prst="rect">
              <a:avLst/>
            </a:prstGeom>
            <a:noFill/>
          </p:spPr>
          <p:txBody>
            <a:bodyPr wrap="square" rtlCol="0">
              <a:spAutoFit/>
            </a:bodyPr>
            <a:lstStyle/>
            <a:p>
              <a:r>
                <a:rPr lang="vi-VN" sz="1800" dirty="0">
                  <a:solidFill>
                    <a:srgbClr val="C00000"/>
                  </a:solidFill>
                  <a:effectLst/>
                  <a:latin typeface="iCiel Cadena" panose="02000503000000020004" pitchFamily="2" charset="0"/>
                  <a:ea typeface="Arial" panose="020B0604020202020204" pitchFamily="34" charset="0"/>
                  <a:cs typeface="Times New Roman" panose="02020603050405020304" pitchFamily="18" charset="0"/>
                </a:rPr>
                <a:t>Dữ liệu tốc độ cao, ổn định và dễ sử dụng, có tính khả chuyển, hoạt động trên nhiều hệ điều hành cung cấp một hệ thống lớn các hàm tiện ích rất mạnh. </a:t>
              </a:r>
              <a:endParaRPr lang="vi-VN" dirty="0">
                <a:solidFill>
                  <a:srgbClr val="C00000"/>
                </a:solidFill>
                <a:latin typeface="iCiel Cadena" panose="02000503000000020004" pitchFamily="2" charset="0"/>
              </a:endParaRPr>
            </a:p>
          </p:txBody>
        </p:sp>
        <p:pic>
          <p:nvPicPr>
            <p:cNvPr id="86" name="Hình ảnh 85">
              <a:extLst>
                <a:ext uri="{FF2B5EF4-FFF2-40B4-BE49-F238E27FC236}">
                  <a16:creationId xmlns:a16="http://schemas.microsoft.com/office/drawing/2014/main" id="{0B073BDD-4A1F-79F0-B261-B47D8DF97233}"/>
                </a:ext>
              </a:extLst>
            </p:cNvPr>
            <p:cNvPicPr>
              <a:picLocks noChangeAspect="1"/>
            </p:cNvPicPr>
            <p:nvPr/>
          </p:nvPicPr>
          <p:blipFill>
            <a:blip r:embed="rId10"/>
            <a:stretch>
              <a:fillRect/>
            </a:stretch>
          </p:blipFill>
          <p:spPr>
            <a:xfrm>
              <a:off x="2543270" y="2242712"/>
              <a:ext cx="1257442" cy="1257442"/>
            </a:xfrm>
            <a:prstGeom prst="rect">
              <a:avLst/>
            </a:prstGeom>
          </p:spPr>
        </p:pic>
        <p:pic>
          <p:nvPicPr>
            <p:cNvPr id="90" name="Hình ảnh 89">
              <a:extLst>
                <a:ext uri="{FF2B5EF4-FFF2-40B4-BE49-F238E27FC236}">
                  <a16:creationId xmlns:a16="http://schemas.microsoft.com/office/drawing/2014/main" id="{B5601559-DC5A-7D43-CCA5-DB1906004370}"/>
                </a:ext>
              </a:extLst>
            </p:cNvPr>
            <p:cNvPicPr>
              <a:picLocks noChangeAspect="1"/>
            </p:cNvPicPr>
            <p:nvPr/>
          </p:nvPicPr>
          <p:blipFill>
            <a:blip r:embed="rId11"/>
            <a:stretch>
              <a:fillRect/>
            </a:stretch>
          </p:blipFill>
          <p:spPr>
            <a:xfrm>
              <a:off x="2222830" y="4332981"/>
              <a:ext cx="1796289" cy="1796289"/>
            </a:xfrm>
            <a:prstGeom prst="rect">
              <a:avLst/>
            </a:prstGeom>
          </p:spPr>
        </p:pic>
      </p:grpSp>
      <p:pic>
        <p:nvPicPr>
          <p:cNvPr id="5" name="Hình ảnh 4">
            <a:extLst>
              <a:ext uri="{FF2B5EF4-FFF2-40B4-BE49-F238E27FC236}">
                <a16:creationId xmlns:a16="http://schemas.microsoft.com/office/drawing/2014/main" id="{208AE91D-D0E1-7E5F-A819-A17171451D0D}"/>
              </a:ext>
            </a:extLst>
          </p:cNvPr>
          <p:cNvPicPr>
            <a:picLocks noChangeAspect="1"/>
          </p:cNvPicPr>
          <p:nvPr/>
        </p:nvPicPr>
        <p:blipFill>
          <a:blip r:embed="rId12"/>
          <a:stretch>
            <a:fillRect/>
          </a:stretch>
        </p:blipFill>
        <p:spPr>
          <a:xfrm>
            <a:off x="11459808" y="42934"/>
            <a:ext cx="661675" cy="625714"/>
          </a:xfrm>
          <a:prstGeom prst="rect">
            <a:avLst/>
          </a:prstGeom>
        </p:spPr>
      </p:pic>
      <p:grpSp>
        <p:nvGrpSpPr>
          <p:cNvPr id="40" name="Nhóm 39">
            <a:extLst>
              <a:ext uri="{FF2B5EF4-FFF2-40B4-BE49-F238E27FC236}">
                <a16:creationId xmlns:a16="http://schemas.microsoft.com/office/drawing/2014/main" id="{16A9E28B-F3A3-BB09-81AA-E20E63F68171}"/>
              </a:ext>
            </a:extLst>
          </p:cNvPr>
          <p:cNvGrpSpPr/>
          <p:nvPr/>
        </p:nvGrpSpPr>
        <p:grpSpPr>
          <a:xfrm>
            <a:off x="-12016618" y="7361"/>
            <a:ext cx="12855271" cy="6858000"/>
            <a:chOff x="-12016618" y="21875"/>
            <a:chExt cx="12855271" cy="6858000"/>
          </a:xfrm>
        </p:grpSpPr>
        <p:grpSp>
          <p:nvGrpSpPr>
            <p:cNvPr id="2" name="Nhóm 1">
              <a:extLst>
                <a:ext uri="{FF2B5EF4-FFF2-40B4-BE49-F238E27FC236}">
                  <a16:creationId xmlns:a16="http://schemas.microsoft.com/office/drawing/2014/main" id="{1B5667F3-3398-EB99-2F36-EBF3E556419A}"/>
                </a:ext>
              </a:extLst>
            </p:cNvPr>
            <p:cNvGrpSpPr/>
            <p:nvPr/>
          </p:nvGrpSpPr>
          <p:grpSpPr>
            <a:xfrm>
              <a:off x="-12016618" y="21875"/>
              <a:ext cx="12855271" cy="6858000"/>
              <a:chOff x="-3103884" y="135028"/>
              <a:chExt cx="12934911" cy="6858000"/>
            </a:xfrm>
            <a:solidFill>
              <a:schemeClr val="accent6">
                <a:lumMod val="60000"/>
                <a:lumOff val="40000"/>
              </a:schemeClr>
            </a:solidFill>
          </p:grpSpPr>
          <p:grpSp>
            <p:nvGrpSpPr>
              <p:cNvPr id="3" name="Nhóm 2">
                <a:extLst>
                  <a:ext uri="{FF2B5EF4-FFF2-40B4-BE49-F238E27FC236}">
                    <a16:creationId xmlns:a16="http://schemas.microsoft.com/office/drawing/2014/main" id="{61044DB1-ED0E-CF81-03FE-6831CA9E1BEA}"/>
                  </a:ext>
                </a:extLst>
              </p:cNvPr>
              <p:cNvGrpSpPr/>
              <p:nvPr/>
            </p:nvGrpSpPr>
            <p:grpSpPr>
              <a:xfrm>
                <a:off x="-3103884" y="135028"/>
                <a:ext cx="12934911" cy="6858000"/>
                <a:chOff x="-6745236" y="45533"/>
                <a:chExt cx="12934911" cy="6858000"/>
              </a:xfrm>
              <a:grpFill/>
              <a:effectLst>
                <a:outerShdw blurRad="63500" sx="101000" sy="101000" algn="ctr" rotWithShape="0">
                  <a:prstClr val="black">
                    <a:alpha val="25000"/>
                  </a:prstClr>
                </a:outerShdw>
              </a:effectLst>
            </p:grpSpPr>
            <p:sp>
              <p:nvSpPr>
                <p:cNvPr id="20" name="Hình chữ nhật 19">
                  <a:extLst>
                    <a:ext uri="{FF2B5EF4-FFF2-40B4-BE49-F238E27FC236}">
                      <a16:creationId xmlns:a16="http://schemas.microsoft.com/office/drawing/2014/main" id="{31FD99BB-57DE-AAE4-407E-AB78A8D1D0E2}"/>
                    </a:ext>
                  </a:extLst>
                </p:cNvPr>
                <p:cNvSpPr/>
                <p:nvPr/>
              </p:nvSpPr>
              <p:spPr>
                <a:xfrm>
                  <a:off x="-6745236" y="45533"/>
                  <a:ext cx="12192000" cy="6858000"/>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1" name="Hình tự do: Hình 20">
                  <a:extLst>
                    <a:ext uri="{FF2B5EF4-FFF2-40B4-BE49-F238E27FC236}">
                      <a16:creationId xmlns:a16="http://schemas.microsoft.com/office/drawing/2014/main" id="{C432543C-3D9C-7DD6-79F8-D41034F4EC80}"/>
                    </a:ext>
                  </a:extLst>
                </p:cNvPr>
                <p:cNvSpPr/>
                <p:nvPr/>
              </p:nvSpPr>
              <p:spPr>
                <a:xfrm>
                  <a:off x="5442189" y="5304143"/>
                  <a:ext cx="747486" cy="1494972"/>
                </a:xfrm>
                <a:custGeom>
                  <a:avLst/>
                  <a:gdLst>
                    <a:gd name="connsiteX0" fmla="*/ 0 w 747486"/>
                    <a:gd name="connsiteY0" fmla="*/ 0 h 1494972"/>
                    <a:gd name="connsiteX1" fmla="*/ 747486 w 747486"/>
                    <a:gd name="connsiteY1" fmla="*/ 747486 h 1494972"/>
                    <a:gd name="connsiteX2" fmla="*/ 0 w 747486"/>
                    <a:gd name="connsiteY2" fmla="*/ 1494972 h 1494972"/>
                  </a:gdLst>
                  <a:ahLst/>
                  <a:cxnLst>
                    <a:cxn ang="0">
                      <a:pos x="connsiteX0" y="connsiteY0"/>
                    </a:cxn>
                    <a:cxn ang="0">
                      <a:pos x="connsiteX1" y="connsiteY1"/>
                    </a:cxn>
                    <a:cxn ang="0">
                      <a:pos x="connsiteX2" y="connsiteY2"/>
                    </a:cxn>
                  </a:cxnLst>
                  <a:rect l="l" t="t" r="r" b="b"/>
                  <a:pathLst>
                    <a:path w="747486" h="1494972">
                      <a:moveTo>
                        <a:pt x="0" y="0"/>
                      </a:moveTo>
                      <a:cubicBezTo>
                        <a:pt x="412825" y="0"/>
                        <a:pt x="747486" y="334661"/>
                        <a:pt x="747486" y="747486"/>
                      </a:cubicBezTo>
                      <a:cubicBezTo>
                        <a:pt x="747486" y="1160311"/>
                        <a:pt x="412825" y="1494972"/>
                        <a:pt x="0" y="14949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vi-VN" sz="3200" b="1" dirty="0">
                      <a:solidFill>
                        <a:schemeClr val="tx1">
                          <a:lumMod val="65000"/>
                          <a:lumOff val="35000"/>
                        </a:schemeClr>
                      </a:solidFill>
                      <a:latin typeface="Bahnschrift Light SemiCondensed" panose="020B0502040204020203" pitchFamily="34" charset="0"/>
                    </a:rPr>
                    <a:t>05</a:t>
                  </a:r>
                </a:p>
              </p:txBody>
            </p:sp>
          </p:grpSp>
          <p:sp>
            <p:nvSpPr>
              <p:cNvPr id="6" name="Hộp Văn bản 5">
                <a:extLst>
                  <a:ext uri="{FF2B5EF4-FFF2-40B4-BE49-F238E27FC236}">
                    <a16:creationId xmlns:a16="http://schemas.microsoft.com/office/drawing/2014/main" id="{28AC5380-BFFA-AC12-891D-9FA05320CEAA}"/>
                  </a:ext>
                </a:extLst>
              </p:cNvPr>
              <p:cNvSpPr txBox="1"/>
              <p:nvPr/>
            </p:nvSpPr>
            <p:spPr>
              <a:xfrm>
                <a:off x="3002403" y="999947"/>
                <a:ext cx="4627152" cy="584775"/>
              </a:xfrm>
              <a:prstGeom prst="rect">
                <a:avLst/>
              </a:prstGeom>
              <a:grpFill/>
            </p:spPr>
            <p:txBody>
              <a:bodyPr wrap="square" rtlCol="0">
                <a:spAutoFit/>
              </a:bodyPr>
              <a:lstStyle/>
              <a:p>
                <a:r>
                  <a:rPr lang="vi-VN" sz="3200" dirty="0">
                    <a:solidFill>
                      <a:srgbClr val="002060"/>
                    </a:solidFill>
                    <a:latin typeface="iCiel Cadena" panose="02000503000000020004" pitchFamily="2" charset="0"/>
                  </a:rPr>
                  <a:t>XAMPP VÀ BOOTSTRAP</a:t>
                </a:r>
              </a:p>
            </p:txBody>
          </p:sp>
          <p:sp>
            <p:nvSpPr>
              <p:cNvPr id="7" name="Hộp Văn bản 6">
                <a:extLst>
                  <a:ext uri="{FF2B5EF4-FFF2-40B4-BE49-F238E27FC236}">
                    <a16:creationId xmlns:a16="http://schemas.microsoft.com/office/drawing/2014/main" id="{EB5B8F63-94AE-AF4F-CA2E-1C40AC41375B}"/>
                  </a:ext>
                </a:extLst>
              </p:cNvPr>
              <p:cNvSpPr txBox="1"/>
              <p:nvPr/>
            </p:nvSpPr>
            <p:spPr>
              <a:xfrm>
                <a:off x="3928694" y="2039612"/>
                <a:ext cx="3215314" cy="523220"/>
              </a:xfrm>
              <a:prstGeom prst="rect">
                <a:avLst/>
              </a:prstGeom>
              <a:grpFill/>
            </p:spPr>
            <p:txBody>
              <a:bodyPr wrap="square" rtlCol="0">
                <a:spAutoFit/>
              </a:bodyPr>
              <a:lstStyle/>
              <a:p>
                <a:r>
                  <a:rPr lang="vi-VN" sz="2800" dirty="0">
                    <a:latin typeface="iCiel Cadena" panose="02000503000000020004" pitchFamily="2" charset="0"/>
                  </a:rPr>
                  <a:t>BOOTSTRAP LÀ GÌ?</a:t>
                </a:r>
              </a:p>
            </p:txBody>
          </p:sp>
          <p:sp>
            <p:nvSpPr>
              <p:cNvPr id="8" name="Hộp Văn bản 7">
                <a:extLst>
                  <a:ext uri="{FF2B5EF4-FFF2-40B4-BE49-F238E27FC236}">
                    <a16:creationId xmlns:a16="http://schemas.microsoft.com/office/drawing/2014/main" id="{D9F08B51-F14E-4AB0-783A-86B72D8E2D2C}"/>
                  </a:ext>
                </a:extLst>
              </p:cNvPr>
              <p:cNvSpPr txBox="1"/>
              <p:nvPr/>
            </p:nvSpPr>
            <p:spPr>
              <a:xfrm>
                <a:off x="3924151" y="2523926"/>
                <a:ext cx="5033153" cy="1477328"/>
              </a:xfrm>
              <a:prstGeom prst="rect">
                <a:avLst/>
              </a:prstGeom>
              <a:grpFill/>
            </p:spPr>
            <p:txBody>
              <a:bodyPr wrap="square" rtlCol="0">
                <a:spAutoFit/>
              </a:bodyPr>
              <a:lstStyle/>
              <a:p>
                <a:r>
                  <a:rPr lang="vi-VN" dirty="0">
                    <a:solidFill>
                      <a:srgbClr val="C00000"/>
                    </a:solidFill>
                    <a:latin typeface="iCiel Cadena" panose="02000503000000020004" pitchFamily="2" charset="0"/>
                  </a:rPr>
                  <a:t>L</a:t>
                </a:r>
                <a:r>
                  <a:rPr lang="vi-VN" b="0" dirty="0">
                    <a:solidFill>
                      <a:srgbClr val="C00000"/>
                    </a:solidFill>
                    <a:effectLst/>
                    <a:latin typeface="iCiel Cadena" panose="02000503000000020004" pitchFamily="2" charset="0"/>
                  </a:rPr>
                  <a:t>à một bộ sưu tập miễn phí của các </a:t>
                </a:r>
                <a:r>
                  <a:rPr lang="vi-VN" b="1" dirty="0">
                    <a:solidFill>
                      <a:srgbClr val="C00000"/>
                    </a:solidFill>
                    <a:effectLst/>
                    <a:latin typeface="iCiel Cadena" panose="02000503000000020004" pitchFamily="2" charset="0"/>
                  </a:rPr>
                  <a:t>mã nguồn mở</a:t>
                </a:r>
                <a:r>
                  <a:rPr lang="vi-VN" b="0" dirty="0">
                    <a:solidFill>
                      <a:srgbClr val="C00000"/>
                    </a:solidFill>
                    <a:effectLst/>
                    <a:latin typeface="iCiel Cadena" panose="02000503000000020004" pitchFamily="2" charset="0"/>
                  </a:rPr>
                  <a:t> và công cụ dùng để tạo ra một mẫu </a:t>
                </a:r>
                <a:r>
                  <a:rPr lang="vi-VN" b="0" dirty="0" err="1">
                    <a:solidFill>
                      <a:srgbClr val="C00000"/>
                    </a:solidFill>
                    <a:effectLst/>
                    <a:latin typeface="iCiel Cadena" panose="02000503000000020004" pitchFamily="2" charset="0"/>
                  </a:rPr>
                  <a:t>webiste</a:t>
                </a:r>
                <a:r>
                  <a:rPr lang="vi-VN" b="0" dirty="0">
                    <a:solidFill>
                      <a:srgbClr val="C00000"/>
                    </a:solidFill>
                    <a:effectLst/>
                    <a:latin typeface="iCiel Cadena" panose="02000503000000020004" pitchFamily="2" charset="0"/>
                  </a:rPr>
                  <a:t> hoàn chỉnh. Với các thuộc tính về giao diện được quy định sẵn như kích thước, màu sắc, độ cao, độ rộng</a:t>
                </a:r>
                <a:endParaRPr lang="vi-VN" dirty="0">
                  <a:solidFill>
                    <a:srgbClr val="C00000"/>
                  </a:solidFill>
                  <a:latin typeface="iCiel Cadena" panose="02000503000000020004" pitchFamily="2" charset="0"/>
                </a:endParaRPr>
              </a:p>
            </p:txBody>
          </p:sp>
          <p:sp>
            <p:nvSpPr>
              <p:cNvPr id="10" name="Hộp Văn bản 9">
                <a:extLst>
                  <a:ext uri="{FF2B5EF4-FFF2-40B4-BE49-F238E27FC236}">
                    <a16:creationId xmlns:a16="http://schemas.microsoft.com/office/drawing/2014/main" id="{4A0BC86F-A34E-A542-C8DC-FE0B21E9394C}"/>
                  </a:ext>
                </a:extLst>
              </p:cNvPr>
              <p:cNvSpPr txBox="1"/>
              <p:nvPr/>
            </p:nvSpPr>
            <p:spPr>
              <a:xfrm>
                <a:off x="3958336" y="4548039"/>
                <a:ext cx="3341747" cy="523220"/>
              </a:xfrm>
              <a:prstGeom prst="rect">
                <a:avLst/>
              </a:prstGeom>
              <a:grpFill/>
            </p:spPr>
            <p:txBody>
              <a:bodyPr wrap="square" rtlCol="0">
                <a:spAutoFit/>
              </a:bodyPr>
              <a:lstStyle/>
              <a:p>
                <a:r>
                  <a:rPr lang="vi-VN" sz="2800" dirty="0">
                    <a:latin typeface="iCiel Cadena" panose="02000503000000020004" pitchFamily="2" charset="0"/>
                  </a:rPr>
                  <a:t>XAMPP LÀ GÌ?</a:t>
                </a:r>
              </a:p>
            </p:txBody>
          </p:sp>
          <p:sp>
            <p:nvSpPr>
              <p:cNvPr id="11" name="Hộp Văn bản 10">
                <a:extLst>
                  <a:ext uri="{FF2B5EF4-FFF2-40B4-BE49-F238E27FC236}">
                    <a16:creationId xmlns:a16="http://schemas.microsoft.com/office/drawing/2014/main" id="{B83BDF5A-982F-AB4D-93F4-B826B4BD62AC}"/>
                  </a:ext>
                </a:extLst>
              </p:cNvPr>
              <p:cNvSpPr txBox="1"/>
              <p:nvPr/>
            </p:nvSpPr>
            <p:spPr>
              <a:xfrm>
                <a:off x="3951157" y="5091203"/>
                <a:ext cx="4352264" cy="1200329"/>
              </a:xfrm>
              <a:prstGeom prst="rect">
                <a:avLst/>
              </a:prstGeom>
              <a:grpFill/>
            </p:spPr>
            <p:txBody>
              <a:bodyPr wrap="square" rtlCol="0">
                <a:spAutoFit/>
              </a:bodyPr>
              <a:lstStyle/>
              <a:p>
                <a:r>
                  <a:rPr lang="vi-VN" dirty="0">
                    <a:solidFill>
                      <a:srgbClr val="C00000"/>
                    </a:solidFill>
                    <a:latin typeface="iCiel Cadena" panose="02000503000000020004" pitchFamily="2" charset="0"/>
                  </a:rPr>
                  <a:t>Ra đời để tạo môi trường giả lập Server </a:t>
                </a:r>
                <a:r>
                  <a:rPr lang="vi-VN" dirty="0" err="1">
                    <a:solidFill>
                      <a:srgbClr val="C00000"/>
                    </a:solidFill>
                    <a:latin typeface="iCiel Cadena" panose="02000503000000020004" pitchFamily="2" charset="0"/>
                  </a:rPr>
                  <a:t>hosting</a:t>
                </a:r>
                <a:r>
                  <a:rPr lang="vi-VN" dirty="0">
                    <a:solidFill>
                      <a:srgbClr val="C00000"/>
                    </a:solidFill>
                    <a:latin typeface="iCiel Cadena" panose="02000503000000020004" pitchFamily="2" charset="0"/>
                  </a:rPr>
                  <a:t> ngay trên chính máy tính của mình, dùng nó để chạy </a:t>
                </a:r>
                <a:r>
                  <a:rPr lang="vi-VN" dirty="0" err="1">
                    <a:solidFill>
                      <a:srgbClr val="C00000"/>
                    </a:solidFill>
                    <a:latin typeface="iCiel Cadena" panose="02000503000000020004" pitchFamily="2" charset="0"/>
                  </a:rPr>
                  <a:t>demo</a:t>
                </a:r>
                <a:r>
                  <a:rPr lang="vi-VN" dirty="0">
                    <a:solidFill>
                      <a:srgbClr val="C00000"/>
                    </a:solidFill>
                    <a:latin typeface="iCiel Cadena" panose="02000503000000020004" pitchFamily="2" charset="0"/>
                  </a:rPr>
                  <a:t> </a:t>
                </a:r>
                <a:r>
                  <a:rPr lang="vi-VN" dirty="0" err="1">
                    <a:solidFill>
                      <a:srgbClr val="C00000"/>
                    </a:solidFill>
                    <a:latin typeface="iCiel Cadena" panose="02000503000000020004" pitchFamily="2" charset="0"/>
                  </a:rPr>
                  <a:t>website</a:t>
                </a:r>
                <a:r>
                  <a:rPr lang="vi-VN" dirty="0">
                    <a:solidFill>
                      <a:srgbClr val="C00000"/>
                    </a:solidFill>
                    <a:latin typeface="iCiel Cadena" panose="02000503000000020004" pitchFamily="2" charset="0"/>
                  </a:rPr>
                  <a:t> mà không cần mua VPS hoặc </a:t>
                </a:r>
                <a:r>
                  <a:rPr lang="vi-VN" dirty="0" err="1">
                    <a:solidFill>
                      <a:srgbClr val="C00000"/>
                    </a:solidFill>
                    <a:latin typeface="iCiel Cadena" panose="02000503000000020004" pitchFamily="2" charset="0"/>
                  </a:rPr>
                  <a:t>Hotsting</a:t>
                </a:r>
                <a:endParaRPr lang="vi-VN" dirty="0">
                  <a:solidFill>
                    <a:srgbClr val="C00000"/>
                  </a:solidFill>
                  <a:latin typeface="iCiel Cadena" panose="02000503000000020004" pitchFamily="2" charset="0"/>
                </a:endParaRPr>
              </a:p>
            </p:txBody>
          </p:sp>
        </p:grpSp>
        <p:pic>
          <p:nvPicPr>
            <p:cNvPr id="29" name="Hình ảnh 28">
              <a:extLst>
                <a:ext uri="{FF2B5EF4-FFF2-40B4-BE49-F238E27FC236}">
                  <a16:creationId xmlns:a16="http://schemas.microsoft.com/office/drawing/2014/main" id="{9D628CF7-302C-123C-99C4-62361D3ABBEF}"/>
                </a:ext>
              </a:extLst>
            </p:cNvPr>
            <p:cNvPicPr>
              <a:picLocks noChangeAspect="1"/>
            </p:cNvPicPr>
            <p:nvPr/>
          </p:nvPicPr>
          <p:blipFill>
            <a:blip r:embed="rId13"/>
            <a:stretch>
              <a:fillRect/>
            </a:stretch>
          </p:blipFill>
          <p:spPr>
            <a:xfrm>
              <a:off x="-6422302" y="2180062"/>
              <a:ext cx="1183645" cy="1183645"/>
            </a:xfrm>
            <a:prstGeom prst="rect">
              <a:avLst/>
            </a:prstGeom>
          </p:spPr>
        </p:pic>
        <p:pic>
          <p:nvPicPr>
            <p:cNvPr id="37" name="Hình ảnh 36">
              <a:extLst>
                <a:ext uri="{FF2B5EF4-FFF2-40B4-BE49-F238E27FC236}">
                  <a16:creationId xmlns:a16="http://schemas.microsoft.com/office/drawing/2014/main" id="{39382D82-5135-5F93-F76B-60F156C1D7B9}"/>
                </a:ext>
              </a:extLst>
            </p:cNvPr>
            <p:cNvPicPr>
              <a:picLocks noChangeAspect="1"/>
            </p:cNvPicPr>
            <p:nvPr/>
          </p:nvPicPr>
          <p:blipFill>
            <a:blip r:embed="rId14"/>
            <a:stretch>
              <a:fillRect/>
            </a:stretch>
          </p:blipFill>
          <p:spPr>
            <a:xfrm>
              <a:off x="-6632865" y="4595741"/>
              <a:ext cx="1608717" cy="1608717"/>
            </a:xfrm>
            <a:prstGeom prst="rect">
              <a:avLst/>
            </a:prstGeom>
          </p:spPr>
        </p:pic>
      </p:grpSp>
    </p:spTree>
    <p:extLst>
      <p:ext uri="{BB962C8B-B14F-4D97-AF65-F5344CB8AC3E}">
        <p14:creationId xmlns:p14="http://schemas.microsoft.com/office/powerpoint/2010/main" val="4100572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58333E-6 2.96296E-6 L 0.66576 0 " pathEditMode="relative" rAng="0" ptsTypes="AA">
                                      <p:cBhvr>
                                        <p:cTn id="6" dur="2000" fill="hold"/>
                                        <p:tgtEl>
                                          <p:spTgt spid="56"/>
                                        </p:tgtEl>
                                        <p:attrNameLst>
                                          <p:attrName>ppt_x</p:attrName>
                                          <p:attrName>ppt_y</p:attrName>
                                        </p:attrNameLst>
                                      </p:cBhvr>
                                      <p:rCtr x="32526" y="2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4.58333E-6 2.96296E-6 L 0.66576 0 " pathEditMode="relative" rAng="0" ptsTypes="AA">
                                      <p:cBhvr>
                                        <p:cTn id="10" dur="2000" fill="hold"/>
                                        <p:tgtEl>
                                          <p:spTgt spid="69"/>
                                        </p:tgtEl>
                                        <p:attrNameLst>
                                          <p:attrName>ppt_x</p:attrName>
                                          <p:attrName>ppt_y</p:attrName>
                                        </p:attrNameLst>
                                      </p:cBhvr>
                                      <p:rCtr x="32526" y="23"/>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5.55112E-17 -3.33333E-6 L 0.66576 -3.33333E-6 " pathEditMode="relative" rAng="0" ptsTypes="AA">
                                      <p:cBhvr>
                                        <p:cTn id="14" dur="2000" fill="hold"/>
                                        <p:tgtEl>
                                          <p:spTgt spid="79"/>
                                        </p:tgtEl>
                                        <p:attrNameLst>
                                          <p:attrName>ppt_x</p:attrName>
                                          <p:attrName>ppt_y</p:attrName>
                                        </p:attrNameLst>
                                      </p:cBhvr>
                                      <p:rCtr x="33294" y="0"/>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1.875E-6 4.07407E-6 L 0.66575 4.07407E-6 " pathEditMode="relative" rAng="0" ptsTypes="AA">
                                      <p:cBhvr>
                                        <p:cTn id="18" dur="2000" fill="hold"/>
                                        <p:tgtEl>
                                          <p:spTgt spid="91"/>
                                        </p:tgtEl>
                                        <p:attrNameLst>
                                          <p:attrName>ppt_x</p:attrName>
                                          <p:attrName>ppt_y</p:attrName>
                                        </p:attrNameLst>
                                      </p:cBhvr>
                                      <p:rCtr x="33294" y="0"/>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3.54167E-6 2.59259E-6 L 0.66575 2.59259E-6 " pathEditMode="relative" rAng="0" ptsTypes="AA">
                                      <p:cBhvr>
                                        <p:cTn id="22" dur="2000" fill="hold"/>
                                        <p:tgtEl>
                                          <p:spTgt spid="40"/>
                                        </p:tgtEl>
                                        <p:attrNameLst>
                                          <p:attrName>ppt_x</p:attrName>
                                          <p:attrName>ppt_y</p:attrName>
                                        </p:attrNameLst>
                                      </p:cBhvr>
                                      <p:rCtr x="332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40207F6-C9A9-611B-7E5A-82032E8D87C2}"/>
              </a:ext>
            </a:extLst>
          </p:cNvPr>
          <p:cNvSpPr>
            <a:spLocks noGrp="1"/>
          </p:cNvSpPr>
          <p:nvPr>
            <p:ph type="title"/>
          </p:nvPr>
        </p:nvSpPr>
        <p:spPr/>
        <p:txBody>
          <a:bodyPr/>
          <a:lstStyle/>
          <a:p>
            <a:endParaRPr lang="vi-VN"/>
          </a:p>
        </p:txBody>
      </p:sp>
      <p:pic>
        <p:nvPicPr>
          <p:cNvPr id="9" name="Chỗ dành sẵn cho Nội dung 8" descr="Ảnh có chứa biểu tượng">
            <a:extLst>
              <a:ext uri="{FF2B5EF4-FFF2-40B4-BE49-F238E27FC236}">
                <a16:creationId xmlns:a16="http://schemas.microsoft.com/office/drawing/2014/main" id="{8DF31A43-8913-12E9-CA6C-892FCA620F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52629" y="3248714"/>
            <a:ext cx="3886742" cy="1505160"/>
          </a:xfrm>
        </p:spPr>
      </p:pic>
      <p:sp>
        <p:nvSpPr>
          <p:cNvPr id="4" name="Hình chữ nhật 3">
            <a:extLst>
              <a:ext uri="{FF2B5EF4-FFF2-40B4-BE49-F238E27FC236}">
                <a16:creationId xmlns:a16="http://schemas.microsoft.com/office/drawing/2014/main" id="{42B37DED-60E6-AF4F-CCFC-8D55152E1209}"/>
              </a:ext>
            </a:extLst>
          </p:cNvPr>
          <p:cNvSpPr/>
          <p:nvPr/>
        </p:nvSpPr>
        <p:spPr>
          <a:xfrm>
            <a:off x="0"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6" name="Hình ảnh 5">
            <a:extLst>
              <a:ext uri="{FF2B5EF4-FFF2-40B4-BE49-F238E27FC236}">
                <a16:creationId xmlns:a16="http://schemas.microsoft.com/office/drawing/2014/main" id="{BC57D678-AAEB-82CB-16FE-B91A4E8BC7ED}"/>
              </a:ext>
            </a:extLst>
          </p:cNvPr>
          <p:cNvPicPr>
            <a:picLocks noChangeAspect="1"/>
          </p:cNvPicPr>
          <p:nvPr/>
        </p:nvPicPr>
        <p:blipFill>
          <a:blip r:embed="rId3"/>
          <a:stretch>
            <a:fillRect/>
          </a:stretch>
        </p:blipFill>
        <p:spPr>
          <a:xfrm>
            <a:off x="4857749" y="250134"/>
            <a:ext cx="2476501" cy="2476501"/>
          </a:xfrm>
          <a:prstGeom prst="rect">
            <a:avLst/>
          </a:prstGeom>
        </p:spPr>
      </p:pic>
      <p:pic>
        <p:nvPicPr>
          <p:cNvPr id="13" name="Hình ảnh 12">
            <a:extLst>
              <a:ext uri="{FF2B5EF4-FFF2-40B4-BE49-F238E27FC236}">
                <a16:creationId xmlns:a16="http://schemas.microsoft.com/office/drawing/2014/main" id="{4BBA4362-9F7D-12AE-7BD4-E331515797D2}"/>
              </a:ext>
            </a:extLst>
          </p:cNvPr>
          <p:cNvPicPr>
            <a:picLocks noChangeAspect="1"/>
          </p:cNvPicPr>
          <p:nvPr/>
        </p:nvPicPr>
        <p:blipFill>
          <a:blip r:embed="rId4"/>
          <a:stretch>
            <a:fillRect/>
          </a:stretch>
        </p:blipFill>
        <p:spPr>
          <a:xfrm>
            <a:off x="4700497" y="3968546"/>
            <a:ext cx="2791005" cy="2639320"/>
          </a:xfrm>
          <a:prstGeom prst="rect">
            <a:avLst/>
          </a:prstGeom>
        </p:spPr>
      </p:pic>
      <p:sp>
        <p:nvSpPr>
          <p:cNvPr id="17" name="Hộp Văn bản 16">
            <a:extLst>
              <a:ext uri="{FF2B5EF4-FFF2-40B4-BE49-F238E27FC236}">
                <a16:creationId xmlns:a16="http://schemas.microsoft.com/office/drawing/2014/main" id="{8E524416-5AFC-4CD4-8461-EE859C709F0F}"/>
              </a:ext>
            </a:extLst>
          </p:cNvPr>
          <p:cNvSpPr txBox="1"/>
          <p:nvPr/>
        </p:nvSpPr>
        <p:spPr>
          <a:xfrm>
            <a:off x="3221470" y="2663939"/>
            <a:ext cx="6486796" cy="584775"/>
          </a:xfrm>
          <a:prstGeom prst="rect">
            <a:avLst/>
          </a:prstGeom>
          <a:noFill/>
        </p:spPr>
        <p:txBody>
          <a:bodyPr wrap="square" rtlCol="0">
            <a:spAutoFit/>
          </a:bodyPr>
          <a:lstStyle/>
          <a:p>
            <a:r>
              <a:rPr lang="vi-VN" sz="3200" dirty="0">
                <a:solidFill>
                  <a:srgbClr val="C00000"/>
                </a:solidFill>
                <a:latin typeface="iCiel Cadena" panose="02000503000000020004" pitchFamily="2" charset="0"/>
              </a:rPr>
              <a:t>WEBSITE THƯƠNG MẠI ĐIỆN TỬ</a:t>
            </a:r>
          </a:p>
        </p:txBody>
      </p:sp>
      <p:sp>
        <p:nvSpPr>
          <p:cNvPr id="18" name="Hộp Văn bản 17">
            <a:extLst>
              <a:ext uri="{FF2B5EF4-FFF2-40B4-BE49-F238E27FC236}">
                <a16:creationId xmlns:a16="http://schemas.microsoft.com/office/drawing/2014/main" id="{AC473097-A015-CA42-6B49-4E32B506AB24}"/>
              </a:ext>
            </a:extLst>
          </p:cNvPr>
          <p:cNvSpPr txBox="1"/>
          <p:nvPr/>
        </p:nvSpPr>
        <p:spPr>
          <a:xfrm>
            <a:off x="2752725" y="3154079"/>
            <a:ext cx="6686550" cy="584775"/>
          </a:xfrm>
          <a:prstGeom prst="rect">
            <a:avLst/>
          </a:prstGeom>
          <a:noFill/>
        </p:spPr>
        <p:txBody>
          <a:bodyPr wrap="square" rtlCol="0">
            <a:spAutoFit/>
          </a:bodyPr>
          <a:lstStyle/>
          <a:p>
            <a:pPr algn="ctr"/>
            <a:r>
              <a:rPr lang="vi-VN" sz="3200" dirty="0">
                <a:solidFill>
                  <a:schemeClr val="accent5">
                    <a:lumMod val="50000"/>
                  </a:schemeClr>
                </a:solidFill>
                <a:latin typeface="iCiel Cadena" panose="02000503000000020004" pitchFamily="2" charset="0"/>
              </a:rPr>
              <a:t>CHUYÊN BUÔN BÁN ĐỒ CÔNG NGHỆ</a:t>
            </a:r>
          </a:p>
        </p:txBody>
      </p:sp>
    </p:spTree>
    <p:extLst>
      <p:ext uri="{BB962C8B-B14F-4D97-AF65-F5344CB8AC3E}">
        <p14:creationId xmlns:p14="http://schemas.microsoft.com/office/powerpoint/2010/main" val="4086134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Effect transition="in" filter="fade">
                                      <p:cBhvr>
                                        <p:cTn id="14" dur="500"/>
                                        <p:tgtEl>
                                          <p:spTgt spid="1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Effect transition="in" filter="barn(inVertical)">
                                      <p:cBhvr>
                                        <p:cTn id="19" dur="500"/>
                                        <p:tgtEl>
                                          <p:spTgt spid="18">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fltVal val="0"/>
                                          </p:val>
                                        </p:tav>
                                        <p:tav tm="100000">
                                          <p:val>
                                            <p:strVal val="#ppt_w"/>
                                          </p:val>
                                        </p:tav>
                                      </p:tavLst>
                                    </p:anim>
                                    <p:anim calcmode="lin" valueType="num">
                                      <p:cBhvr>
                                        <p:cTn id="25" dur="1000" fill="hold"/>
                                        <p:tgtEl>
                                          <p:spTgt spid="13"/>
                                        </p:tgtEl>
                                        <p:attrNameLst>
                                          <p:attrName>ppt_h</p:attrName>
                                        </p:attrNameLst>
                                      </p:cBhvr>
                                      <p:tavLst>
                                        <p:tav tm="0">
                                          <p:val>
                                            <p:fltVal val="0"/>
                                          </p:val>
                                        </p:tav>
                                        <p:tav tm="100000">
                                          <p:val>
                                            <p:strVal val="#ppt_h"/>
                                          </p:val>
                                        </p:tav>
                                      </p:tavLst>
                                    </p:anim>
                                    <p:anim calcmode="lin" valueType="num">
                                      <p:cBhvr>
                                        <p:cTn id="26" dur="1000" fill="hold"/>
                                        <p:tgtEl>
                                          <p:spTgt spid="13"/>
                                        </p:tgtEl>
                                        <p:attrNameLst>
                                          <p:attrName>style.rotation</p:attrName>
                                        </p:attrNameLst>
                                      </p:cBhvr>
                                      <p:tavLst>
                                        <p:tav tm="0">
                                          <p:val>
                                            <p:fltVal val="90"/>
                                          </p:val>
                                        </p:tav>
                                        <p:tav tm="100000">
                                          <p:val>
                                            <p:fltVal val="0"/>
                                          </p:val>
                                        </p:tav>
                                      </p:tavLst>
                                    </p:anim>
                                    <p:animEffect transition="in" filter="fade">
                                      <p:cBhvr>
                                        <p:cTn id="2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40207F6-C9A9-611B-7E5A-82032E8D87C2}"/>
              </a:ext>
            </a:extLst>
          </p:cNvPr>
          <p:cNvSpPr>
            <a:spLocks noGrp="1"/>
          </p:cNvSpPr>
          <p:nvPr>
            <p:ph type="title"/>
          </p:nvPr>
        </p:nvSpPr>
        <p:spPr/>
        <p:txBody>
          <a:bodyPr/>
          <a:lstStyle/>
          <a:p>
            <a:endParaRPr lang="vi-VN"/>
          </a:p>
        </p:txBody>
      </p:sp>
      <p:pic>
        <p:nvPicPr>
          <p:cNvPr id="9" name="Chỗ dành sẵn cho Nội dung 8" descr="Ảnh có chứa biểu tượng">
            <a:extLst>
              <a:ext uri="{FF2B5EF4-FFF2-40B4-BE49-F238E27FC236}">
                <a16:creationId xmlns:a16="http://schemas.microsoft.com/office/drawing/2014/main" id="{8DF31A43-8913-12E9-CA6C-892FCA620F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52629" y="3248714"/>
            <a:ext cx="3886742" cy="1505160"/>
          </a:xfrm>
        </p:spPr>
      </p:pic>
      <p:sp>
        <p:nvSpPr>
          <p:cNvPr id="4" name="Hình chữ nhật 3">
            <a:extLst>
              <a:ext uri="{FF2B5EF4-FFF2-40B4-BE49-F238E27FC236}">
                <a16:creationId xmlns:a16="http://schemas.microsoft.com/office/drawing/2014/main" id="{42B37DED-60E6-AF4F-CCFC-8D55152E1209}"/>
              </a:ext>
            </a:extLst>
          </p:cNvPr>
          <p:cNvSpPr/>
          <p:nvPr/>
        </p:nvSpPr>
        <p:spPr>
          <a:xfrm>
            <a:off x="0" y="14645"/>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2" name="Hình chữ nhật: Góc Tròn 11">
            <a:extLst>
              <a:ext uri="{FF2B5EF4-FFF2-40B4-BE49-F238E27FC236}">
                <a16:creationId xmlns:a16="http://schemas.microsoft.com/office/drawing/2014/main" id="{5F59A8F6-A1A2-5660-54EB-A913483EACC9}"/>
              </a:ext>
            </a:extLst>
          </p:cNvPr>
          <p:cNvSpPr/>
          <p:nvPr/>
        </p:nvSpPr>
        <p:spPr>
          <a:xfrm>
            <a:off x="5223192" y="3044512"/>
            <a:ext cx="1648879" cy="720694"/>
          </a:xfrm>
          <a:prstGeom prst="roundRect">
            <a:avLst/>
          </a:prstGeom>
          <a:solidFill>
            <a:schemeClr val="accent3">
              <a:lumMod val="20000"/>
              <a:lumOff val="80000"/>
            </a:schemeClr>
          </a:solidFill>
          <a:effectLst>
            <a:outerShdw blurRad="63500" sx="102000" sy="102000" algn="ctr"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vi-VN" sz="2400" dirty="0">
                <a:solidFill>
                  <a:srgbClr val="C00000"/>
                </a:solidFill>
                <a:latin typeface="iCiel Cadena" panose="02000503000000020004" pitchFamily="2" charset="0"/>
              </a:rPr>
              <a:t>KẾT LUẬN</a:t>
            </a:r>
          </a:p>
        </p:txBody>
      </p:sp>
      <p:grpSp>
        <p:nvGrpSpPr>
          <p:cNvPr id="32" name="Nhóm 31">
            <a:extLst>
              <a:ext uri="{FF2B5EF4-FFF2-40B4-BE49-F238E27FC236}">
                <a16:creationId xmlns:a16="http://schemas.microsoft.com/office/drawing/2014/main" id="{C31C3BE7-1E96-B123-B829-954AB3E21D3E}"/>
              </a:ext>
            </a:extLst>
          </p:cNvPr>
          <p:cNvGrpSpPr/>
          <p:nvPr/>
        </p:nvGrpSpPr>
        <p:grpSpPr>
          <a:xfrm>
            <a:off x="702514" y="113084"/>
            <a:ext cx="10996342" cy="3090062"/>
            <a:chOff x="757508" y="97097"/>
            <a:chExt cx="10996342" cy="3090062"/>
          </a:xfrm>
        </p:grpSpPr>
        <p:grpSp>
          <p:nvGrpSpPr>
            <p:cNvPr id="30" name="Nhóm 29">
              <a:extLst>
                <a:ext uri="{FF2B5EF4-FFF2-40B4-BE49-F238E27FC236}">
                  <a16:creationId xmlns:a16="http://schemas.microsoft.com/office/drawing/2014/main" id="{72E47012-2005-9555-8C71-A2DCA1DCDC81}"/>
                </a:ext>
              </a:extLst>
            </p:cNvPr>
            <p:cNvGrpSpPr/>
            <p:nvPr/>
          </p:nvGrpSpPr>
          <p:grpSpPr>
            <a:xfrm>
              <a:off x="757508" y="97097"/>
              <a:ext cx="10996342" cy="3090062"/>
              <a:chOff x="757508" y="97097"/>
              <a:chExt cx="10996342" cy="3090062"/>
            </a:xfrm>
          </p:grpSpPr>
          <p:sp>
            <p:nvSpPr>
              <p:cNvPr id="14" name="Hình chữ nhật: Góc Tròn 13">
                <a:extLst>
                  <a:ext uri="{FF2B5EF4-FFF2-40B4-BE49-F238E27FC236}">
                    <a16:creationId xmlns:a16="http://schemas.microsoft.com/office/drawing/2014/main" id="{077C5218-C5CC-6164-09C0-069C84159D89}"/>
                  </a:ext>
                </a:extLst>
              </p:cNvPr>
              <p:cNvSpPr/>
              <p:nvPr/>
            </p:nvSpPr>
            <p:spPr>
              <a:xfrm>
                <a:off x="757508" y="97097"/>
                <a:ext cx="10996342" cy="2803023"/>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0070C0"/>
                  </a:solidFill>
                </a:endParaRPr>
              </a:p>
            </p:txBody>
          </p:sp>
          <p:sp>
            <p:nvSpPr>
              <p:cNvPr id="15" name="Hình Bầu dục 14">
                <a:extLst>
                  <a:ext uri="{FF2B5EF4-FFF2-40B4-BE49-F238E27FC236}">
                    <a16:creationId xmlns:a16="http://schemas.microsoft.com/office/drawing/2014/main" id="{8C83749F-4B3A-C564-FCDE-FE4FBE3C1A39}"/>
                  </a:ext>
                </a:extLst>
              </p:cNvPr>
              <p:cNvSpPr/>
              <p:nvPr/>
            </p:nvSpPr>
            <p:spPr>
              <a:xfrm>
                <a:off x="1030857" y="365125"/>
                <a:ext cx="1087710" cy="108771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vi-VN"/>
              </a:p>
            </p:txBody>
          </p:sp>
          <p:grpSp>
            <p:nvGrpSpPr>
              <p:cNvPr id="3" name="Nhóm 2">
                <a:extLst>
                  <a:ext uri="{FF2B5EF4-FFF2-40B4-BE49-F238E27FC236}">
                    <a16:creationId xmlns:a16="http://schemas.microsoft.com/office/drawing/2014/main" id="{F88BA427-E0E5-6F3C-5A0D-ADFABA766262}"/>
                  </a:ext>
                </a:extLst>
              </p:cNvPr>
              <p:cNvGrpSpPr/>
              <p:nvPr/>
            </p:nvGrpSpPr>
            <p:grpSpPr>
              <a:xfrm>
                <a:off x="1132009" y="543408"/>
                <a:ext cx="10414447" cy="2643751"/>
                <a:chOff x="-2237371" y="1352713"/>
                <a:chExt cx="10669719" cy="3830722"/>
              </a:xfrm>
            </p:grpSpPr>
            <p:sp>
              <p:nvSpPr>
                <p:cNvPr id="11" name="Hộp Văn bản 10">
                  <a:extLst>
                    <a:ext uri="{FF2B5EF4-FFF2-40B4-BE49-F238E27FC236}">
                      <a16:creationId xmlns:a16="http://schemas.microsoft.com/office/drawing/2014/main" id="{D7B4F7F7-5125-A301-B05D-34908A3E5410}"/>
                    </a:ext>
                  </a:extLst>
                </p:cNvPr>
                <p:cNvSpPr txBox="1"/>
                <p:nvPr/>
              </p:nvSpPr>
              <p:spPr>
                <a:xfrm>
                  <a:off x="-1145572" y="1437374"/>
                  <a:ext cx="9577920" cy="3746061"/>
                </a:xfrm>
                <a:prstGeom prst="rect">
                  <a:avLst/>
                </a:prstGeom>
                <a:noFill/>
              </p:spPr>
              <p:txBody>
                <a:bodyPr wrap="square" rtlCol="0">
                  <a:spAutoFit/>
                </a:bodyPr>
                <a:lstStyle/>
                <a:p>
                  <a:r>
                    <a:rPr lang="vi-VN" kern="100" dirty="0">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Tìm hiểu, nắm bắt và làm chủ được phương pháp phát triển một </a:t>
                  </a:r>
                  <a:r>
                    <a:rPr lang="vi-VN" kern="100" dirty="0" err="1">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website</a:t>
                  </a:r>
                  <a:r>
                    <a:rPr lang="vi-VN" kern="100" dirty="0">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 áp dụng trong bán hàng trên </a:t>
                  </a:r>
                  <a:r>
                    <a:rPr lang="vi-VN" kern="100" dirty="0" err="1">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Internet</a:t>
                  </a:r>
                  <a:r>
                    <a:rPr lang="vi-VN" kern="100" dirty="0">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 </a:t>
                  </a:r>
                  <a:r>
                    <a:rPr lang="vi-VN" kern="100" dirty="0">
                      <a:solidFill>
                        <a:srgbClr val="FFFF00"/>
                      </a:solidFill>
                      <a:latin typeface="iCiel Cadena" panose="02000503000000020004" pitchFamily="2" charset="0"/>
                      <a:ea typeface="Times New Roman" panose="02020603050405020304" pitchFamily="18" charset="0"/>
                      <a:cs typeface="Times New Roman" panose="02020603050405020304" pitchFamily="18" charset="0"/>
                    </a:rPr>
                    <a:t>T</a:t>
                  </a:r>
                  <a:r>
                    <a:rPr lang="vi-VN" dirty="0">
                      <a:solidFill>
                        <a:srgbClr val="FFFF00"/>
                      </a:solidFill>
                      <a:effectLst/>
                      <a:latin typeface="iCiel Cadena" panose="02000503000000020004" pitchFamily="2" charset="0"/>
                      <a:ea typeface="Arial" panose="020B0604020202020204" pitchFamily="34" charset="0"/>
                    </a:rPr>
                    <a:t>hể hiện được các yêu cầu của </a:t>
                  </a:r>
                  <a:r>
                    <a:rPr lang="vi-VN" dirty="0" err="1">
                      <a:solidFill>
                        <a:srgbClr val="FFFF00"/>
                      </a:solidFill>
                      <a:effectLst/>
                      <a:latin typeface="iCiel Cadena" panose="02000503000000020004" pitchFamily="2" charset="0"/>
                      <a:ea typeface="Arial" panose="020B0604020202020204" pitchFamily="34" charset="0"/>
                    </a:rPr>
                    <a:t>website</a:t>
                  </a:r>
                  <a:r>
                    <a:rPr lang="vi-VN" dirty="0">
                      <a:solidFill>
                        <a:srgbClr val="FFFF00"/>
                      </a:solidFill>
                      <a:effectLst/>
                      <a:latin typeface="iCiel Cadena" panose="02000503000000020004" pitchFamily="2" charset="0"/>
                      <a:ea typeface="Arial" panose="020B0604020202020204" pitchFamily="34" charset="0"/>
                    </a:rPr>
                    <a:t> thương mại điện tử: người mua hàng có thể lựa chọn hàng, thay đổi hàng theo sở thích. </a:t>
                  </a:r>
                </a:p>
                <a:p>
                  <a:endParaRPr lang="vi-VN" dirty="0">
                    <a:solidFill>
                      <a:srgbClr val="FFFF00"/>
                    </a:solidFill>
                    <a:effectLst/>
                    <a:latin typeface="iCiel Cadena" panose="02000503000000020004" pitchFamily="2" charset="0"/>
                    <a:ea typeface="Arial" panose="020B0604020202020204" pitchFamily="34" charset="0"/>
                  </a:endParaRPr>
                </a:p>
                <a:p>
                  <a:r>
                    <a:rPr lang="vi-VN" dirty="0">
                      <a:solidFill>
                        <a:srgbClr val="FFFF00"/>
                      </a:solidFill>
                      <a:effectLst/>
                      <a:latin typeface="iCiel Cadena" panose="02000503000000020004" pitchFamily="2" charset="0"/>
                      <a:ea typeface="Arial" panose="020B0604020202020204" pitchFamily="34" charset="0"/>
                    </a:rPr>
                    <a:t>Người mua hàng có thể sửa đơn hàng đã đặt. Ngoài ra khách hàng có thể đóng góp ý kiến, kiến nghị với </a:t>
                  </a:r>
                  <a:r>
                    <a:rPr lang="vi-VN" dirty="0" err="1">
                      <a:solidFill>
                        <a:srgbClr val="FFFF00"/>
                      </a:solidFill>
                      <a:effectLst/>
                      <a:latin typeface="iCiel Cadena" panose="02000503000000020004" pitchFamily="2" charset="0"/>
                      <a:ea typeface="Arial" panose="020B0604020202020204" pitchFamily="34" charset="0"/>
                    </a:rPr>
                    <a:t>admin</a:t>
                  </a:r>
                  <a:r>
                    <a:rPr lang="vi-VN" dirty="0">
                      <a:solidFill>
                        <a:srgbClr val="FFFF00"/>
                      </a:solidFill>
                      <a:effectLst/>
                      <a:latin typeface="iCiel Cadena" panose="02000503000000020004" pitchFamily="2" charset="0"/>
                      <a:ea typeface="Arial" panose="020B0604020202020204" pitchFamily="34" charset="0"/>
                    </a:rPr>
                    <a:t>, </a:t>
                  </a:r>
                  <a:r>
                    <a:rPr lang="vi-VN" kern="100" dirty="0" err="1">
                      <a:solidFill>
                        <a:srgbClr val="FFFF00"/>
                      </a:solidFill>
                      <a:latin typeface="iCiel Cadena" panose="02000503000000020004" pitchFamily="2" charset="0"/>
                      <a:ea typeface="Arial" panose="020B0604020202020204" pitchFamily="34" charset="0"/>
                      <a:cs typeface="Times New Roman" panose="02020603050405020304" pitchFamily="18" charset="0"/>
                    </a:rPr>
                    <a:t>W</a:t>
                  </a:r>
                  <a:r>
                    <a:rPr lang="vi-VN" kern="100" dirty="0" err="1">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ebsite</a:t>
                  </a:r>
                  <a:r>
                    <a:rPr lang="vi-VN" kern="100" dirty="0">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rPr>
                    <a:t> có thể theo dõi được đơn đặt hàng của khách hàng, Đơn hàng của khách hàng cũng như dữ liệu của hệ thống được bảo mật.</a:t>
                  </a:r>
                </a:p>
                <a:p>
                  <a:endParaRPr lang="vi-VN" kern="100" dirty="0">
                    <a:solidFill>
                      <a:srgbClr val="FFFF00"/>
                    </a:solidFill>
                    <a:effectLst/>
                    <a:latin typeface="iCiel Cadena" panose="02000503000000020004" pitchFamily="2" charset="0"/>
                    <a:ea typeface="Times New Roman" panose="02020603050405020304" pitchFamily="18" charset="0"/>
                    <a:cs typeface="Times New Roman" panose="02020603050405020304" pitchFamily="18" charset="0"/>
                  </a:endParaRPr>
                </a:p>
                <a:p>
                  <a:endParaRPr lang="vi-VN" dirty="0">
                    <a:solidFill>
                      <a:srgbClr val="FFFF00"/>
                    </a:solidFill>
                    <a:latin typeface="iCiel Cadena" panose="02000503000000020004" pitchFamily="2" charset="0"/>
                  </a:endParaRPr>
                </a:p>
              </p:txBody>
            </p:sp>
            <p:pic>
              <p:nvPicPr>
                <p:cNvPr id="7" name="Hình ảnh 6">
                  <a:extLst>
                    <a:ext uri="{FF2B5EF4-FFF2-40B4-BE49-F238E27FC236}">
                      <a16:creationId xmlns:a16="http://schemas.microsoft.com/office/drawing/2014/main" id="{4A005C50-FA7B-CD9F-49CF-05EB9CD28F3E}"/>
                    </a:ext>
                  </a:extLst>
                </p:cNvPr>
                <p:cNvPicPr>
                  <a:picLocks noChangeAspect="1"/>
                </p:cNvPicPr>
                <p:nvPr/>
              </p:nvPicPr>
              <p:blipFill>
                <a:blip r:embed="rId3"/>
                <a:stretch>
                  <a:fillRect/>
                </a:stretch>
              </p:blipFill>
              <p:spPr>
                <a:xfrm>
                  <a:off x="-2237371" y="1352713"/>
                  <a:ext cx="842663" cy="1059406"/>
                </a:xfrm>
                <a:prstGeom prst="rect">
                  <a:avLst/>
                </a:prstGeom>
              </p:spPr>
            </p:pic>
          </p:grpSp>
        </p:grpSp>
        <p:sp>
          <p:nvSpPr>
            <p:cNvPr id="16" name="Hộp Văn bản 15">
              <a:extLst>
                <a:ext uri="{FF2B5EF4-FFF2-40B4-BE49-F238E27FC236}">
                  <a16:creationId xmlns:a16="http://schemas.microsoft.com/office/drawing/2014/main" id="{1FC65E34-CF7B-9880-48CE-E6EDCD7E67F0}"/>
                </a:ext>
              </a:extLst>
            </p:cNvPr>
            <p:cNvSpPr txBox="1"/>
            <p:nvPr/>
          </p:nvSpPr>
          <p:spPr>
            <a:xfrm>
              <a:off x="2161905" y="114305"/>
              <a:ext cx="1781175" cy="646331"/>
            </a:xfrm>
            <a:prstGeom prst="rect">
              <a:avLst/>
            </a:prstGeom>
            <a:noFill/>
          </p:spPr>
          <p:txBody>
            <a:bodyPr wrap="square" rtlCol="0">
              <a:spAutoFit/>
            </a:bodyPr>
            <a:lstStyle/>
            <a:p>
              <a:r>
                <a:rPr lang="vi-VN" sz="1800" dirty="0">
                  <a:solidFill>
                    <a:srgbClr val="00B0F0"/>
                  </a:solidFill>
                  <a:effectLst/>
                  <a:latin typeface="iCiel Cadena" panose="02000503000000020004" pitchFamily="2" charset="0"/>
                  <a:ea typeface="Arial" panose="020B0604020202020204" pitchFamily="34" charset="0"/>
                  <a:cs typeface="Times New Roman" panose="02020603050405020304" pitchFamily="18" charset="0"/>
                </a:rPr>
                <a:t>ĐẠT ĐƯỢC</a:t>
              </a:r>
              <a:r>
                <a:rPr lang="vi-VN" sz="1400" dirty="0">
                  <a:solidFill>
                    <a:srgbClr val="00B0F0"/>
                  </a:solidFill>
                  <a:effectLst/>
                  <a:latin typeface="iCiel Cadena" panose="02000503000000020004" pitchFamily="2" charset="0"/>
                  <a:ea typeface="Arial" panose="020B0604020202020204" pitchFamily="34" charset="0"/>
                  <a:cs typeface="Times New Roman" panose="02020603050405020304" pitchFamily="18" charset="0"/>
                </a:rPr>
                <a:t>: </a:t>
              </a:r>
            </a:p>
            <a:p>
              <a:endParaRPr lang="vi-VN" dirty="0">
                <a:solidFill>
                  <a:srgbClr val="00B0F0"/>
                </a:solidFill>
              </a:endParaRPr>
            </a:p>
          </p:txBody>
        </p:sp>
      </p:grpSp>
      <p:grpSp>
        <p:nvGrpSpPr>
          <p:cNvPr id="34" name="Nhóm 33">
            <a:extLst>
              <a:ext uri="{FF2B5EF4-FFF2-40B4-BE49-F238E27FC236}">
                <a16:creationId xmlns:a16="http://schemas.microsoft.com/office/drawing/2014/main" id="{DD5AAEBD-2AC7-5FCF-0388-F0AB3D862304}"/>
              </a:ext>
            </a:extLst>
          </p:cNvPr>
          <p:cNvGrpSpPr/>
          <p:nvPr/>
        </p:nvGrpSpPr>
        <p:grpSpPr>
          <a:xfrm>
            <a:off x="361950" y="3922162"/>
            <a:ext cx="11336906" cy="2803023"/>
            <a:chOff x="361950" y="3922162"/>
            <a:chExt cx="11336906" cy="2803023"/>
          </a:xfrm>
        </p:grpSpPr>
        <p:sp>
          <p:nvSpPr>
            <p:cNvPr id="22" name="Hình chữ nhật: Góc Tròn 21">
              <a:extLst>
                <a:ext uri="{FF2B5EF4-FFF2-40B4-BE49-F238E27FC236}">
                  <a16:creationId xmlns:a16="http://schemas.microsoft.com/office/drawing/2014/main" id="{39EE11D4-3DDF-8FD7-D223-244808F9FBF0}"/>
                </a:ext>
              </a:extLst>
            </p:cNvPr>
            <p:cNvSpPr/>
            <p:nvPr/>
          </p:nvSpPr>
          <p:spPr>
            <a:xfrm>
              <a:off x="702514" y="3922162"/>
              <a:ext cx="10996342" cy="2803023"/>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57400" lvl="4" indent="-228600">
                <a:spcBef>
                  <a:spcPts val="600"/>
                </a:spcBef>
                <a:spcAft>
                  <a:spcPts val="600"/>
                </a:spcAft>
                <a:buFont typeface="Symbol" panose="05050102010706020507" pitchFamily="18" charset="2"/>
                <a:buChar char="-"/>
              </a:pPr>
              <a:endParaRPr lang="vi-VN" sz="1800" kern="100" dirty="0">
                <a:solidFill>
                  <a:srgbClr val="C00000"/>
                </a:solidFill>
                <a:effectLst/>
                <a:latin typeface="iCiel Cadena" panose="02000503000000020004" pitchFamily="2" charset="0"/>
                <a:ea typeface="Times New Roman" panose="02020603050405020304" pitchFamily="18" charset="0"/>
                <a:cs typeface="Times New Roman" panose="02020603050405020304" pitchFamily="18" charset="0"/>
              </a:endParaRPr>
            </a:p>
          </p:txBody>
        </p:sp>
        <p:sp>
          <p:nvSpPr>
            <p:cNvPr id="23" name="Hình Bầu dục 22">
              <a:extLst>
                <a:ext uri="{FF2B5EF4-FFF2-40B4-BE49-F238E27FC236}">
                  <a16:creationId xmlns:a16="http://schemas.microsoft.com/office/drawing/2014/main" id="{7D35C23E-D31F-FD5B-9918-1335FDFE1667}"/>
                </a:ext>
              </a:extLst>
            </p:cNvPr>
            <p:cNvSpPr/>
            <p:nvPr/>
          </p:nvSpPr>
          <p:spPr>
            <a:xfrm>
              <a:off x="975863" y="4175642"/>
              <a:ext cx="1087710" cy="1087710"/>
            </a:xfrm>
            <a:prstGeom prst="ellipse">
              <a:avLst/>
            </a:prstGeom>
            <a:solidFill>
              <a:srgbClr val="FF0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vi-VN"/>
            </a:p>
          </p:txBody>
        </p:sp>
        <p:sp>
          <p:nvSpPr>
            <p:cNvPr id="27" name="Hộp Văn bản 26">
              <a:extLst>
                <a:ext uri="{FF2B5EF4-FFF2-40B4-BE49-F238E27FC236}">
                  <a16:creationId xmlns:a16="http://schemas.microsoft.com/office/drawing/2014/main" id="{51725AC0-83F9-2AF4-D1E4-F3CE9C8E21DC}"/>
                </a:ext>
              </a:extLst>
            </p:cNvPr>
            <p:cNvSpPr txBox="1"/>
            <p:nvPr/>
          </p:nvSpPr>
          <p:spPr>
            <a:xfrm>
              <a:off x="2106911" y="3924822"/>
              <a:ext cx="1911604" cy="646331"/>
            </a:xfrm>
            <a:prstGeom prst="rect">
              <a:avLst/>
            </a:prstGeom>
            <a:noFill/>
          </p:spPr>
          <p:txBody>
            <a:bodyPr wrap="square" rtlCol="0">
              <a:spAutoFit/>
            </a:bodyPr>
            <a:lstStyle/>
            <a:p>
              <a:r>
                <a:rPr lang="vi-VN" dirty="0">
                  <a:solidFill>
                    <a:srgbClr val="00B0F0"/>
                  </a:solidFill>
                  <a:effectLst/>
                  <a:latin typeface="iCiel Cadena" panose="02000503000000020004" pitchFamily="2" charset="0"/>
                  <a:ea typeface="Arial" panose="020B0604020202020204" pitchFamily="34" charset="0"/>
                  <a:cs typeface="Times New Roman" panose="02020603050405020304" pitchFamily="18" charset="0"/>
                </a:rPr>
                <a:t>CHƯA ĐẠT ĐƯỢC: </a:t>
              </a:r>
            </a:p>
            <a:p>
              <a:endParaRPr lang="vi-VN" dirty="0">
                <a:solidFill>
                  <a:srgbClr val="00B0F0"/>
                </a:solidFill>
              </a:endParaRPr>
            </a:p>
          </p:txBody>
        </p:sp>
        <p:pic>
          <p:nvPicPr>
            <p:cNvPr id="29" name="Hình ảnh 28">
              <a:extLst>
                <a:ext uri="{FF2B5EF4-FFF2-40B4-BE49-F238E27FC236}">
                  <a16:creationId xmlns:a16="http://schemas.microsoft.com/office/drawing/2014/main" id="{8AE9B8A5-7F4D-AABB-9269-FBC2A83DB41F}"/>
                </a:ext>
              </a:extLst>
            </p:cNvPr>
            <p:cNvPicPr>
              <a:picLocks noChangeAspect="1"/>
            </p:cNvPicPr>
            <p:nvPr/>
          </p:nvPicPr>
          <p:blipFill>
            <a:blip r:embed="rId4"/>
            <a:stretch>
              <a:fillRect/>
            </a:stretch>
          </p:blipFill>
          <p:spPr>
            <a:xfrm>
              <a:off x="1186343" y="4343204"/>
              <a:ext cx="666750" cy="666750"/>
            </a:xfrm>
            <a:prstGeom prst="rect">
              <a:avLst/>
            </a:prstGeom>
          </p:spPr>
        </p:pic>
        <p:sp>
          <p:nvSpPr>
            <p:cNvPr id="31" name="Hộp Văn bản 30">
              <a:extLst>
                <a:ext uri="{FF2B5EF4-FFF2-40B4-BE49-F238E27FC236}">
                  <a16:creationId xmlns:a16="http://schemas.microsoft.com/office/drawing/2014/main" id="{EE96ED59-9246-AC1A-E489-5E9712772A39}"/>
                </a:ext>
              </a:extLst>
            </p:cNvPr>
            <p:cNvSpPr txBox="1"/>
            <p:nvPr/>
          </p:nvSpPr>
          <p:spPr>
            <a:xfrm>
              <a:off x="361950" y="4333488"/>
              <a:ext cx="11184506" cy="2262158"/>
            </a:xfrm>
            <a:prstGeom prst="rect">
              <a:avLst/>
            </a:prstGeom>
            <a:noFill/>
          </p:spPr>
          <p:txBody>
            <a:bodyPr wrap="square" rtlCol="0">
              <a:spAutoFit/>
            </a:bodyPr>
            <a:lstStyle/>
            <a:p>
              <a:pPr lvl="4">
                <a:spcBef>
                  <a:spcPts val="600"/>
                </a:spcBef>
                <a:spcAft>
                  <a:spcPts val="600"/>
                </a:spcAft>
              </a:pPr>
              <a:r>
                <a:rPr lang="vi-VN" kern="100" dirty="0">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Hệ thống được xây dựng trong đồ án chỉ là phần mềm thử nghiệm, do đó để áp dụng vào thực tế cần có thời gian và công sức để hoàn thiện. Tuy nhiên các chức năng chính của một </a:t>
              </a:r>
              <a:r>
                <a:rPr lang="vi-VN" kern="100" dirty="0" err="1">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website</a:t>
              </a:r>
              <a:r>
                <a:rPr lang="vi-VN" kern="100" dirty="0">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 thương mại điện tử cho các mặt hàng đã được xây dựng.</a:t>
              </a:r>
              <a:endParaRPr lang="vi-VN" kern="100" dirty="0">
                <a:solidFill>
                  <a:srgbClr val="FF6699"/>
                </a:solidFill>
                <a:latin typeface="iCiel Cadena" panose="02000503000000020004" pitchFamily="2" charset="0"/>
                <a:ea typeface="Times New Roman" panose="02020603050405020304" pitchFamily="18" charset="0"/>
                <a:cs typeface="Times New Roman" panose="02020603050405020304" pitchFamily="18" charset="0"/>
              </a:endParaRPr>
            </a:p>
            <a:p>
              <a:pPr lvl="4">
                <a:spcBef>
                  <a:spcPts val="600"/>
                </a:spcBef>
                <a:spcAft>
                  <a:spcPts val="600"/>
                </a:spcAft>
              </a:pPr>
              <a:r>
                <a:rPr lang="vi-VN" kern="100" dirty="0">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Chưa áp dụng hệ thanh toán điện tử. Việc thanh toán tiền mặt rất khó khăn (đặc biệt là kiểm tra tính đúng đắn của đơn hàng), Chưa áp dụng được phương pháp tìm kiếm và lọc trong phần </a:t>
              </a:r>
              <a:r>
                <a:rPr lang="vi-VN" kern="100" dirty="0" err="1">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admin</a:t>
              </a:r>
              <a:r>
                <a:rPr lang="vi-VN" kern="100" dirty="0">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 </a:t>
              </a:r>
              <a:r>
                <a:rPr lang="vi-VN" kern="100" dirty="0" err="1">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rPr>
                <a:t>user</a:t>
              </a:r>
              <a:endParaRPr lang="vi-VN" kern="100" dirty="0">
                <a:solidFill>
                  <a:srgbClr val="FF6699"/>
                </a:solidFill>
                <a:effectLst/>
                <a:latin typeface="iCiel Cadena" panose="02000503000000020004" pitchFamily="2" charset="0"/>
                <a:ea typeface="Times New Roman" panose="02020603050405020304" pitchFamily="18" charset="0"/>
                <a:cs typeface="Times New Roman" panose="02020603050405020304" pitchFamily="18" charset="0"/>
              </a:endParaRPr>
            </a:p>
            <a:p>
              <a:endParaRPr lang="vi-VN" dirty="0">
                <a:solidFill>
                  <a:srgbClr val="FF6699"/>
                </a:solidFill>
                <a:latin typeface="iCiel Cadena" panose="02000503000000020004" pitchFamily="2" charset="0"/>
              </a:endParaRPr>
            </a:p>
          </p:txBody>
        </p:sp>
      </p:grpSp>
    </p:spTree>
    <p:extLst>
      <p:ext uri="{BB962C8B-B14F-4D97-AF65-F5344CB8AC3E}">
        <p14:creationId xmlns:p14="http://schemas.microsoft.com/office/powerpoint/2010/main" val="1020045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fltVal val="0"/>
                                          </p:val>
                                        </p:tav>
                                        <p:tav tm="100000">
                                          <p:val>
                                            <p:strVal val="#ppt_w"/>
                                          </p:val>
                                        </p:tav>
                                      </p:tavLst>
                                    </p:anim>
                                    <p:anim calcmode="lin" valueType="num">
                                      <p:cBhvr>
                                        <p:cTn id="20" dur="500" fill="hold"/>
                                        <p:tgtEl>
                                          <p:spTgt spid="34"/>
                                        </p:tgtEl>
                                        <p:attrNameLst>
                                          <p:attrName>ppt_h</p:attrName>
                                        </p:attrNameLst>
                                      </p:cBhvr>
                                      <p:tavLst>
                                        <p:tav tm="0">
                                          <p:val>
                                            <p:fltVal val="0"/>
                                          </p:val>
                                        </p:tav>
                                        <p:tav tm="100000">
                                          <p:val>
                                            <p:strVal val="#ppt_h"/>
                                          </p:val>
                                        </p:tav>
                                      </p:tavLst>
                                    </p:anim>
                                    <p:animEffect transition="in" filter="fade">
                                      <p:cBhvr>
                                        <p:cTn id="2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F3A6F68-2F5D-5366-3383-CA7E66724E6A}"/>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BA48A3F1-776C-E160-DB72-3911C54FF008}"/>
              </a:ext>
            </a:extLst>
          </p:cNvPr>
          <p:cNvSpPr>
            <a:spLocks noGrp="1"/>
          </p:cNvSpPr>
          <p:nvPr>
            <p:ph idx="1"/>
          </p:nvPr>
        </p:nvSpPr>
        <p:spPr/>
        <p:txBody>
          <a:bodyPr/>
          <a:lstStyle/>
          <a:p>
            <a:endParaRPr lang="vi-VN"/>
          </a:p>
        </p:txBody>
      </p:sp>
      <p:sp>
        <p:nvSpPr>
          <p:cNvPr id="4" name="Hình chữ nhật 3">
            <a:extLst>
              <a:ext uri="{FF2B5EF4-FFF2-40B4-BE49-F238E27FC236}">
                <a16:creationId xmlns:a16="http://schemas.microsoft.com/office/drawing/2014/main" id="{7D3E020D-258D-93CB-10AD-7F7659C1421F}"/>
              </a:ext>
            </a:extLst>
          </p:cNvPr>
          <p:cNvSpPr/>
          <p:nvPr/>
        </p:nvSpPr>
        <p:spPr>
          <a:xfrm>
            <a:off x="0" y="0"/>
            <a:ext cx="12192000" cy="6858000"/>
          </a:xfrm>
          <a:prstGeom prst="rect">
            <a:avLst/>
          </a:prstGeom>
          <a:solidFill>
            <a:srgbClr val="F9F5EB"/>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6" name="Hình ảnh 5">
            <a:extLst>
              <a:ext uri="{FF2B5EF4-FFF2-40B4-BE49-F238E27FC236}">
                <a16:creationId xmlns:a16="http://schemas.microsoft.com/office/drawing/2014/main" id="{AC2BF6EF-4B0C-1729-AE07-B01A0DAA3062}"/>
              </a:ext>
            </a:extLst>
          </p:cNvPr>
          <p:cNvPicPr>
            <a:picLocks noChangeAspect="1"/>
          </p:cNvPicPr>
          <p:nvPr/>
        </p:nvPicPr>
        <p:blipFill>
          <a:blip r:embed="rId2"/>
          <a:stretch>
            <a:fillRect/>
          </a:stretch>
        </p:blipFill>
        <p:spPr>
          <a:xfrm>
            <a:off x="4167187" y="798513"/>
            <a:ext cx="3857625" cy="3857625"/>
          </a:xfrm>
          <a:prstGeom prst="rect">
            <a:avLst/>
          </a:prstGeom>
        </p:spPr>
      </p:pic>
      <p:sp>
        <p:nvSpPr>
          <p:cNvPr id="7" name="Hộp Văn bản 6">
            <a:extLst>
              <a:ext uri="{FF2B5EF4-FFF2-40B4-BE49-F238E27FC236}">
                <a16:creationId xmlns:a16="http://schemas.microsoft.com/office/drawing/2014/main" id="{957C57BC-919F-4DE8-3F8C-40B0B7AC0D64}"/>
              </a:ext>
            </a:extLst>
          </p:cNvPr>
          <p:cNvSpPr txBox="1"/>
          <p:nvPr/>
        </p:nvSpPr>
        <p:spPr>
          <a:xfrm>
            <a:off x="1114425" y="5474712"/>
            <a:ext cx="10725150" cy="584775"/>
          </a:xfrm>
          <a:prstGeom prst="rect">
            <a:avLst/>
          </a:prstGeom>
          <a:noFill/>
        </p:spPr>
        <p:txBody>
          <a:bodyPr wrap="square" rtlCol="0">
            <a:spAutoFit/>
          </a:bodyPr>
          <a:lstStyle/>
          <a:p>
            <a:r>
              <a:rPr lang="vi-VN" sz="3200" dirty="0">
                <a:solidFill>
                  <a:srgbClr val="002060"/>
                </a:solidFill>
                <a:latin typeface="iCiel Cadena" panose="02000503000000020004" pitchFamily="2" charset="0"/>
              </a:rPr>
              <a:t>CÁM ƠN QUÝ THẦY CÔ GIÁO VÀ CÁC BẠN ĐÃ LẮNG NGHE</a:t>
            </a:r>
          </a:p>
        </p:txBody>
      </p:sp>
      <p:pic>
        <p:nvPicPr>
          <p:cNvPr id="9" name="Hình ảnh 8">
            <a:extLst>
              <a:ext uri="{FF2B5EF4-FFF2-40B4-BE49-F238E27FC236}">
                <a16:creationId xmlns:a16="http://schemas.microsoft.com/office/drawing/2014/main" id="{F7D54F30-BF52-CF0E-67A6-E6C31B432A12}"/>
              </a:ext>
            </a:extLst>
          </p:cNvPr>
          <p:cNvPicPr>
            <a:picLocks noChangeAspect="1"/>
          </p:cNvPicPr>
          <p:nvPr/>
        </p:nvPicPr>
        <p:blipFill>
          <a:blip r:embed="rId3"/>
          <a:stretch>
            <a:fillRect/>
          </a:stretch>
        </p:blipFill>
        <p:spPr>
          <a:xfrm>
            <a:off x="676275" y="934463"/>
            <a:ext cx="2581275" cy="2581275"/>
          </a:xfrm>
          <a:prstGeom prst="rect">
            <a:avLst/>
          </a:prstGeom>
        </p:spPr>
      </p:pic>
      <p:pic>
        <p:nvPicPr>
          <p:cNvPr id="11" name="Hình ảnh 10">
            <a:extLst>
              <a:ext uri="{FF2B5EF4-FFF2-40B4-BE49-F238E27FC236}">
                <a16:creationId xmlns:a16="http://schemas.microsoft.com/office/drawing/2014/main" id="{884E7F87-395A-6599-FE17-DC048373E911}"/>
              </a:ext>
            </a:extLst>
          </p:cNvPr>
          <p:cNvPicPr>
            <a:picLocks noChangeAspect="1"/>
          </p:cNvPicPr>
          <p:nvPr/>
        </p:nvPicPr>
        <p:blipFill>
          <a:blip r:embed="rId4"/>
          <a:stretch>
            <a:fillRect/>
          </a:stretch>
        </p:blipFill>
        <p:spPr>
          <a:xfrm>
            <a:off x="8934449" y="934463"/>
            <a:ext cx="2629475" cy="2629475"/>
          </a:xfrm>
          <a:prstGeom prst="rect">
            <a:avLst/>
          </a:prstGeom>
        </p:spPr>
      </p:pic>
    </p:spTree>
    <p:extLst>
      <p:ext uri="{BB962C8B-B14F-4D97-AF65-F5344CB8AC3E}">
        <p14:creationId xmlns:p14="http://schemas.microsoft.com/office/powerpoint/2010/main" val="3050865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1000" fill="hold"/>
                                        <p:tgtEl>
                                          <p:spTgt spid="9"/>
                                        </p:tgtEl>
                                        <p:attrNameLst>
                                          <p:attrName>ppt_w</p:attrName>
                                        </p:attrNameLst>
                                      </p:cBhvr>
                                      <p:tavLst>
                                        <p:tav tm="0">
                                          <p:val>
                                            <p:fltVal val="0"/>
                                          </p:val>
                                        </p:tav>
                                        <p:tav tm="100000">
                                          <p:val>
                                            <p:strVal val="#ppt_w"/>
                                          </p:val>
                                        </p:tav>
                                      </p:tavLst>
                                    </p:anim>
                                    <p:anim calcmode="lin" valueType="num">
                                      <p:cBhvr>
                                        <p:cTn id="16" dur="1000" fill="hold"/>
                                        <p:tgtEl>
                                          <p:spTgt spid="9"/>
                                        </p:tgtEl>
                                        <p:attrNameLst>
                                          <p:attrName>ppt_h</p:attrName>
                                        </p:attrNameLst>
                                      </p:cBhvr>
                                      <p:tavLst>
                                        <p:tav tm="0">
                                          <p:val>
                                            <p:fltVal val="0"/>
                                          </p:val>
                                        </p:tav>
                                        <p:tav tm="100000">
                                          <p:val>
                                            <p:strVal val="#ppt_h"/>
                                          </p:val>
                                        </p:tav>
                                      </p:tavLst>
                                    </p:anim>
                                    <p:anim calcmode="lin" valueType="num">
                                      <p:cBhvr>
                                        <p:cTn id="17" dur="1000" fill="hold"/>
                                        <p:tgtEl>
                                          <p:spTgt spid="9"/>
                                        </p:tgtEl>
                                        <p:attrNameLst>
                                          <p:attrName>style.rotation</p:attrName>
                                        </p:attrNameLst>
                                      </p:cBhvr>
                                      <p:tavLst>
                                        <p:tav tm="0">
                                          <p:val>
                                            <p:fltVal val="90"/>
                                          </p:val>
                                        </p:tav>
                                        <p:tav tm="100000">
                                          <p:val>
                                            <p:fltVal val="0"/>
                                          </p:val>
                                        </p:tav>
                                      </p:tavLst>
                                    </p:anim>
                                    <p:animEffect transition="in" filter="fade">
                                      <p:cBhvr>
                                        <p:cTn id="18" dur="1000"/>
                                        <p:tgtEl>
                                          <p:spTgt spid="9"/>
                                        </p:tgtEl>
                                      </p:cBhvr>
                                    </p:animEffect>
                                  </p:childTnLst>
                                </p:cTn>
                              </p:par>
                              <p:par>
                                <p:cTn id="19" presetID="3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1000" fill="hold"/>
                                        <p:tgtEl>
                                          <p:spTgt spid="11"/>
                                        </p:tgtEl>
                                        <p:attrNameLst>
                                          <p:attrName>ppt_w</p:attrName>
                                        </p:attrNameLst>
                                      </p:cBhvr>
                                      <p:tavLst>
                                        <p:tav tm="0">
                                          <p:val>
                                            <p:fltVal val="0"/>
                                          </p:val>
                                        </p:tav>
                                        <p:tav tm="100000">
                                          <p:val>
                                            <p:strVal val="#ppt_w"/>
                                          </p:val>
                                        </p:tav>
                                      </p:tavLst>
                                    </p:anim>
                                    <p:anim calcmode="lin" valueType="num">
                                      <p:cBhvr>
                                        <p:cTn id="22" dur="1000" fill="hold"/>
                                        <p:tgtEl>
                                          <p:spTgt spid="11"/>
                                        </p:tgtEl>
                                        <p:attrNameLst>
                                          <p:attrName>ppt_h</p:attrName>
                                        </p:attrNameLst>
                                      </p:cBhvr>
                                      <p:tavLst>
                                        <p:tav tm="0">
                                          <p:val>
                                            <p:fltVal val="0"/>
                                          </p:val>
                                        </p:tav>
                                        <p:tav tm="100000">
                                          <p:val>
                                            <p:strVal val="#ppt_h"/>
                                          </p:val>
                                        </p:tav>
                                      </p:tavLst>
                                    </p:anim>
                                    <p:anim calcmode="lin" valueType="num">
                                      <p:cBhvr>
                                        <p:cTn id="23" dur="1000" fill="hold"/>
                                        <p:tgtEl>
                                          <p:spTgt spid="11"/>
                                        </p:tgtEl>
                                        <p:attrNameLst>
                                          <p:attrName>style.rotation</p:attrName>
                                        </p:attrNameLst>
                                      </p:cBhvr>
                                      <p:tavLst>
                                        <p:tav tm="0">
                                          <p:val>
                                            <p:fltVal val="90"/>
                                          </p:val>
                                        </p:tav>
                                        <p:tav tm="100000">
                                          <p:val>
                                            <p:fltVal val="0"/>
                                          </p:val>
                                        </p:tav>
                                      </p:tavLst>
                                    </p:anim>
                                    <p:animEffect transition="in" filter="fade">
                                      <p:cBhvr>
                                        <p:cTn id="24" dur="1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 calcmode="lin" valueType="num">
                                      <p:cBhvr additive="base">
                                        <p:cTn id="2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707</TotalTime>
  <Words>1226</Words>
  <Application>Microsoft Office PowerPoint</Application>
  <PresentationFormat>Màn hình rộng</PresentationFormat>
  <Paragraphs>124</Paragraphs>
  <Slides>13</Slides>
  <Notes>1</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13</vt:i4>
      </vt:variant>
    </vt:vector>
  </HeadingPairs>
  <TitlesOfParts>
    <vt:vector size="19" baseType="lpstr">
      <vt:lpstr>Arial</vt:lpstr>
      <vt:lpstr>Bahnschrift Light SemiCondensed</vt:lpstr>
      <vt:lpstr>iCiel Cadena</vt:lpstr>
      <vt:lpstr>Symbol</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 trình bày PowerPoint</dc:title>
  <dc:creator>ALI Boss</dc:creator>
  <cp:lastModifiedBy>ALI Boss</cp:lastModifiedBy>
  <cp:revision>80</cp:revision>
  <dcterms:created xsi:type="dcterms:W3CDTF">2023-04-26T02:11:16Z</dcterms:created>
  <dcterms:modified xsi:type="dcterms:W3CDTF">2023-04-28T12:21:23Z</dcterms:modified>
</cp:coreProperties>
</file>